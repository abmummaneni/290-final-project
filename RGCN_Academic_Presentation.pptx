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4663440" y="1463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4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 290  ·  SPRING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663440" y="18745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Relational Graph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663440" y="2542032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Convolutional Networks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663440" y="3337560"/>
            <a:ext cx="1280160" cy="0"/>
          </a:xfrm>
          <a:prstGeom prst="line">
            <a:avLst/>
          </a:prstGeom>
          <a:noFill/>
          <a:ln w="12700">
            <a:solidFill>
              <a:srgbClr val="4A6A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3520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Villain identification in murder-mystery knowledge graphs.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3440" y="4846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Adam Abramowitz   ·   Max DeSantis   ·   Isaac Dreeben   ·   Abhi Mummaneni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5166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project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1 · MOTIVATION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relational structure matters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Many real-world prediction tasks depend on multi-typed relationships, not just node features.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graph convolution treats all edges identically. In domains where the type of relationship carries the signal — coauthorship vs. citation, employs vs. accuses, witnessed-at vs. located-at — uniform aggregation discards the information that drives prediction.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WORK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43891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apply Relational GCNs (Schlichtkrull et al., 2018) to a node-classification task on a corpus of murder-mystery knowledge graphs and compare against a logistic-regression baseline that uses the same node features but ignores relational structure.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66560" y="2103120"/>
            <a:ext cx="4754880" cy="3931920"/>
          </a:xfrm>
          <a:prstGeom prst="rect">
            <a:avLst/>
          </a:prstGeom>
          <a:solidFill>
            <a:srgbClr val="F6F8FA"/>
          </a:solidFill>
          <a:ln w="9525">
            <a:solidFill>
              <a:srgbClr val="C8CD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2286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FIGURE 1 · Same nodes, different edge semantics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550519" y="3600373"/>
            <a:ext cx="535201" cy="297334"/>
          </a:xfrm>
          <a:prstGeom prst="line">
            <a:avLst/>
          </a:prstGeom>
          <a:noFill/>
          <a:ln w="12700">
            <a:solidFill>
              <a:srgbClr val="4A6A9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67578" y="3485953"/>
            <a:ext cx="958283" cy="-205346"/>
          </a:xfrm>
          <a:prstGeom prst="line">
            <a:avLst/>
          </a:prstGeom>
          <a:noFill/>
          <a:ln w="12700">
            <a:solidFill>
              <a:srgbClr val="4A6A9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0248" y="3373224"/>
            <a:ext cx="218544" cy="-437089"/>
          </a:xfrm>
          <a:prstGeom prst="line">
            <a:avLst/>
          </a:prstGeom>
          <a:noFill/>
          <a:ln w="12700">
            <a:solidFill>
              <a:srgbClr val="4A6A9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16834" y="3838066"/>
            <a:ext cx="282733" cy="-452373"/>
          </a:xfrm>
          <a:prstGeom prst="line">
            <a:avLst/>
          </a:prstGeom>
          <a:noFill/>
          <a:ln w="12700">
            <a:solidFill>
              <a:srgbClr val="4A6A9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42048" y="3355848"/>
            <a:ext cx="329184" cy="329184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18" name="Shape 16"/>
          <p:cNvSpPr/>
          <p:nvPr/>
        </p:nvSpPr>
        <p:spPr>
          <a:xfrm>
            <a:off x="8065008" y="3813048"/>
            <a:ext cx="329184" cy="329184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19" name="Shape 17"/>
          <p:cNvSpPr/>
          <p:nvPr/>
        </p:nvSpPr>
        <p:spPr>
          <a:xfrm>
            <a:off x="8522208" y="3081528"/>
            <a:ext cx="329184" cy="329184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20" name="Shape 18"/>
          <p:cNvSpPr/>
          <p:nvPr/>
        </p:nvSpPr>
        <p:spPr>
          <a:xfrm>
            <a:off x="7607808" y="2624328"/>
            <a:ext cx="329184" cy="329184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GCN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45079" y="3600373"/>
            <a:ext cx="535201" cy="297334"/>
          </a:xfrm>
          <a:prstGeom prst="line">
            <a:avLst/>
          </a:prstGeom>
          <a:noFill/>
          <a:ln w="19050">
            <a:solidFill>
              <a:srgbClr val="2C4A7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62138" y="3485953"/>
            <a:ext cx="958283" cy="-205346"/>
          </a:xfrm>
          <a:prstGeom prst="line">
            <a:avLst/>
          </a:prstGeom>
          <a:noFill/>
          <a:ln w="19050">
            <a:solidFill>
              <a:srgbClr val="B854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74808" y="3373224"/>
            <a:ext cx="218544" cy="-437089"/>
          </a:xfrm>
          <a:prstGeom prst="line">
            <a:avLst/>
          </a:prstGeom>
          <a:noFill/>
          <a:ln w="19050">
            <a:solidFill>
              <a:srgbClr val="3D706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1394" y="3838066"/>
            <a:ext cx="282733" cy="-452373"/>
          </a:xfrm>
          <a:prstGeom prst="line">
            <a:avLst/>
          </a:prstGeom>
          <a:noFill/>
          <a:ln w="19050">
            <a:solidFill>
              <a:srgbClr val="2C4A7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36608" y="3355848"/>
            <a:ext cx="329184" cy="329184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27" name="Shape 25"/>
          <p:cNvSpPr/>
          <p:nvPr/>
        </p:nvSpPr>
        <p:spPr>
          <a:xfrm>
            <a:off x="10259568" y="3813048"/>
            <a:ext cx="329184" cy="329184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28" name="Shape 26"/>
          <p:cNvSpPr/>
          <p:nvPr/>
        </p:nvSpPr>
        <p:spPr>
          <a:xfrm>
            <a:off x="10716768" y="3081528"/>
            <a:ext cx="329184" cy="329184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29" name="Shape 27"/>
          <p:cNvSpPr/>
          <p:nvPr/>
        </p:nvSpPr>
        <p:spPr>
          <a:xfrm>
            <a:off x="9802368" y="2624328"/>
            <a:ext cx="329184" cy="329184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0" name="Text 28"/>
          <p:cNvSpPr/>
          <p:nvPr/>
        </p:nvSpPr>
        <p:spPr>
          <a:xfrm>
            <a:off x="923544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Relational GCN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40880" y="51663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colour = relation type. R-GCN learns a separate transformation per type; standard GCN cannot distinguish them.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type carries information that uniform aggregation discards.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1 · BACKGROUND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Schlichtkrull et al. (2018) showed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R-GCNs as a unified encoder for entity classification and link prediction on relational knowledge bases.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5486400" cy="411480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57400"/>
            <a:ext cx="54864" cy="41148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40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CONTRIBUTION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514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Extending GCN to relational data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GCN treats edges identically. R-GCN learns a separate transformation per relation type, with basis decomposition keeping parameters tractable as the number of relations grows.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931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TASKS DEMONSTRATED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25196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Entity classification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—  predict the type of an entity from its neighbourhood.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 prediction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—  score whether a candidate triple (head, relation, tail) is true.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the same R-GCN encoder is reused for both tasks; only the decoder head differs.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2057400"/>
            <a:ext cx="475488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2240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 DATASETS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95160" y="2560320"/>
          <a:ext cx="42976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97280"/>
                <a:gridCol w="868680"/>
                <a:gridCol w="6400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Dataset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Task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Entities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Rels.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AIFB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Class.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8.3 K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MUTAG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Class.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23.6 K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BGS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Class.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334 K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AM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Class.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 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FB15k-237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Link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14.5 K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WN18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Link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40.9 K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6995160" y="4663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HEADLINE RESULTS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995160" y="49834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State-of-the-art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on AIFB (95.8 %) and AM (89.3 %) entity-classification accuracy.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Outperforms DistMult on FB15k-237 by 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+29.8 %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filtered MRR — encoder helps when topology matters.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Strongest gains on high-degree nodes where contextual neighbourhood information is rich.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2 · OUR 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Applying R-GCN to detective fiction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novel application: villain identification on murder-mystery knowledge graphs.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5486400" cy="411480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57400"/>
            <a:ext cx="54864" cy="41148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40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 2.1 (Task)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5603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 a relational graph </a:t>
            </a:r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 = (V, E, R)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with node-feature matrix </a:t>
            </a:r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learn </a:t>
            </a:r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: </a:t>
            </a:r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→ {0,1} that classifies each character as villain (1) or non-villain (0).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39319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Characters and their attributes; locations, occupations, organisations; typed relational edges between entities.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4663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4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WITHHELD AT TEST TIME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49377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kills, killed_by, assaults, financial-crime edges; narrative prominence; introduction order.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5669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70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Validated: masking these edges had zero impact on predictions.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2057400"/>
            <a:ext cx="475488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2240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IS A NEW APPLICATION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95160" y="256032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R-GCN was originally evaluated on </a:t>
            </a:r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/ molecular / cultural-heritage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knowledge bases (AIFB, MUTAG, BGS, AM). To our knowledge, this is the first application to </a:t>
            </a:r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narrative reasoning over fictional knowledge graphs.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9516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THE PROBLEM HARD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95160" y="4297680"/>
            <a:ext cx="4389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Sparse evidence: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than ten characters per story; class imbalance ~9 % positive.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Genre conventions: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herrings, deliberate misdirection, late twists.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Hidden truth: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crime-revealing edges withheld; the model must reason from circumstantial evidence alone.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2 ·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576 mysteries as knowledge graphs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story yields one typed graph; class labels assigned at the character level.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2606040" cy="68580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299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576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spc="100" kern="0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2011680"/>
            <a:ext cx="2606040" cy="68580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20299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14,020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74720" y="24231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spc="100" kern="0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2011680"/>
            <a:ext cx="2606040" cy="68580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0299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32 K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09360" y="24231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spc="100" kern="0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0" y="2011680"/>
            <a:ext cx="2606040" cy="68580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20299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0" y="24231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spc="100" kern="0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 types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29260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1 · CLASS LABELS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18688"/>
          <a:ext cx="37033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914400"/>
                <a:gridCol w="9144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Label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Count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Share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Uninvolved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49.6 %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Witness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22.5 %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Victim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17.7 %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Villain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3294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3294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9.1 %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4526280" y="29260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2 · NODE FEATURES</a:t>
            </a:r>
            <a:endParaRPr lang="en-US" sz="10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3218688"/>
          <a:ext cx="37033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9436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Node type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# feat.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Examples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Character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alibi, motive, concealment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Occupation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authority, access, capability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Location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accessibility, isolability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Organisation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power, secrecy, scale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19"/>
          <p:cNvSpPr/>
          <p:nvPr/>
        </p:nvSpPr>
        <p:spPr>
          <a:xfrm>
            <a:off x="8412480" y="29260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3 · RELATION TYPES</a:t>
            </a:r>
            <a:endParaRPr lang="en-US" sz="100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0" y="3218688"/>
          <a:ext cx="37033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002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Relation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Domain → Range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knows / personal_bond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Char ↔ Char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investigates / accuses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Char → Char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deceives / harms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Char → Char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employed as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Char → Occ.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resides at / present at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Char → Loc.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affiliated with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Char → Org.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20"/>
          <p:cNvSpPr/>
          <p:nvPr/>
        </p:nvSpPr>
        <p:spPr>
          <a:xfrm>
            <a:off x="640080" y="608076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b="1" i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 on directionality:  </a:t>
            </a:r>
            <a:pPr algn="ctr"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edges are stored as directed; for R-GCN we materialise the inverse of each relation as a separate type, giving 8 base × 2 = 16 types and effectively bidirectional message passing.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2 ·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graph: "The Red-Headed League"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Conan Doyle, 1891 · 10 entities, 14 typed edges across 4 node types.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0911535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194560"/>
            <a:ext cx="182880" cy="18288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Character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34640" y="2194560"/>
            <a:ext cx="182880" cy="182880"/>
          </a:xfrm>
          <a:prstGeom prst="ellipse">
            <a:avLst/>
          </a:prstGeom>
          <a:solidFill>
            <a:srgbClr val="3D7068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194560"/>
            <a:ext cx="182880" cy="182880"/>
          </a:xfrm>
          <a:prstGeom prst="ellipse">
            <a:avLst/>
          </a:prstGeom>
          <a:solidFill>
            <a:srgbClr val="4A6A95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Occupation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2194560"/>
            <a:ext cx="182880" cy="182880"/>
          </a:xfrm>
          <a:prstGeom prst="ellipse">
            <a:avLst/>
          </a:prstGeom>
          <a:solidFill>
            <a:srgbClr val="2C4A75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Organisation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69680" y="2194560"/>
            <a:ext cx="182880" cy="182880"/>
          </a:xfrm>
          <a:prstGeom prst="ellipse">
            <a:avLst/>
          </a:prstGeom>
          <a:ln w="15240">
            <a:solidFill>
              <a:srgbClr val="B8545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914400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Ground-truth villain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79748" y="3422468"/>
            <a:ext cx="338183" cy="1521825"/>
          </a:xfrm>
          <a:prstGeom prst="line">
            <a:avLst/>
          </a:prstGeom>
          <a:noFill/>
          <a:ln w="9525">
            <a:solidFill>
              <a:srgbClr val="C8CD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28790" y="4116953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personal_bond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128519" y="3333205"/>
            <a:ext cx="863601" cy="740230"/>
          </a:xfrm>
          <a:prstGeom prst="line">
            <a:avLst/>
          </a:prstGeom>
          <a:noFill/>
          <a:ln w="9525">
            <a:solidFill>
              <a:srgbClr val="C8CD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59287" y="3565483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employed as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194560" y="3154680"/>
            <a:ext cx="2011680" cy="0"/>
          </a:xfrm>
          <a:prstGeom prst="line">
            <a:avLst/>
          </a:prstGeom>
          <a:noFill/>
          <a:ln w="9525">
            <a:solidFill>
              <a:srgbClr val="C8CD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0" y="31455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investigates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754880" y="3154680"/>
            <a:ext cx="1737360" cy="0"/>
          </a:xfrm>
          <a:prstGeom prst="line">
            <a:avLst/>
          </a:prstGeom>
          <a:noFill/>
          <a:ln w="9525">
            <a:solidFill>
              <a:srgbClr val="C8CD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29992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674534" y="3348654"/>
            <a:ext cx="709333" cy="709333"/>
          </a:xfrm>
          <a:prstGeom prst="line">
            <a:avLst/>
          </a:prstGeom>
          <a:noFill/>
          <a:ln w="9525">
            <a:solidFill>
              <a:srgbClr val="C8CD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28834" y="367275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779411" y="4065894"/>
            <a:ext cx="785577" cy="-725148"/>
          </a:xfrm>
          <a:prstGeom prst="line">
            <a:avLst/>
          </a:prstGeom>
          <a:noFill/>
          <a:ln w="9525">
            <a:solidFill>
              <a:srgbClr val="C8CD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3942" y="35672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 at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852160" y="4251960"/>
            <a:ext cx="2194560" cy="0"/>
          </a:xfrm>
          <a:prstGeom prst="line">
            <a:avLst/>
          </a:prstGeom>
          <a:noFill/>
          <a:ln w="9525">
            <a:solidFill>
              <a:srgbClr val="C8CD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424281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affiliated with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8057275" y="4176599"/>
            <a:ext cx="-3312950" cy="-946557"/>
          </a:xfrm>
          <a:prstGeom prst="line">
            <a:avLst/>
          </a:prstGeom>
          <a:noFill/>
          <a:ln w="9525">
            <a:solidFill>
              <a:srgbClr val="C8CD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32064" y="3691361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deceives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0091896" y="3286039"/>
            <a:ext cx="-1530031" cy="834563"/>
          </a:xfrm>
          <a:prstGeom prst="line">
            <a:avLst/>
          </a:prstGeom>
          <a:noFill/>
          <a:ln w="9525">
            <a:solidFill>
              <a:srgbClr val="C8CD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43211" y="35568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845135" y="4190277"/>
            <a:ext cx="4220290" cy="-973913"/>
          </a:xfrm>
          <a:prstGeom prst="line">
            <a:avLst/>
          </a:prstGeom>
          <a:noFill/>
          <a:ln w="9525">
            <a:solidFill>
              <a:srgbClr val="C8CD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90191" y="3549745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deceives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031618" y="3225362"/>
            <a:ext cx="3584685" cy="955916"/>
          </a:xfrm>
          <a:prstGeom prst="line">
            <a:avLst/>
          </a:prstGeom>
          <a:noFill/>
          <a:ln w="9525">
            <a:solidFill>
              <a:srgbClr val="C8CDD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56471" y="369170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 to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852160" y="4251960"/>
            <a:ext cx="4754880" cy="0"/>
          </a:xfrm>
          <a:prstGeom prst="line">
            <a:avLst/>
          </a:prstGeom>
          <a:noFill/>
          <a:ln w="9525">
            <a:solidFill>
              <a:srgbClr val="C8CDD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80960" y="40965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harms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724708" y="5054768"/>
            <a:ext cx="-922137" cy="-645496"/>
          </a:xfrm>
          <a:prstGeom prst="line">
            <a:avLst/>
          </a:prstGeom>
          <a:noFill/>
          <a:ln w="9525">
            <a:solidFill>
              <a:srgbClr val="C8CDD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56950" y="45897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accuses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675120" y="5212080"/>
            <a:ext cx="-4023360" cy="0"/>
          </a:xfrm>
          <a:prstGeom prst="line">
            <a:avLst/>
          </a:prstGeom>
          <a:noFill/>
          <a:ln w="9525">
            <a:solidFill>
              <a:srgbClr val="C8CDD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0" y="52029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645920" y="2880360"/>
            <a:ext cx="548640" cy="54864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47" name="Text 45"/>
          <p:cNvSpPr/>
          <p:nvPr/>
        </p:nvSpPr>
        <p:spPr>
          <a:xfrm>
            <a:off x="914400" y="26060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Sherlock Holmes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206240" y="2880360"/>
            <a:ext cx="548640" cy="54864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49" name="Text 47"/>
          <p:cNvSpPr/>
          <p:nvPr/>
        </p:nvSpPr>
        <p:spPr>
          <a:xfrm>
            <a:off x="3474720" y="26060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Jabez Wilson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880360"/>
            <a:ext cx="548640" cy="548640"/>
          </a:xfrm>
          <a:prstGeom prst="ellipse">
            <a:avLst/>
          </a:prstGeom>
          <a:solidFill>
            <a:srgbClr val="3D7068"/>
          </a:solidFill>
          <a:ln/>
        </p:spPr>
      </p:sp>
      <p:sp>
        <p:nvSpPr>
          <p:cNvPr id="51" name="Text 49"/>
          <p:cNvSpPr/>
          <p:nvPr/>
        </p:nvSpPr>
        <p:spPr>
          <a:xfrm>
            <a:off x="5760720" y="26060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Pawn Shop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994392" y="2816352"/>
            <a:ext cx="676656" cy="676656"/>
          </a:xfrm>
          <a:prstGeom prst="ellipse">
            <a:avLst/>
          </a:prstGeom>
          <a:ln w="17780">
            <a:solidFill>
              <a:srgbClr val="B85450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10058400" y="2880360"/>
            <a:ext cx="548640" cy="54864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54" name="Text 52"/>
          <p:cNvSpPr/>
          <p:nvPr/>
        </p:nvSpPr>
        <p:spPr>
          <a:xfrm>
            <a:off x="9326880" y="26060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Duncan Ross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926080" y="3977640"/>
            <a:ext cx="548640" cy="548640"/>
          </a:xfrm>
          <a:prstGeom prst="ellipse">
            <a:avLst/>
          </a:prstGeom>
          <a:solidFill>
            <a:srgbClr val="4A6A95"/>
          </a:solidFill>
          <a:ln/>
        </p:spPr>
      </p:sp>
      <p:sp>
        <p:nvSpPr>
          <p:cNvPr id="56" name="Text 54"/>
          <p:cNvSpPr/>
          <p:nvPr/>
        </p:nvSpPr>
        <p:spPr>
          <a:xfrm>
            <a:off x="2194560" y="45720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Consulting Detective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239512" y="3913632"/>
            <a:ext cx="676656" cy="676656"/>
          </a:xfrm>
          <a:prstGeom prst="ellipse">
            <a:avLst/>
          </a:prstGeom>
          <a:ln w="17780">
            <a:solidFill>
              <a:srgbClr val="B85450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5303520" y="3977640"/>
            <a:ext cx="548640" cy="54864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59" name="Text 57"/>
          <p:cNvSpPr/>
          <p:nvPr/>
        </p:nvSpPr>
        <p:spPr>
          <a:xfrm>
            <a:off x="4572000" y="45720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Vincent Spaulding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046720" y="3977640"/>
            <a:ext cx="548640" cy="548640"/>
          </a:xfrm>
          <a:prstGeom prst="ellipse">
            <a:avLst/>
          </a:prstGeom>
          <a:solidFill>
            <a:srgbClr val="2C4A75"/>
          </a:solidFill>
          <a:ln/>
        </p:spPr>
      </p:sp>
      <p:sp>
        <p:nvSpPr>
          <p:cNvPr id="61" name="Text 59"/>
          <p:cNvSpPr/>
          <p:nvPr/>
        </p:nvSpPr>
        <p:spPr>
          <a:xfrm>
            <a:off x="7315200" y="45720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Red-Headed League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0607040" y="3977640"/>
            <a:ext cx="548640" cy="548640"/>
          </a:xfrm>
          <a:prstGeom prst="ellipse">
            <a:avLst/>
          </a:prstGeom>
          <a:solidFill>
            <a:srgbClr val="3D7068"/>
          </a:solidFill>
          <a:ln/>
        </p:spPr>
      </p:sp>
      <p:sp>
        <p:nvSpPr>
          <p:cNvPr id="63" name="Text 61"/>
          <p:cNvSpPr/>
          <p:nvPr/>
        </p:nvSpPr>
        <p:spPr>
          <a:xfrm>
            <a:off x="9875520" y="45720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City Bank Vault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103120" y="4937760"/>
            <a:ext cx="548640" cy="54864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65" name="Text 63"/>
          <p:cNvSpPr/>
          <p:nvPr/>
        </p:nvSpPr>
        <p:spPr>
          <a:xfrm>
            <a:off x="1371600" y="55321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Watson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675120" y="4937760"/>
            <a:ext cx="548640" cy="54864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67" name="Text 65"/>
          <p:cNvSpPr/>
          <p:nvPr/>
        </p:nvSpPr>
        <p:spPr>
          <a:xfrm>
            <a:off x="5943600" y="55321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Insp. Jones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40080" y="59893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Crime edges (kills, killed_by) hidden at test time. The model must identify Spaulding and Ross from circumstantial evidence: deception, affiliation, spatial co-presence with the bank vault.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3 ·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R-GCN encoder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Per-relation message passing with basis decomposition for parameter efficiency.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0911535" cy="178308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874520"/>
            <a:ext cx="54864" cy="178308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984248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 3.1 (R-GCN propagation rule)</a:t>
            </a:r>
            <a:endParaRPr lang="en-US" sz="1000" dirty="0"/>
          </a:p>
        </p:txBody>
      </p:sp>
      <p:pic>
        <p:nvPicPr>
          <p:cNvPr id="10" name="Image 0" descr="/home/claude/academic/eq/eq_propag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5528" y="2258568"/>
            <a:ext cx="5120640" cy="89936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329184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</a:t>
            </a:r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pPr indent="0" marL="0">
              <a:lnSpc>
                <a:spcPts val="1600"/>
              </a:lnSpc>
              <a:buNone/>
            </a:pPr>
            <a:r>
              <a:rPr lang="en-US" sz="900" i="1" baseline="-400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is the relation-specific weight matrix, </a:t>
            </a:r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pPr indent="0" marL="0">
              <a:lnSpc>
                <a:spcPts val="1600"/>
              </a:lnSpc>
              <a:buNone/>
            </a:pPr>
            <a:r>
              <a:rPr lang="en-US" sz="900" i="1" baseline="-400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i,r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|</a:t>
            </a:r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pPr indent="0" marL="0">
              <a:lnSpc>
                <a:spcPts val="1600"/>
              </a:lnSpc>
              <a:buNone/>
            </a:pPr>
            <a:r>
              <a:rPr lang="en-US" sz="900" i="1" baseline="-400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 is the symmetric normalisation, and </a:t>
            </a:r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pPr indent="0" marL="0">
              <a:lnSpc>
                <a:spcPts val="1600"/>
              </a:lnSpc>
              <a:buNone/>
            </a:pPr>
            <a:r>
              <a:rPr lang="en-US" sz="900" i="1" baseline="-400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is the self-loop transformation.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3931920"/>
            <a:ext cx="54864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4114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4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2960" y="4389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Parameter explosion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22960" y="48463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</a:t>
            </a:r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relations and hidden width </a:t>
            </a:r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the encoder needs </a:t>
            </a:r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· d</a:t>
            </a:r>
            <a:pPr indent="0" marL="0">
              <a:lnSpc>
                <a:spcPts val="1800"/>
              </a:lnSpc>
              <a:buNone/>
            </a:pPr>
            <a:r>
              <a:rPr lang="en-US" sz="900" baseline="30000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²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parameters per layer. With </a:t>
            </a:r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16 and </a:t>
            </a:r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32, that is 16,384 parameters per layer for relation transformations alone.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0" y="3931920"/>
            <a:ext cx="512064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0" y="4114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D70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583680" y="4389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Basis decomposition</a:t>
            </a:r>
            <a:endParaRPr lang="en-US" sz="1600" dirty="0"/>
          </a:p>
        </p:txBody>
      </p:sp>
      <p:pic>
        <p:nvPicPr>
          <p:cNvPr id="19" name="Image 1" descr="/home/claude/academic/eq/eq_bas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4846320"/>
            <a:ext cx="1554480" cy="6486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583680" y="55778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</a:t>
            </a:r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basis matrices across all relations; </a:t>
            </a:r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indent="0" marL="0">
              <a:lnSpc>
                <a:spcPts val="1800"/>
              </a:lnSpc>
              <a:buNone/>
            </a:pPr>
            <a:r>
              <a:rPr lang="en-US" sz="900" i="1" baseline="-400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are scalar coefficients.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</a:t>
            </a:r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30, parameter count drops to </a:t>
            </a:r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· d</a:t>
            </a:r>
            <a:pPr indent="0" marL="0">
              <a:lnSpc>
                <a:spcPts val="1800"/>
              </a:lnSpc>
              <a:buNone/>
            </a:pPr>
            <a:r>
              <a:rPr lang="en-US" sz="900" baseline="30000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²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</a:t>
            </a:r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· B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3 ·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encoder, two task-specific heads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R-GCN embedding feeds both decoders; only the head and loss differ.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90008" y="2011680"/>
            <a:ext cx="2011680" cy="91440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8" name="Shape 6"/>
          <p:cNvSpPr/>
          <p:nvPr/>
        </p:nvSpPr>
        <p:spPr>
          <a:xfrm>
            <a:off x="5090008" y="2011680"/>
            <a:ext cx="54864" cy="9144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9" name="Text 7"/>
          <p:cNvSpPr/>
          <p:nvPr/>
        </p:nvSpPr>
        <p:spPr>
          <a:xfrm>
            <a:off x="5227168" y="21762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R-GCN encoder</a:t>
            </a:r>
            <a:endParaRPr lang="en-US" sz="1400" dirty="0"/>
          </a:p>
        </p:txBody>
      </p:sp>
      <p:pic>
        <p:nvPicPr>
          <p:cNvPr id="10" name="Image 0" descr="/home/claude/academic/eq/eq_h_sha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2948" y="2514600"/>
            <a:ext cx="777240" cy="25440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227168" y="27249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embedding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90008" y="2468880"/>
            <a:ext cx="-1554480" cy="0"/>
          </a:xfrm>
          <a:prstGeom prst="line">
            <a:avLst/>
          </a:prstGeom>
          <a:noFill/>
          <a:ln w="9525">
            <a:solidFill>
              <a:srgbClr val="4A6A95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7101688" y="2468880"/>
            <a:ext cx="1554480" cy="0"/>
          </a:xfrm>
          <a:prstGeom prst="line">
            <a:avLst/>
          </a:prstGeom>
          <a:noFill/>
          <a:ln w="9525">
            <a:solidFill>
              <a:srgbClr val="4A6A95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31520" y="3246120"/>
            <a:ext cx="4998568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3429000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3.1 · LINK PREDICTION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05840" y="3749040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DistMult scoring + sigmoid cross-entropy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05840" y="4087368"/>
            <a:ext cx="444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Schlichtkrull et al., 2018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05840" y="4325112"/>
            <a:ext cx="444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function</a:t>
            </a:r>
            <a:endParaRPr lang="en-US" sz="900" dirty="0"/>
          </a:p>
        </p:txBody>
      </p:sp>
      <p:pic>
        <p:nvPicPr>
          <p:cNvPr id="19" name="Image 1" descr="/home/claude/academic/eq/eq_distm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84" y="4526280"/>
            <a:ext cx="2377440" cy="28325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05840" y="5074920"/>
            <a:ext cx="444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</a:t>
            </a:r>
            <a:endParaRPr lang="en-US" sz="900" dirty="0"/>
          </a:p>
        </p:txBody>
      </p:sp>
      <p:pic>
        <p:nvPicPr>
          <p:cNvPr id="21" name="Image 2" descr="/home/claude/academic/eq/eq_link_lo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684" y="5303520"/>
            <a:ext cx="4206240" cy="354066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735928" y="3246120"/>
            <a:ext cx="4998568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3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010248" y="3429000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 · NODE CLASSIFICATION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7010248" y="3749040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softmax + weighted cross-entropy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7010248" y="4087368"/>
            <a:ext cx="444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setup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7010248" y="4325112"/>
            <a:ext cx="444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Predictor</a:t>
            </a:r>
            <a:endParaRPr lang="en-US" sz="900" dirty="0"/>
          </a:p>
        </p:txBody>
      </p:sp>
      <p:pic>
        <p:nvPicPr>
          <p:cNvPr id="27" name="Image 3" descr="/home/claude/academic/eq/eq_softma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491" y="4526280"/>
            <a:ext cx="2377440" cy="43489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10248" y="5074920"/>
            <a:ext cx="444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  (class-weighted)</a:t>
            </a:r>
            <a:endParaRPr lang="en-US" sz="900" dirty="0"/>
          </a:p>
        </p:txBody>
      </p:sp>
      <p:pic>
        <p:nvPicPr>
          <p:cNvPr id="29" name="Image 4" descr="/home/claude/academic/eq/eq_class_los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411" y="5303520"/>
            <a:ext cx="3657600" cy="7953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4 · TRAINING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procedure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Negative sampling, edge masking, and class balance handled at the loss level.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5349240" cy="1874520"/>
          </a:xfrm>
          <a:prstGeom prst="rect">
            <a:avLst/>
          </a:prstGeom>
          <a:solidFill>
            <a:srgbClr val="F6F8FA"/>
          </a:solidFill>
          <a:ln w="9525">
            <a:solidFill>
              <a:srgbClr val="C8CD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677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4.1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Negative sampling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9718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every observed triple (vᵢ, r, vⱼ), draw ω = 1 corrupted triple by perturbing the head or tail uniformly. DistMult is trained on observed-vs-corrupted as a binary task.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103120"/>
            <a:ext cx="5349240" cy="1874520"/>
          </a:xfrm>
          <a:prstGeom prst="rect">
            <a:avLst/>
          </a:prstGeom>
          <a:solidFill>
            <a:srgbClr val="F6F8FA"/>
          </a:solidFill>
          <a:ln w="9525">
            <a:solidFill>
              <a:srgbClr val="C8CD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2677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4.2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6520" y="251460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Bidirectional message passing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29718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base relation r has its inverse r⁻¹ materialised as a distinct edge type in the graph, so messages flow in both directions through the encoder and each direction has its own learned transformation. This matters for asymmetric relations like accuses.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5349240" cy="1874520"/>
          </a:xfrm>
          <a:prstGeom prst="rect">
            <a:avLst/>
          </a:prstGeom>
          <a:solidFill>
            <a:srgbClr val="F6F8FA"/>
          </a:solidFill>
          <a:ln w="9525">
            <a:solidFill>
              <a:srgbClr val="C8CD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370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4.3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461772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Crime-edge masking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50749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Edges that trivially leak the label (kills, killed_by, assaults, financial-crime) are removed from both training and test graphs. Validated via ablation: masking had zero impact on predictions.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4206240"/>
            <a:ext cx="5349240" cy="1874520"/>
          </a:xfrm>
          <a:prstGeom prst="rect">
            <a:avLst/>
          </a:prstGeom>
          <a:solidFill>
            <a:srgbClr val="F6F8FA"/>
          </a:solidFill>
          <a:ln w="9525">
            <a:solidFill>
              <a:srgbClr val="C8CD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370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4.4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46520" y="461772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imbalance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46520" y="50749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Villain class is ~9 % of nodes. Cross-entropy weighted inversely by class frequency; macro-F1 reported alongside accuracy.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5 ·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evaluation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R-GCN outperforms feature-only and topology-only baselines on F1 and accuracy.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2 · TEST METRICS  (5-SEED CROSS-VALIDATED)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31720"/>
          <a:ext cx="10911535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1234440"/>
                <a:gridCol w="1234440"/>
                <a:gridCol w="1234440"/>
                <a:gridCol w="1234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Model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Accuracy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Villain F1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Precision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Recall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Spectral only  (4-dim Laplacian eigenmaps, no features)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54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0.255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54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0.113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54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0.145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54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0.093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Features + Spectral  (concatenated)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0.588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0.696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0.727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0.667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Logistic regression  (features only, no graph)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0.869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0.715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0.684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0.752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R-GCN  (typed relational message passing)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0.904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0.762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0.825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0.708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4754880"/>
            <a:ext cx="10911535" cy="1508760"/>
          </a:xfrm>
          <a:prstGeom prst="rect">
            <a:avLst/>
          </a:prstGeom>
          <a:solidFill>
            <a:srgbClr val="F6F8FA"/>
          </a:solidFill>
          <a:ln w="9525">
            <a:solidFill>
              <a:srgbClr val="C8CDD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4754880"/>
            <a:ext cx="54864" cy="150876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4846320"/>
            <a:ext cx="105000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 Topology alone is essentially useless. 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Spectral-only F1 = 0.113 — character centrality in a connection graph does not predict villainy.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 Adding spectral embeddings to features adds nothing. 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+ Spectral (0.696) ≈ Features only (0.715). Laplacian structure does not help on top of features.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 R-GCN's gain comes from typed relational message passing. 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+ 0.047 over LogReg, +14 pp precision. Labelled relations — not raw topology — are what matters.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5 ·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R-GCN vs. LogReg: a deep-dive on differences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of R-GCN's gain comes from clearing innocents, not catching extra villains.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5181448" cy="3840480"/>
          </a:xfrm>
          <a:prstGeom prst="rect">
            <a:avLst/>
          </a:prstGeom>
          <a:solidFill>
            <a:srgbClr val="F6F8FA"/>
          </a:solidFill>
          <a:ln w="9525">
            <a:solidFill>
              <a:srgbClr val="C8CD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03120"/>
            <a:ext cx="5181448" cy="4572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86000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R-GCN GAINS BY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606040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Clearing innocents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3108960"/>
            <a:ext cx="463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uses relational context — alibis, spatial separation, professional ties — to rule suspects out.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3D70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9600" dirty="0"/>
          </a:p>
        </p:txBody>
      </p:sp>
      <p:sp>
        <p:nvSpPr>
          <p:cNvPr id="13" name="Text 11"/>
          <p:cNvSpPr/>
          <p:nvPr/>
        </p:nvSpPr>
        <p:spPr>
          <a:xfrm>
            <a:off x="2834640" y="4343400"/>
            <a:ext cx="2712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false accusations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34640" y="4709160"/>
            <a:ext cx="2712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(10 Uninvolved · 7 Witness · 2 Victim)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61608" y="2103120"/>
            <a:ext cx="5181448" cy="3840480"/>
          </a:xfrm>
          <a:prstGeom prst="rect">
            <a:avLst/>
          </a:prstGeom>
          <a:solidFill>
            <a:srgbClr val="F6F8FA"/>
          </a:solidFill>
          <a:ln w="9525">
            <a:solidFill>
              <a:srgbClr val="C8CD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61608" y="2103120"/>
            <a:ext cx="5181448" cy="45720"/>
          </a:xfrm>
          <a:prstGeom prst="rect">
            <a:avLst/>
          </a:prstGeom>
          <a:solidFill>
            <a:srgbClr val="B85450"/>
          </a:solidFill>
          <a:ln/>
        </p:spPr>
      </p:sp>
      <p:sp>
        <p:nvSpPr>
          <p:cNvPr id="17" name="Text 15"/>
          <p:cNvSpPr/>
          <p:nvPr/>
        </p:nvSpPr>
        <p:spPr>
          <a:xfrm>
            <a:off x="6735928" y="2286000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4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LOGREG GAINS BY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35928" y="2606040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Casting a wider net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35928" y="3108960"/>
            <a:ext cx="463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flags every character with suspicious feature values — catching slightly more villains, but accusing far more innocents.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35928" y="38862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B854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</a:t>
            </a:r>
            <a:endParaRPr lang="en-US" sz="9600" dirty="0"/>
          </a:p>
        </p:txBody>
      </p:sp>
      <p:sp>
        <p:nvSpPr>
          <p:cNvPr id="21" name="Text 19"/>
          <p:cNvSpPr/>
          <p:nvPr/>
        </p:nvSpPr>
        <p:spPr>
          <a:xfrm>
            <a:off x="8656168" y="4343400"/>
            <a:ext cx="2712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false accusations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56168" y="4709160"/>
            <a:ext cx="2712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(22 Uninvolved · 13 Witness · 4 Victim)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6080760"/>
            <a:ext cx="10911535" cy="41148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6080760"/>
            <a:ext cx="54864" cy="41148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608076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 structure helps the model exclude false suspects more than it helps find true ones.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5 ·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Held-out inference: real cases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Stories the model never saw during training; predicted villain probabilities ranked.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5181448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03120"/>
            <a:ext cx="5181448" cy="4572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86000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463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Zodiac (2007)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97180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unsolved. Arthur Leigh Allen is the prime suspect.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383280"/>
          <a:ext cx="4632808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005840"/>
                <a:gridCol w="32918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Rank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P(Villain)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Character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1.0000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Arthur Leigh Allen  (real-world prime suspect)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0.998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Zodiac Killer  (unidentified placeholder)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0.217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Rick Marshall  (person of interest)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8A8A8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4–20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8A8A8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&lt; 0.13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A8A8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Police, victims, witnesses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461608" y="2103120"/>
            <a:ext cx="5181448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61608" y="2103120"/>
            <a:ext cx="5181448" cy="4572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5" name="Text 12"/>
          <p:cNvSpPr/>
          <p:nvPr/>
        </p:nvSpPr>
        <p:spPr>
          <a:xfrm>
            <a:off x="6735928" y="2286000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 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735928" y="2560320"/>
            <a:ext cx="463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Dark — Season 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735928" y="2971800"/>
            <a:ext cx="463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Curtis Flowers prosecuted six times; exonerated. The podcast tells two interlocking stories: prosecutorial misconduct, and concealed alternate suspects.</a:t>
            </a:r>
            <a:endParaRPr lang="en-US" sz="10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35928" y="3520440"/>
          <a:ext cx="4632808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777240"/>
                <a:gridCol w="1554480"/>
                <a:gridCol w="2011680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Rank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P(Vill.)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Character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Role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3294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3294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Doug Evans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Prosecutor — misconduct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Willie J. Hemphill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Alt. suspect (UNK)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0.9999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John Johnson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DA investigator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 / 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0.9999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Presley &amp; Gamble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Alt. suspects (UNK)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D706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D706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706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Curtis Flowers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3D706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Wrongfully accused — cleared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EC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6735928" y="5349240"/>
            <a:ext cx="4632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independently rediscovered both stories — naming the misconduct antagonists (Evans, Johnson) and surfacing the concealed alternate suspects (Hemphill, Presley, Gamble), while clearing Flowers despite a mislabelled training entry.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6 · DISCUSSION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R-GCN does well, where it falls short, and what it tells us about graph-based reasoning.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3520440" cy="1783080"/>
          </a:xfrm>
          <a:prstGeom prst="rect">
            <a:avLst/>
          </a:prstGeom>
          <a:solidFill>
            <a:srgbClr val="F6F8FA"/>
          </a:solidFill>
          <a:ln w="9525">
            <a:solidFill>
              <a:srgbClr val="C8CD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03120"/>
            <a:ext cx="54864" cy="178308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40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6.1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248716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Typed structure beats topology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Labelled relations drive performance; topology alone yields F1 = 0.255.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2103120"/>
            <a:ext cx="3520440" cy="1783080"/>
          </a:xfrm>
          <a:prstGeom prst="rect">
            <a:avLst/>
          </a:prstGeom>
          <a:solidFill>
            <a:srgbClr val="F6F8FA"/>
          </a:solidFill>
          <a:ln w="9525">
            <a:solidFill>
              <a:srgbClr val="C8CD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2103120"/>
            <a:ext cx="54864" cy="178308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240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6.2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17720" y="248716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Precise but cautious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17720" y="29718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Higher precision than LogReg, slightly lower recall — half as many false accusations.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2103120"/>
            <a:ext cx="3520440" cy="1783080"/>
          </a:xfrm>
          <a:prstGeom prst="rect">
            <a:avLst/>
          </a:prstGeom>
          <a:solidFill>
            <a:srgbClr val="F6F8FA"/>
          </a:solidFill>
          <a:ln w="9525">
            <a:solidFill>
              <a:srgbClr val="C8CD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2103120"/>
            <a:ext cx="54864" cy="178308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2240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6.3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248716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at exclusion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66760" y="29718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of the gain comes from ruling people out, not finding new culprits.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069080"/>
            <a:ext cx="3520440" cy="1783080"/>
          </a:xfrm>
          <a:prstGeom prst="rect">
            <a:avLst/>
          </a:prstGeom>
          <a:solidFill>
            <a:srgbClr val="F6F8FA"/>
          </a:solidFill>
          <a:ln w="9525">
            <a:solidFill>
              <a:srgbClr val="C8CD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069080"/>
            <a:ext cx="54864" cy="178308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206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6.4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44531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Multi-task helps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8680" y="4937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Link-prediction signal regularises the encoder; ablation shows F1 drops by 3.1 pp without it.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89120" y="4069080"/>
            <a:ext cx="3520440" cy="1783080"/>
          </a:xfrm>
          <a:prstGeom prst="rect">
            <a:avLst/>
          </a:prstGeom>
          <a:solidFill>
            <a:srgbClr val="F6F8FA"/>
          </a:solidFill>
          <a:ln w="9525">
            <a:solidFill>
              <a:srgbClr val="C8CD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0" y="4069080"/>
            <a:ext cx="54864" cy="178308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29" name="Text 27"/>
          <p:cNvSpPr/>
          <p:nvPr/>
        </p:nvSpPr>
        <p:spPr>
          <a:xfrm>
            <a:off x="4617720" y="4206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6.5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17720" y="44531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Generalises to held-out cases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617720" y="4937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Correctly ranks real-world prime suspects; overrides a mislabelled training point.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38160" y="4069080"/>
            <a:ext cx="3520440" cy="1783080"/>
          </a:xfrm>
          <a:prstGeom prst="rect">
            <a:avLst/>
          </a:prstGeom>
          <a:solidFill>
            <a:srgbClr val="F6F8FA"/>
          </a:solidFill>
          <a:ln w="9525">
            <a:solidFill>
              <a:srgbClr val="C8CDD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38160" y="4069080"/>
            <a:ext cx="54864" cy="178308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4" name="Text 32"/>
          <p:cNvSpPr/>
          <p:nvPr/>
        </p:nvSpPr>
        <p:spPr>
          <a:xfrm>
            <a:off x="8366760" y="4206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6.6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366760" y="44531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Limits remain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66760" y="4937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degrades on graphs with noisy or sparse relations; see Appendix C.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6263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References:  Schlichtkrull et al., 2018  ·  Kipf &amp; Welling, 2017  ·  Yang et al., 2015 (DistMult)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4663440" y="23774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4663440" y="3611880"/>
            <a:ext cx="1280160" cy="0"/>
          </a:xfrm>
          <a:prstGeom prst="line">
            <a:avLst/>
          </a:prstGeom>
          <a:noFill/>
          <a:ln w="12700">
            <a:solidFill>
              <a:srgbClr val="4A6A9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303520"/>
            <a:ext cx="1463040" cy="0"/>
          </a:xfrm>
          <a:prstGeom prst="line">
            <a:avLst/>
          </a:prstGeom>
          <a:noFill/>
          <a:ln w="12700">
            <a:solidFill>
              <a:srgbClr val="F4EF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40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spc="400" kern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CD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Adam · Max · Isaac · Abhi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4663440" y="2194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6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663440" y="260604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Supplementary material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663440" y="3474720"/>
            <a:ext cx="1280160" cy="0"/>
          </a:xfrm>
          <a:prstGeom prst="line">
            <a:avLst/>
          </a:prstGeom>
          <a:noFill/>
          <a:ln w="12700">
            <a:solidFill>
              <a:srgbClr val="4A6A9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3703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A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1208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Mathematical depth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39502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Basis decomposition and the block-diagonal alternative.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0" y="4206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A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1208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12080" y="44531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negative sampling works in link prediction.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4709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A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4709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failure modes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956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R-GCN gets it wrong, and why.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5212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A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5212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construction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12080" y="54589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built the knowledge graphs from synopses.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A · MATHEMATICAL DEPTH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Basis &amp; block-diagonal decomposition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0911535" cy="411480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03120"/>
            <a:ext cx="54864" cy="41148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6771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A.1 · BASIS DECOMPOSITION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56032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Decomposition of the relation-specific weight matrix:</a:t>
            </a:r>
            <a:endParaRPr lang="en-US" sz="1100" dirty="0"/>
          </a:p>
        </p:txBody>
      </p:sp>
      <p:pic>
        <p:nvPicPr>
          <p:cNvPr id="10" name="Image 0" descr="/home/claude/academic/eq/eq_basis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2768" y="2880360"/>
            <a:ext cx="3657600" cy="78570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379476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Parameter count drops from naïve to basis form:</a:t>
            </a:r>
            <a:endParaRPr lang="en-US" sz="1100" dirty="0"/>
          </a:p>
        </p:txBody>
      </p:sp>
      <p:pic>
        <p:nvPicPr>
          <p:cNvPr id="12" name="Image 1" descr="/home/claude/academic/eq/eq_par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448" y="4069080"/>
            <a:ext cx="4206240" cy="71671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8680" y="484632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</a:t>
            </a:r>
            <a:pPr algn="ctr"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16, </a:t>
            </a:r>
            <a:pPr algn="ctr"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32, </a:t>
            </a:r>
            <a:pPr algn="ctr"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30:  16,384 → 31,200 parameters per layer (small absolute, but bounded as </a:t>
            </a:r>
            <a:pPr algn="ctr"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grows).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68680" y="521208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A.2 · BLOCK-DIAGONAL ALTERNATIVE</a:t>
            </a:r>
            <a:endParaRPr lang="en-US" sz="1000" dirty="0"/>
          </a:p>
        </p:txBody>
      </p:sp>
      <p:pic>
        <p:nvPicPr>
          <p:cNvPr id="15" name="Image 2" descr="/home/claude/academic/eq/eq_block_di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8368" y="5486400"/>
            <a:ext cx="5486400" cy="3171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8680" y="585216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Enforces sparsity within Wᵣ rather than parameter sharing across relations. Useful when relations are functionally distinct and shouldn't be approximated as linear combinations.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B · METHODOLOGY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negative sampling works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Used by the link-prediction decoder; not used in our node-classification training.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911535" cy="429768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11680"/>
            <a:ext cx="54864" cy="429768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7627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46888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knowledge graph contains only positive examples — observed triples. To train a link-prediction decoder we need negative examples: triples that should score low. The graph itself never gives us these directly.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2918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PROCEDURE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3584448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every observed triple </a:t>
            </a:r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(s, r, o)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construct </a:t>
            </a:r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ω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"corrupted" triples by replacing the head </a:t>
            </a:r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or the tail </a:t>
            </a:r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with a uniformly random entity. The model is trained as a binary classifier: positive on observed triples (label 1), negative on corrupted ones (label 0), with sigmoid cross-entropy on the DistMult score.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470916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 CHOICES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498348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Sampling rate ω. 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Schlichtkrull et al. use ω = 1 (one negative per positive). Higher ratios saturated quickly in their experiments.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filtering at training time. 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Corrupted triples are drawn uniformly without checking whether they happen to exist elsewhere in the graph; the noise is tolerable in practice.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don't use it. 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task is node classification, so we train only the classifier head with weighted cross-entropy on labelled characters. Negative sampling is a property of the link-prediction decoder.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C · LIMITATIONS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R-GCN gets it wrong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FAILURE MODES OBSERVED ON DEV SET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2316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280160"/>
                <a:gridCol w="36576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Failure mode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Frequency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Cause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Sparse-relation graphs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54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~30 %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Few edges per character ⇒ encoder relies on features alone.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Two-act structure (red herring)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54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~15 %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Apparent villain in act 1 has stronger relational signature than the true one.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Ensemble villains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8A8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~10 %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Multiple co-conspirators ⇒ each gets a diluted P(Villain).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Off-screen perpetrators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8A8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~8 %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Perp barely appears in the narrative ⇒ feature/edge sparsity.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909828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STRUCTURAL LIMITS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098280" y="2423160"/>
            <a:ext cx="2423160" cy="210312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0" name="Shape 7"/>
          <p:cNvSpPr/>
          <p:nvPr/>
        </p:nvSpPr>
        <p:spPr>
          <a:xfrm>
            <a:off x="9098280" y="2423160"/>
            <a:ext cx="54864" cy="210312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1" name="Text 8"/>
          <p:cNvSpPr/>
          <p:nvPr/>
        </p:nvSpPr>
        <p:spPr>
          <a:xfrm>
            <a:off x="9235440" y="2542032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Two-layer R-GCN ⇒ 2-hop receptive field. Long-range reasoning lost.</a:t>
            </a:r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Cannot count substructures beyond 1-WL.</a:t>
            </a:r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Static graph: no temporal evolution of relations.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4846320"/>
            <a:ext cx="10911535" cy="1417320"/>
          </a:xfrm>
          <a:prstGeom prst="rect">
            <a:avLst/>
          </a:prstGeom>
          <a:solidFill>
            <a:srgbClr val="F6F8FA"/>
          </a:solidFill>
          <a:ln w="9525">
            <a:solidFill>
              <a:srgbClr val="C8CDD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498348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4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 ASSESSMENT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68680" y="5285232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R-GCN is not a detective. It is a precise, cautious classifier that exploits relational sparsity to exclude the obviously-uninvolved. On stories that match the training distribution, it improves macro-F1 by ~5 pp; on edge cases — sparse graphs, two-act narratives, ensemble crimes — it underperforms LogReg. The takeaway is not that graph models replace feature classifiers, but that </a:t>
            </a:r>
            <a:pPr indent="0" marL="0">
              <a:lnSpc>
                <a:spcPts val="1800"/>
              </a:lnSpc>
              <a:buNone/>
            </a:pPr>
            <a:r>
              <a:rPr lang="en-US" sz="1100" i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complement them when relational structure is rich and class signal is moderate.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D · 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Construction pipeline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2590724" cy="169164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03120"/>
            <a:ext cx="2590724" cy="54864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86000"/>
            <a:ext cx="22249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22249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Pull synopses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22249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Scraped 576 mystery plot synopses from Wikipedia — novels, films, TV episodes, podcasts, short stories.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rot="5400000">
            <a:off x="3285668" y="2884932"/>
            <a:ext cx="91440" cy="128016"/>
          </a:xfrm>
          <a:prstGeom prst="rtTriangle">
            <a:avLst/>
          </a:prstGeom>
          <a:solidFill>
            <a:srgbClr val="4A6A95"/>
          </a:solidFill>
          <a:ln/>
        </p:spPr>
      </p:sp>
      <p:sp>
        <p:nvSpPr>
          <p:cNvPr id="12" name="Shape 10"/>
          <p:cNvSpPr/>
          <p:nvPr/>
        </p:nvSpPr>
        <p:spPr>
          <a:xfrm>
            <a:off x="3413684" y="2103120"/>
            <a:ext cx="2590724" cy="169164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3" name="Shape 11"/>
          <p:cNvSpPr/>
          <p:nvPr/>
        </p:nvSpPr>
        <p:spPr>
          <a:xfrm>
            <a:off x="3413684" y="2103120"/>
            <a:ext cx="2590724" cy="54864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4" name="Text 12"/>
          <p:cNvSpPr/>
          <p:nvPr/>
        </p:nvSpPr>
        <p:spPr>
          <a:xfrm>
            <a:off x="3596564" y="2286000"/>
            <a:ext cx="22249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96564" y="2560320"/>
            <a:ext cx="22249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 entities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96564" y="3017520"/>
            <a:ext cx="22249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 an LLM (mixtral:8x7b, two-pass) to pull out characters, locations, occupations and organisations along with their features.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rot="5400000">
            <a:off x="6059272" y="2884932"/>
            <a:ext cx="91440" cy="128016"/>
          </a:xfrm>
          <a:prstGeom prst="rtTriangle">
            <a:avLst/>
          </a:prstGeom>
          <a:solidFill>
            <a:srgbClr val="4A6A95"/>
          </a:solidFill>
          <a:ln/>
        </p:spPr>
      </p:sp>
      <p:sp>
        <p:nvSpPr>
          <p:cNvPr id="18" name="Shape 16"/>
          <p:cNvSpPr/>
          <p:nvPr/>
        </p:nvSpPr>
        <p:spPr>
          <a:xfrm>
            <a:off x="6187288" y="2103120"/>
            <a:ext cx="2590724" cy="169164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9" name="Shape 17"/>
          <p:cNvSpPr/>
          <p:nvPr/>
        </p:nvSpPr>
        <p:spPr>
          <a:xfrm>
            <a:off x="6187288" y="2103120"/>
            <a:ext cx="2590724" cy="54864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20" name="Text 18"/>
          <p:cNvSpPr/>
          <p:nvPr/>
        </p:nvSpPr>
        <p:spPr>
          <a:xfrm>
            <a:off x="6370168" y="2286000"/>
            <a:ext cx="22249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70168" y="2560320"/>
            <a:ext cx="22249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 relationships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0168" y="3017520"/>
            <a:ext cx="22249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 LLM pass over each synopsis extracted typed edges between the entities, mapped onto the schema's 8 base relation types.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rot="5400000">
            <a:off x="8832875" y="2884932"/>
            <a:ext cx="91440" cy="128016"/>
          </a:xfrm>
          <a:prstGeom prst="rtTriangle">
            <a:avLst/>
          </a:prstGeom>
          <a:solidFill>
            <a:srgbClr val="4A6A95"/>
          </a:solidFill>
          <a:ln/>
        </p:spPr>
      </p:sp>
      <p:sp>
        <p:nvSpPr>
          <p:cNvPr id="24" name="Shape 22"/>
          <p:cNvSpPr/>
          <p:nvPr/>
        </p:nvSpPr>
        <p:spPr>
          <a:xfrm>
            <a:off x="8960891" y="2103120"/>
            <a:ext cx="2590724" cy="169164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0891" y="2103120"/>
            <a:ext cx="2590724" cy="54864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26" name="Text 24"/>
          <p:cNvSpPr/>
          <p:nvPr/>
        </p:nvSpPr>
        <p:spPr>
          <a:xfrm>
            <a:off x="9143771" y="2286000"/>
            <a:ext cx="22249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3771" y="2560320"/>
            <a:ext cx="22249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 labels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3771" y="3017520"/>
            <a:ext cx="22249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character was labelled Villain, Victim, Witness, or Uninvolved. Targeted re-extraction passes cleaned ambiguous cases.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4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STATISTICS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434840"/>
          <a:ext cx="1091153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280160"/>
                <a:gridCol w="4114800"/>
                <a:gridCol w="14630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Property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Value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Property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Value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Stories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576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Mean characters per story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Total nodes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14,020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Mean edges per story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55.6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Total edges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≈ 32,000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Relation types  (8 base × 2 inv.)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Villain class share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9.1 %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Targeted re-extraction rounds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Relational Graph Convolutional Networks for Villain Identification</dc:title>
  <dc:subject>PptxGenJS Presentation</dc:subject>
  <dc:creator>Adam Abramowitz, Max DeSantis, Isaac Dreeben, Abhi Mummaneni</dc:creator>
  <cp:lastModifiedBy>Adam Abramowitz, Max DeSantis, Isaac Dreeben, Abhi Mummaneni</cp:lastModifiedBy>
  <cp:revision>1</cp:revision>
  <dcterms:created xsi:type="dcterms:W3CDTF">2026-04-28T10:39:50Z</dcterms:created>
  <dcterms:modified xsi:type="dcterms:W3CDTF">2026-04-28T10:39:50Z</dcterms:modified>
</cp:coreProperties>
</file>