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3294B"/>
          </a:solidFill>
          <a:ln/>
        </p:spPr>
      </p:sp>
      <p:sp>
        <p:nvSpPr>
          <p:cNvPr id="3" name="Text 1"/>
          <p:cNvSpPr/>
          <p:nvPr/>
        </p:nvSpPr>
        <p:spPr>
          <a:xfrm>
            <a:off x="4663440" y="1463040"/>
            <a:ext cx="6858000" cy="274320"/>
          </a:xfrm>
          <a:prstGeom prst="rect">
            <a:avLst/>
          </a:prstGeom>
          <a:noFill/>
          <a:ln/>
        </p:spPr>
        <p:txBody>
          <a:bodyPr wrap="square" lIns="0" tIns="0" rIns="0" bIns="0" rtlCol="0" anchor="ctr"/>
          <a:lstStyle/>
          <a:p>
            <a:pPr indent="0" marL="0">
              <a:buNone/>
            </a:pPr>
            <a:r>
              <a:rPr lang="en-US" sz="1100" i="1" spc="400" kern="0" dirty="0">
                <a:solidFill>
                  <a:srgbClr val="2C4A75"/>
                </a:solidFill>
                <a:latin typeface="Georgia" pitchFamily="34" charset="0"/>
                <a:ea typeface="Georgia" pitchFamily="34" charset="-122"/>
                <a:cs typeface="Georgia" pitchFamily="34" charset="-120"/>
              </a:rPr>
              <a:t>MATH 290  ·  SPRING 2026</a:t>
            </a:r>
            <a:endParaRPr lang="en-US" sz="1100" dirty="0"/>
          </a:p>
        </p:txBody>
      </p:sp>
      <p:sp>
        <p:nvSpPr>
          <p:cNvPr id="4" name="Text 2"/>
          <p:cNvSpPr/>
          <p:nvPr/>
        </p:nvSpPr>
        <p:spPr>
          <a:xfrm>
            <a:off x="4663440" y="1874520"/>
            <a:ext cx="7040880" cy="685800"/>
          </a:xfrm>
          <a:prstGeom prst="rect">
            <a:avLst/>
          </a:prstGeom>
          <a:noFill/>
          <a:ln/>
        </p:spPr>
        <p:txBody>
          <a:bodyPr wrap="square" lIns="0" tIns="0" rIns="0" bIns="0" rtlCol="0" anchor="ctr"/>
          <a:lstStyle/>
          <a:p>
            <a:pPr indent="0" marL="0">
              <a:buNone/>
            </a:pPr>
            <a:r>
              <a:rPr lang="en-US" sz="3800" b="1" dirty="0">
                <a:solidFill>
                  <a:srgbClr val="13294B"/>
                </a:solidFill>
                <a:latin typeface="Georgia" pitchFamily="34" charset="0"/>
                <a:ea typeface="Georgia" pitchFamily="34" charset="-122"/>
                <a:cs typeface="Georgia" pitchFamily="34" charset="-120"/>
              </a:rPr>
              <a:t>Relational Graph</a:t>
            </a:r>
            <a:endParaRPr lang="en-US" sz="3800" dirty="0"/>
          </a:p>
        </p:txBody>
      </p:sp>
      <p:sp>
        <p:nvSpPr>
          <p:cNvPr id="5" name="Text 3"/>
          <p:cNvSpPr/>
          <p:nvPr/>
        </p:nvSpPr>
        <p:spPr>
          <a:xfrm>
            <a:off x="4663440" y="2542032"/>
            <a:ext cx="7040880" cy="685800"/>
          </a:xfrm>
          <a:prstGeom prst="rect">
            <a:avLst/>
          </a:prstGeom>
          <a:noFill/>
          <a:ln/>
        </p:spPr>
        <p:txBody>
          <a:bodyPr wrap="square" lIns="0" tIns="0" rIns="0" bIns="0" rtlCol="0" anchor="ctr"/>
          <a:lstStyle/>
          <a:p>
            <a:pPr indent="0" marL="0">
              <a:buNone/>
            </a:pPr>
            <a:r>
              <a:rPr lang="en-US" sz="3800" b="1" dirty="0">
                <a:solidFill>
                  <a:srgbClr val="13294B"/>
                </a:solidFill>
                <a:latin typeface="Georgia" pitchFamily="34" charset="0"/>
                <a:ea typeface="Georgia" pitchFamily="34" charset="-122"/>
                <a:cs typeface="Georgia" pitchFamily="34" charset="-120"/>
              </a:rPr>
              <a:t>Convolutional Networks</a:t>
            </a:r>
            <a:endParaRPr lang="en-US" sz="3800" dirty="0"/>
          </a:p>
        </p:txBody>
      </p:sp>
      <p:sp>
        <p:nvSpPr>
          <p:cNvPr id="6" name="Shape 4"/>
          <p:cNvSpPr/>
          <p:nvPr/>
        </p:nvSpPr>
        <p:spPr>
          <a:xfrm>
            <a:off x="4663440" y="3337560"/>
            <a:ext cx="1280160" cy="0"/>
          </a:xfrm>
          <a:prstGeom prst="line">
            <a:avLst/>
          </a:prstGeom>
          <a:noFill/>
          <a:ln w="12700">
            <a:solidFill>
              <a:srgbClr val="4A6A95"/>
            </a:solidFill>
            <a:prstDash val="solid"/>
          </a:ln>
        </p:spPr>
      </p:sp>
      <p:sp>
        <p:nvSpPr>
          <p:cNvPr id="7" name="Text 5"/>
          <p:cNvSpPr/>
          <p:nvPr/>
        </p:nvSpPr>
        <p:spPr>
          <a:xfrm>
            <a:off x="4663440" y="3520440"/>
            <a:ext cx="6858000" cy="457200"/>
          </a:xfrm>
          <a:prstGeom prst="rect">
            <a:avLst/>
          </a:prstGeom>
          <a:noFill/>
          <a:ln/>
        </p:spPr>
        <p:txBody>
          <a:bodyPr wrap="square" lIns="0" tIns="0" rIns="0" bIns="0" rtlCol="0" anchor="ctr"/>
          <a:lstStyle/>
          <a:p>
            <a:pPr indent="0" marL="0">
              <a:buNone/>
            </a:pPr>
            <a:r>
              <a:rPr lang="en-US" sz="1800" i="1" dirty="0">
                <a:solidFill>
                  <a:srgbClr val="4A4A4A"/>
                </a:solidFill>
                <a:latin typeface="Georgia" pitchFamily="34" charset="0"/>
                <a:ea typeface="Georgia" pitchFamily="34" charset="-122"/>
                <a:cs typeface="Georgia" pitchFamily="34" charset="-120"/>
              </a:rPr>
              <a:t>Villain identification in murder-mystery knowledge graphs.</a:t>
            </a:r>
            <a:endParaRPr lang="en-US" sz="1800" dirty="0"/>
          </a:p>
        </p:txBody>
      </p:sp>
      <p:sp>
        <p:nvSpPr>
          <p:cNvPr id="8" name="Text 6"/>
          <p:cNvSpPr/>
          <p:nvPr/>
        </p:nvSpPr>
        <p:spPr>
          <a:xfrm>
            <a:off x="4663440" y="4846320"/>
            <a:ext cx="6858000" cy="365760"/>
          </a:xfrm>
          <a:prstGeom prst="rect">
            <a:avLst/>
          </a:prstGeom>
          <a:noFill/>
          <a:ln/>
        </p:spPr>
        <p:txBody>
          <a:bodyPr wrap="square" lIns="0" tIns="0" rIns="0" bIns="0" rtlCol="0" anchor="ctr"/>
          <a:lstStyle/>
          <a:p>
            <a:pPr indent="0" marL="0">
              <a:buNone/>
            </a:pPr>
            <a:r>
              <a:rPr lang="en-US" sz="1300" dirty="0">
                <a:solidFill>
                  <a:srgbClr val="4A4A4A"/>
                </a:solidFill>
                <a:latin typeface="Georgia" pitchFamily="34" charset="0"/>
                <a:ea typeface="Georgia" pitchFamily="34" charset="-122"/>
                <a:cs typeface="Georgia" pitchFamily="34" charset="-120"/>
              </a:rPr>
              <a:t>Adam Abramowitz   ·   Max DeSantis   ·   Isaac Dreeben   ·   Abhi Mummaneni</a:t>
            </a:r>
            <a:endParaRPr lang="en-US" sz="1300" dirty="0"/>
          </a:p>
        </p:txBody>
      </p:sp>
      <p:sp>
        <p:nvSpPr>
          <p:cNvPr id="9" name="Text 7"/>
          <p:cNvSpPr/>
          <p:nvPr/>
        </p:nvSpPr>
        <p:spPr>
          <a:xfrm>
            <a:off x="4663440" y="5166360"/>
            <a:ext cx="6858000" cy="274320"/>
          </a:xfrm>
          <a:prstGeom prst="rect">
            <a:avLst/>
          </a:prstGeom>
          <a:noFill/>
          <a:ln/>
        </p:spPr>
        <p:txBody>
          <a:bodyPr wrap="square" lIns="0" tIns="0" rIns="0" bIns="0" rtlCol="0" anchor="ctr"/>
          <a:lstStyle/>
          <a:p>
            <a:pPr indent="0" marL="0">
              <a:buNone/>
            </a:pPr>
            <a:r>
              <a:rPr lang="en-US" sz="1100" i="1" dirty="0">
                <a:solidFill>
                  <a:srgbClr val="8A8A8A"/>
                </a:solidFill>
                <a:latin typeface="Georgia" pitchFamily="34" charset="0"/>
                <a:ea typeface="Georgia" pitchFamily="34" charset="-122"/>
                <a:cs typeface="Georgia" pitchFamily="34" charset="-120"/>
              </a:rPr>
              <a:t>Final project presentation</a:t>
            </a:r>
            <a:endParaRPr lang="en-US" sz="1100" dirty="0"/>
          </a:p>
        </p:txBody>
      </p:sp>
      <p:sp>
        <p:nvSpPr>
          <p:cNvPr id="10" name="Shape 8"/>
          <p:cNvSpPr/>
          <p:nvPr/>
        </p:nvSpPr>
        <p:spPr>
          <a:xfrm>
            <a:off x="640080" y="5303520"/>
            <a:ext cx="1463040" cy="0"/>
          </a:xfrm>
          <a:prstGeom prst="line">
            <a:avLst/>
          </a:prstGeom>
          <a:noFill/>
          <a:ln w="12700">
            <a:solidFill>
              <a:srgbClr val="F4EFE6"/>
            </a:solidFill>
            <a:prstDash val="solid"/>
          </a:ln>
        </p:spPr>
      </p:sp>
      <p:sp>
        <p:nvSpPr>
          <p:cNvPr id="11" name="Text 9"/>
          <p:cNvSpPr/>
          <p:nvPr/>
        </p:nvSpPr>
        <p:spPr>
          <a:xfrm>
            <a:off x="640080" y="5440680"/>
            <a:ext cx="2743200" cy="365760"/>
          </a:xfrm>
          <a:prstGeom prst="rect">
            <a:avLst/>
          </a:prstGeom>
          <a:noFill/>
          <a:ln/>
        </p:spPr>
        <p:txBody>
          <a:bodyPr wrap="square" lIns="0" tIns="0" rIns="0" bIns="0" rtlCol="0" anchor="ctr"/>
          <a:lstStyle/>
          <a:p>
            <a:pPr indent="0" marL="0">
              <a:buNone/>
            </a:pPr>
            <a:r>
              <a:rPr lang="en-US" sz="1600" i="1" dirty="0">
                <a:solidFill>
                  <a:srgbClr val="F4EFE6"/>
                </a:solidFill>
                <a:latin typeface="Georgia" pitchFamily="34" charset="0"/>
                <a:ea typeface="Georgia" pitchFamily="34" charset="-122"/>
                <a:cs typeface="Georgia" pitchFamily="34" charset="-120"/>
              </a:rPr>
              <a:t>R-GCN</a:t>
            </a:r>
            <a:endParaRPr lang="en-US" sz="1600" dirty="0"/>
          </a:p>
        </p:txBody>
      </p:sp>
      <p:sp>
        <p:nvSpPr>
          <p:cNvPr id="12" name="Text 10"/>
          <p:cNvSpPr/>
          <p:nvPr/>
        </p:nvSpPr>
        <p:spPr>
          <a:xfrm>
            <a:off x="640080" y="5852160"/>
            <a:ext cx="2743200" cy="274320"/>
          </a:xfrm>
          <a:prstGeom prst="rect">
            <a:avLst/>
          </a:prstGeom>
          <a:noFill/>
          <a:ln/>
        </p:spPr>
        <p:txBody>
          <a:bodyPr wrap="square" lIns="0" tIns="0" rIns="0" bIns="0" rtlCol="0" anchor="ctr"/>
          <a:lstStyle/>
          <a:p>
            <a:pPr indent="0" marL="0">
              <a:buNone/>
            </a:pPr>
            <a:r>
              <a:rPr lang="en-US" sz="1000" i="1" dirty="0">
                <a:solidFill>
                  <a:srgbClr val="C8CDD3"/>
                </a:solidFill>
                <a:latin typeface="Georgia" pitchFamily="34" charset="0"/>
                <a:ea typeface="Georgia" pitchFamily="34" charset="-122"/>
                <a:cs typeface="Georgia" pitchFamily="34" charset="-120"/>
              </a:rPr>
              <a:t>Schlichtkrull et al., 2018</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1 · MOTIVATION</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Why relational structure matters</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Many real-world prediction tasks depend on multi-typed relationships, not just node features.</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2</a:t>
            </a:r>
            <a:endParaRPr lang="en-US" sz="1000" dirty="0"/>
          </a:p>
        </p:txBody>
      </p:sp>
      <p:sp>
        <p:nvSpPr>
          <p:cNvPr id="8" name="Text 6"/>
          <p:cNvSpPr/>
          <p:nvPr/>
        </p:nvSpPr>
        <p:spPr>
          <a:xfrm>
            <a:off x="640080" y="210312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THE PROBLEM</a:t>
            </a:r>
            <a:endParaRPr lang="en-US" sz="1000" dirty="0"/>
          </a:p>
        </p:txBody>
      </p:sp>
      <p:sp>
        <p:nvSpPr>
          <p:cNvPr id="9" name="Text 7"/>
          <p:cNvSpPr/>
          <p:nvPr/>
        </p:nvSpPr>
        <p:spPr>
          <a:xfrm>
            <a:off x="640080" y="2423160"/>
            <a:ext cx="5486400" cy="1463040"/>
          </a:xfrm>
          <a:prstGeom prst="rect">
            <a:avLst/>
          </a:prstGeom>
          <a:noFill/>
          <a:ln/>
        </p:spPr>
        <p:txBody>
          <a:bodyPr wrap="square" lIns="0" tIns="0" rIns="0" bIns="0" rtlCol="0" anchor="ctr"/>
          <a:lstStyle/>
          <a:p>
            <a:pPr indent="0" marL="0">
              <a:lnSpc>
                <a:spcPts val="2000"/>
              </a:lnSpc>
              <a:buNone/>
            </a:pPr>
            <a:r>
              <a:rPr lang="en-US" sz="1300" dirty="0">
                <a:solidFill>
                  <a:srgbClr val="4A4A4A"/>
                </a:solidFill>
                <a:latin typeface="Georgia" pitchFamily="34" charset="0"/>
                <a:ea typeface="Georgia" pitchFamily="34" charset="-122"/>
                <a:cs typeface="Georgia" pitchFamily="34" charset="-120"/>
              </a:rPr>
              <a:t>Standard graph convolution treats all edges identically. In domains where the type of relationship carries the signal — coauthorship vs. citation, employs vs. accuses, witnessed-at vs. located-at — uniform aggregation discards the information that drives prediction.</a:t>
            </a:r>
            <a:endParaRPr lang="en-US" sz="1300" dirty="0"/>
          </a:p>
        </p:txBody>
      </p:sp>
      <p:sp>
        <p:nvSpPr>
          <p:cNvPr id="10" name="Text 8"/>
          <p:cNvSpPr/>
          <p:nvPr/>
        </p:nvSpPr>
        <p:spPr>
          <a:xfrm>
            <a:off x="640080" y="406908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THIS WORK</a:t>
            </a:r>
            <a:endParaRPr lang="en-US" sz="1000" dirty="0"/>
          </a:p>
        </p:txBody>
      </p:sp>
      <p:sp>
        <p:nvSpPr>
          <p:cNvPr id="11" name="Text 9"/>
          <p:cNvSpPr/>
          <p:nvPr/>
        </p:nvSpPr>
        <p:spPr>
          <a:xfrm>
            <a:off x="640080" y="4389120"/>
            <a:ext cx="5486400" cy="1463040"/>
          </a:xfrm>
          <a:prstGeom prst="rect">
            <a:avLst/>
          </a:prstGeom>
          <a:noFill/>
          <a:ln/>
        </p:spPr>
        <p:txBody>
          <a:bodyPr wrap="square" lIns="0" tIns="0" rIns="0" bIns="0" rtlCol="0" anchor="ctr"/>
          <a:lstStyle/>
          <a:p>
            <a:pPr indent="0" marL="0">
              <a:lnSpc>
                <a:spcPts val="2000"/>
              </a:lnSpc>
              <a:buNone/>
            </a:pPr>
            <a:r>
              <a:rPr lang="en-US" sz="1300" dirty="0">
                <a:solidFill>
                  <a:srgbClr val="4A4A4A"/>
                </a:solidFill>
                <a:latin typeface="Georgia" pitchFamily="34" charset="0"/>
                <a:ea typeface="Georgia" pitchFamily="34" charset="-122"/>
                <a:cs typeface="Georgia" pitchFamily="34" charset="-120"/>
              </a:rPr>
              <a:t>We apply Relational GCNs (Schlichtkrull et al., 2018) to a node-classification task on a corpus of murder-mystery knowledge graphs and compare against a logistic-regression baseline that uses the same node features but ignores relational structure.</a:t>
            </a:r>
            <a:endParaRPr lang="en-US" sz="1300" dirty="0"/>
          </a:p>
        </p:txBody>
      </p:sp>
      <p:sp>
        <p:nvSpPr>
          <p:cNvPr id="12" name="Shape 10"/>
          <p:cNvSpPr/>
          <p:nvPr/>
        </p:nvSpPr>
        <p:spPr>
          <a:xfrm>
            <a:off x="6766560" y="2103120"/>
            <a:ext cx="4754880" cy="3931920"/>
          </a:xfrm>
          <a:prstGeom prst="rect">
            <a:avLst/>
          </a:prstGeom>
          <a:solidFill>
            <a:srgbClr val="F6F8FA"/>
          </a:solidFill>
          <a:ln w="9525">
            <a:solidFill>
              <a:srgbClr val="C8CDD3"/>
            </a:solidFill>
            <a:prstDash val="solid"/>
          </a:ln>
        </p:spPr>
      </p:sp>
      <p:sp>
        <p:nvSpPr>
          <p:cNvPr id="13" name="Text 11"/>
          <p:cNvSpPr/>
          <p:nvPr/>
        </p:nvSpPr>
        <p:spPr>
          <a:xfrm>
            <a:off x="7040880" y="2286000"/>
            <a:ext cx="4206240" cy="274320"/>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FIGURE 1 · Same nodes, different edge semantics</a:t>
            </a:r>
            <a:endParaRPr lang="en-US" sz="1000" dirty="0"/>
          </a:p>
        </p:txBody>
      </p:sp>
      <p:sp>
        <p:nvSpPr>
          <p:cNvPr id="14" name="Shape 12"/>
          <p:cNvSpPr/>
          <p:nvPr/>
        </p:nvSpPr>
        <p:spPr>
          <a:xfrm>
            <a:off x="7550519" y="3600373"/>
            <a:ext cx="535201" cy="297334"/>
          </a:xfrm>
          <a:prstGeom prst="line">
            <a:avLst/>
          </a:prstGeom>
          <a:noFill/>
          <a:ln w="12700">
            <a:solidFill>
              <a:srgbClr val="4A6A95"/>
            </a:solidFill>
            <a:prstDash val="solid"/>
          </a:ln>
        </p:spPr>
      </p:sp>
      <p:sp>
        <p:nvSpPr>
          <p:cNvPr id="15" name="Shape 13"/>
          <p:cNvSpPr/>
          <p:nvPr/>
        </p:nvSpPr>
        <p:spPr>
          <a:xfrm>
            <a:off x="7567578" y="3485953"/>
            <a:ext cx="958283" cy="-205346"/>
          </a:xfrm>
          <a:prstGeom prst="line">
            <a:avLst/>
          </a:prstGeom>
          <a:noFill/>
          <a:ln w="12700">
            <a:solidFill>
              <a:srgbClr val="4A6A95"/>
            </a:solidFill>
            <a:prstDash val="solid"/>
          </a:ln>
        </p:spPr>
      </p:sp>
      <p:sp>
        <p:nvSpPr>
          <p:cNvPr id="16" name="Shape 14"/>
          <p:cNvSpPr/>
          <p:nvPr/>
        </p:nvSpPr>
        <p:spPr>
          <a:xfrm>
            <a:off x="7480248" y="3373224"/>
            <a:ext cx="218544" cy="-437089"/>
          </a:xfrm>
          <a:prstGeom prst="line">
            <a:avLst/>
          </a:prstGeom>
          <a:noFill/>
          <a:ln w="12700">
            <a:solidFill>
              <a:srgbClr val="4A6A95"/>
            </a:solidFill>
            <a:prstDash val="solid"/>
          </a:ln>
        </p:spPr>
      </p:sp>
      <p:sp>
        <p:nvSpPr>
          <p:cNvPr id="17" name="Shape 15"/>
          <p:cNvSpPr/>
          <p:nvPr/>
        </p:nvSpPr>
        <p:spPr>
          <a:xfrm>
            <a:off x="8316834" y="3838066"/>
            <a:ext cx="282733" cy="-452373"/>
          </a:xfrm>
          <a:prstGeom prst="line">
            <a:avLst/>
          </a:prstGeom>
          <a:noFill/>
          <a:ln w="12700">
            <a:solidFill>
              <a:srgbClr val="4A6A95"/>
            </a:solidFill>
            <a:prstDash val="solid"/>
          </a:ln>
        </p:spPr>
      </p:sp>
      <p:sp>
        <p:nvSpPr>
          <p:cNvPr id="18" name="Shape 16"/>
          <p:cNvSpPr/>
          <p:nvPr/>
        </p:nvSpPr>
        <p:spPr>
          <a:xfrm>
            <a:off x="7242048" y="3355848"/>
            <a:ext cx="329184" cy="329184"/>
          </a:xfrm>
          <a:prstGeom prst="ellipse">
            <a:avLst/>
          </a:prstGeom>
          <a:solidFill>
            <a:srgbClr val="13294B"/>
          </a:solidFill>
          <a:ln/>
        </p:spPr>
      </p:sp>
      <p:sp>
        <p:nvSpPr>
          <p:cNvPr id="19" name="Shape 17"/>
          <p:cNvSpPr/>
          <p:nvPr/>
        </p:nvSpPr>
        <p:spPr>
          <a:xfrm>
            <a:off x="8065008" y="3813048"/>
            <a:ext cx="329184" cy="329184"/>
          </a:xfrm>
          <a:prstGeom prst="ellipse">
            <a:avLst/>
          </a:prstGeom>
          <a:solidFill>
            <a:srgbClr val="13294B"/>
          </a:solidFill>
          <a:ln/>
        </p:spPr>
      </p:sp>
      <p:sp>
        <p:nvSpPr>
          <p:cNvPr id="20" name="Shape 18"/>
          <p:cNvSpPr/>
          <p:nvPr/>
        </p:nvSpPr>
        <p:spPr>
          <a:xfrm>
            <a:off x="8522208" y="3081528"/>
            <a:ext cx="329184" cy="329184"/>
          </a:xfrm>
          <a:prstGeom prst="ellipse">
            <a:avLst/>
          </a:prstGeom>
          <a:solidFill>
            <a:srgbClr val="13294B"/>
          </a:solidFill>
          <a:ln/>
        </p:spPr>
      </p:sp>
      <p:sp>
        <p:nvSpPr>
          <p:cNvPr id="21" name="Shape 19"/>
          <p:cNvSpPr/>
          <p:nvPr/>
        </p:nvSpPr>
        <p:spPr>
          <a:xfrm>
            <a:off x="7607808" y="2624328"/>
            <a:ext cx="329184" cy="329184"/>
          </a:xfrm>
          <a:prstGeom prst="ellipse">
            <a:avLst/>
          </a:prstGeom>
          <a:solidFill>
            <a:srgbClr val="13294B"/>
          </a:solidFill>
          <a:ln/>
        </p:spPr>
      </p:sp>
      <p:sp>
        <p:nvSpPr>
          <p:cNvPr id="22" name="Text 20"/>
          <p:cNvSpPr/>
          <p:nvPr/>
        </p:nvSpPr>
        <p:spPr>
          <a:xfrm>
            <a:off x="7040880" y="4480560"/>
            <a:ext cx="1828800" cy="274320"/>
          </a:xfrm>
          <a:prstGeom prst="rect">
            <a:avLst/>
          </a:prstGeom>
          <a:noFill/>
          <a:ln/>
        </p:spPr>
        <p:txBody>
          <a:bodyPr wrap="square" lIns="0" tIns="0" rIns="0" bIns="0" rtlCol="0" anchor="ctr"/>
          <a:lstStyle/>
          <a:p>
            <a:pPr algn="ctr" indent="0" marL="0">
              <a:buNone/>
            </a:pPr>
            <a:r>
              <a:rPr lang="en-US" sz="1100" i="1" dirty="0">
                <a:solidFill>
                  <a:srgbClr val="13294B"/>
                </a:solidFill>
                <a:latin typeface="Georgia" pitchFamily="34" charset="0"/>
                <a:ea typeface="Georgia" pitchFamily="34" charset="-122"/>
                <a:cs typeface="Georgia" pitchFamily="34" charset="-120"/>
              </a:rPr>
              <a:t>Standard GCN</a:t>
            </a:r>
            <a:endParaRPr lang="en-US" sz="1100" dirty="0"/>
          </a:p>
        </p:txBody>
      </p:sp>
      <p:sp>
        <p:nvSpPr>
          <p:cNvPr id="23" name="Shape 21"/>
          <p:cNvSpPr/>
          <p:nvPr/>
        </p:nvSpPr>
        <p:spPr>
          <a:xfrm>
            <a:off x="9745079" y="3600373"/>
            <a:ext cx="535201" cy="297334"/>
          </a:xfrm>
          <a:prstGeom prst="line">
            <a:avLst/>
          </a:prstGeom>
          <a:noFill/>
          <a:ln w="19050">
            <a:solidFill>
              <a:srgbClr val="2C4A75"/>
            </a:solidFill>
            <a:prstDash val="solid"/>
          </a:ln>
        </p:spPr>
      </p:sp>
      <p:sp>
        <p:nvSpPr>
          <p:cNvPr id="24" name="Shape 22"/>
          <p:cNvSpPr/>
          <p:nvPr/>
        </p:nvSpPr>
        <p:spPr>
          <a:xfrm>
            <a:off x="9762138" y="3485953"/>
            <a:ext cx="958283" cy="-205346"/>
          </a:xfrm>
          <a:prstGeom prst="line">
            <a:avLst/>
          </a:prstGeom>
          <a:noFill/>
          <a:ln w="19050">
            <a:solidFill>
              <a:srgbClr val="B85450"/>
            </a:solidFill>
            <a:prstDash val="solid"/>
          </a:ln>
        </p:spPr>
      </p:sp>
      <p:sp>
        <p:nvSpPr>
          <p:cNvPr id="25" name="Shape 23"/>
          <p:cNvSpPr/>
          <p:nvPr/>
        </p:nvSpPr>
        <p:spPr>
          <a:xfrm>
            <a:off x="9674808" y="3373224"/>
            <a:ext cx="218544" cy="-437089"/>
          </a:xfrm>
          <a:prstGeom prst="line">
            <a:avLst/>
          </a:prstGeom>
          <a:noFill/>
          <a:ln w="19050">
            <a:solidFill>
              <a:srgbClr val="3D7068"/>
            </a:solidFill>
            <a:prstDash val="solid"/>
          </a:ln>
        </p:spPr>
      </p:sp>
      <p:sp>
        <p:nvSpPr>
          <p:cNvPr id="26" name="Shape 24"/>
          <p:cNvSpPr/>
          <p:nvPr/>
        </p:nvSpPr>
        <p:spPr>
          <a:xfrm>
            <a:off x="10511394" y="3838066"/>
            <a:ext cx="282733" cy="-452373"/>
          </a:xfrm>
          <a:prstGeom prst="line">
            <a:avLst/>
          </a:prstGeom>
          <a:noFill/>
          <a:ln w="19050">
            <a:solidFill>
              <a:srgbClr val="2C4A75"/>
            </a:solidFill>
            <a:prstDash val="solid"/>
          </a:ln>
        </p:spPr>
      </p:sp>
      <p:sp>
        <p:nvSpPr>
          <p:cNvPr id="27" name="Shape 25"/>
          <p:cNvSpPr/>
          <p:nvPr/>
        </p:nvSpPr>
        <p:spPr>
          <a:xfrm>
            <a:off x="9436608" y="3355848"/>
            <a:ext cx="329184" cy="329184"/>
          </a:xfrm>
          <a:prstGeom prst="ellipse">
            <a:avLst/>
          </a:prstGeom>
          <a:solidFill>
            <a:srgbClr val="13294B"/>
          </a:solidFill>
          <a:ln/>
        </p:spPr>
      </p:sp>
      <p:sp>
        <p:nvSpPr>
          <p:cNvPr id="28" name="Shape 26"/>
          <p:cNvSpPr/>
          <p:nvPr/>
        </p:nvSpPr>
        <p:spPr>
          <a:xfrm>
            <a:off x="10259568" y="3813048"/>
            <a:ext cx="329184" cy="329184"/>
          </a:xfrm>
          <a:prstGeom prst="ellipse">
            <a:avLst/>
          </a:prstGeom>
          <a:solidFill>
            <a:srgbClr val="13294B"/>
          </a:solidFill>
          <a:ln/>
        </p:spPr>
      </p:sp>
      <p:sp>
        <p:nvSpPr>
          <p:cNvPr id="29" name="Shape 27"/>
          <p:cNvSpPr/>
          <p:nvPr/>
        </p:nvSpPr>
        <p:spPr>
          <a:xfrm>
            <a:off x="10716768" y="3081528"/>
            <a:ext cx="329184" cy="329184"/>
          </a:xfrm>
          <a:prstGeom prst="ellipse">
            <a:avLst/>
          </a:prstGeom>
          <a:solidFill>
            <a:srgbClr val="13294B"/>
          </a:solidFill>
          <a:ln/>
        </p:spPr>
      </p:sp>
      <p:sp>
        <p:nvSpPr>
          <p:cNvPr id="30" name="Shape 28"/>
          <p:cNvSpPr/>
          <p:nvPr/>
        </p:nvSpPr>
        <p:spPr>
          <a:xfrm>
            <a:off x="9802368" y="2624328"/>
            <a:ext cx="329184" cy="329184"/>
          </a:xfrm>
          <a:prstGeom prst="ellipse">
            <a:avLst/>
          </a:prstGeom>
          <a:solidFill>
            <a:srgbClr val="13294B"/>
          </a:solidFill>
          <a:ln/>
        </p:spPr>
      </p:sp>
      <p:sp>
        <p:nvSpPr>
          <p:cNvPr id="31" name="Text 29"/>
          <p:cNvSpPr/>
          <p:nvPr/>
        </p:nvSpPr>
        <p:spPr>
          <a:xfrm>
            <a:off x="9235440" y="4480560"/>
            <a:ext cx="1828800" cy="274320"/>
          </a:xfrm>
          <a:prstGeom prst="rect">
            <a:avLst/>
          </a:prstGeom>
          <a:noFill/>
          <a:ln/>
        </p:spPr>
        <p:txBody>
          <a:bodyPr wrap="square" lIns="0" tIns="0" rIns="0" bIns="0" rtlCol="0" anchor="ctr"/>
          <a:lstStyle/>
          <a:p>
            <a:pPr algn="ctr" indent="0" marL="0">
              <a:buNone/>
            </a:pPr>
            <a:r>
              <a:rPr lang="en-US" sz="1100" i="1" dirty="0">
                <a:solidFill>
                  <a:srgbClr val="13294B"/>
                </a:solidFill>
                <a:latin typeface="Georgia" pitchFamily="34" charset="0"/>
                <a:ea typeface="Georgia" pitchFamily="34" charset="-122"/>
                <a:cs typeface="Georgia" pitchFamily="34" charset="-120"/>
              </a:rPr>
              <a:t>Relational GCN</a:t>
            </a:r>
            <a:endParaRPr lang="en-US" sz="1100" dirty="0"/>
          </a:p>
        </p:txBody>
      </p:sp>
      <p:sp>
        <p:nvSpPr>
          <p:cNvPr id="32" name="Text 30"/>
          <p:cNvSpPr/>
          <p:nvPr/>
        </p:nvSpPr>
        <p:spPr>
          <a:xfrm>
            <a:off x="7040880" y="5166360"/>
            <a:ext cx="4206240" cy="777240"/>
          </a:xfrm>
          <a:prstGeom prst="rect">
            <a:avLst/>
          </a:prstGeom>
          <a:noFill/>
          <a:ln/>
        </p:spPr>
        <p:txBody>
          <a:bodyPr wrap="square" lIns="0" tIns="0" rIns="0" bIns="0" rtlCol="0" anchor="ctr"/>
          <a:lstStyle/>
          <a:p>
            <a:pPr indent="0" marL="0">
              <a:lnSpc>
                <a:spcPts val="1600"/>
              </a:lnSpc>
              <a:buNone/>
            </a:pPr>
            <a:r>
              <a:rPr lang="en-US" sz="1100" i="1" dirty="0">
                <a:solidFill>
                  <a:srgbClr val="4A4A4A"/>
                </a:solidFill>
                <a:latin typeface="Georgia" pitchFamily="34" charset="0"/>
                <a:ea typeface="Georgia" pitchFamily="34" charset="-122"/>
                <a:cs typeface="Georgia" pitchFamily="34" charset="-120"/>
              </a:rPr>
              <a:t>Edge colour = relation type. R-GCN learns a separate transformation per type; standard GCN cannot distinguish them.</a:t>
            </a:r>
            <a:endParaRPr lang="en-US" sz="1100" dirty="0"/>
          </a:p>
        </p:txBody>
      </p:sp>
      <p:sp>
        <p:nvSpPr>
          <p:cNvPr id="33" name="Text 31"/>
          <p:cNvSpPr/>
          <p:nvPr/>
        </p:nvSpPr>
        <p:spPr>
          <a:xfrm>
            <a:off x="640080" y="5989320"/>
            <a:ext cx="10911535" cy="365760"/>
          </a:xfrm>
          <a:prstGeom prst="rect">
            <a:avLst/>
          </a:prstGeom>
          <a:noFill/>
          <a:ln/>
        </p:spPr>
        <p:txBody>
          <a:bodyPr wrap="square" lIns="0" tIns="0" rIns="0" bIns="0" rtlCol="0" anchor="ctr"/>
          <a:lstStyle/>
          <a:p>
            <a:pPr algn="ctr" indent="0" marL="0">
              <a:buNone/>
            </a:pPr>
            <a:r>
              <a:rPr lang="en-US" sz="1300" b="1" i="1" dirty="0">
                <a:solidFill>
                  <a:srgbClr val="13294B"/>
                </a:solidFill>
                <a:latin typeface="Georgia" pitchFamily="34" charset="0"/>
                <a:ea typeface="Georgia" pitchFamily="34" charset="-122"/>
                <a:cs typeface="Georgia" pitchFamily="34" charset="-120"/>
              </a:rPr>
              <a:t>Edge type carries information that uniform aggregation discards.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2 · TASK</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Node classification on knowledge graphs</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Binary classification per character: villain vs. non-villain, given only observable relations.</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3</a:t>
            </a:r>
            <a:endParaRPr lang="en-US" sz="1000" dirty="0"/>
          </a:p>
        </p:txBody>
      </p:sp>
      <p:sp>
        <p:nvSpPr>
          <p:cNvPr id="8" name="Shape 6"/>
          <p:cNvSpPr/>
          <p:nvPr/>
        </p:nvSpPr>
        <p:spPr>
          <a:xfrm>
            <a:off x="640080" y="2057400"/>
            <a:ext cx="5486400" cy="4114800"/>
          </a:xfrm>
          <a:prstGeom prst="rect">
            <a:avLst/>
          </a:prstGeom>
          <a:solidFill>
            <a:srgbClr val="EEF1F4"/>
          </a:solidFill>
          <a:ln/>
        </p:spPr>
      </p:sp>
      <p:sp>
        <p:nvSpPr>
          <p:cNvPr id="9" name="Shape 7"/>
          <p:cNvSpPr/>
          <p:nvPr/>
        </p:nvSpPr>
        <p:spPr>
          <a:xfrm>
            <a:off x="640080" y="2057400"/>
            <a:ext cx="54864" cy="4114800"/>
          </a:xfrm>
          <a:prstGeom prst="rect">
            <a:avLst/>
          </a:prstGeom>
          <a:solidFill>
            <a:srgbClr val="13294B"/>
          </a:solidFill>
          <a:ln/>
        </p:spPr>
      </p:sp>
      <p:sp>
        <p:nvSpPr>
          <p:cNvPr id="10" name="Text 8"/>
          <p:cNvSpPr/>
          <p:nvPr/>
        </p:nvSpPr>
        <p:spPr>
          <a:xfrm>
            <a:off x="868680" y="2240280"/>
            <a:ext cx="512064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DEFINITION 2.1 (Task)</a:t>
            </a:r>
            <a:endParaRPr lang="en-US" sz="1000" dirty="0"/>
          </a:p>
        </p:txBody>
      </p:sp>
      <p:sp>
        <p:nvSpPr>
          <p:cNvPr id="11" name="Text 9"/>
          <p:cNvSpPr/>
          <p:nvPr/>
        </p:nvSpPr>
        <p:spPr>
          <a:xfrm>
            <a:off x="868680" y="2560320"/>
            <a:ext cx="5120640" cy="914400"/>
          </a:xfrm>
          <a:prstGeom prst="rect">
            <a:avLst/>
          </a:prstGeom>
          <a:noFill/>
          <a:ln/>
        </p:spPr>
        <p:txBody>
          <a:bodyPr wrap="square" lIns="0" tIns="0" rIns="0" bIns="0" rtlCol="0" anchor="ctr"/>
          <a:lstStyle/>
          <a:p>
            <a:pPr indent="0" marL="0">
              <a:lnSpc>
                <a:spcPts val="2000"/>
              </a:lnSpc>
              <a:buNone/>
            </a:pPr>
            <a:r>
              <a:rPr lang="en-US" sz="1300" dirty="0">
                <a:solidFill>
                  <a:srgbClr val="4A4A4A"/>
                </a:solidFill>
                <a:latin typeface="Cambria" pitchFamily="34" charset="0"/>
                <a:ea typeface="Cambria" pitchFamily="34" charset="-122"/>
                <a:cs typeface="Cambria" pitchFamily="34" charset="-120"/>
              </a:rPr>
              <a:t>Given a relational graph </a:t>
            </a:r>
            <a:pPr indent="0" marL="0">
              <a:lnSpc>
                <a:spcPts val="2000"/>
              </a:lnSpc>
              <a:buNone/>
            </a:pPr>
            <a:r>
              <a:rPr lang="en-US" sz="1300" i="1" dirty="0">
                <a:solidFill>
                  <a:srgbClr val="4A4A4A"/>
                </a:solidFill>
                <a:latin typeface="Cambria" pitchFamily="34" charset="0"/>
                <a:ea typeface="Cambria" pitchFamily="34" charset="-122"/>
                <a:cs typeface="Cambria" pitchFamily="34" charset="-120"/>
              </a:rPr>
              <a:t>G = (V, E, R)</a:t>
            </a:r>
            <a:pPr indent="0" marL="0">
              <a:lnSpc>
                <a:spcPts val="2000"/>
              </a:lnSpc>
              <a:buNone/>
            </a:pPr>
            <a:r>
              <a:rPr lang="en-US" sz="1300" dirty="0">
                <a:solidFill>
                  <a:srgbClr val="4A4A4A"/>
                </a:solidFill>
                <a:latin typeface="Cambria" pitchFamily="34" charset="0"/>
                <a:ea typeface="Cambria" pitchFamily="34" charset="-122"/>
                <a:cs typeface="Cambria" pitchFamily="34" charset="-120"/>
              </a:rPr>
              <a:t> with node-feature matrix </a:t>
            </a:r>
            <a:pPr indent="0" marL="0">
              <a:lnSpc>
                <a:spcPts val="2000"/>
              </a:lnSpc>
              <a:buNone/>
            </a:pPr>
            <a:r>
              <a:rPr lang="en-US" sz="1300" i="1" dirty="0">
                <a:solidFill>
                  <a:srgbClr val="4A4A4A"/>
                </a:solidFill>
                <a:latin typeface="Cambria" pitchFamily="34" charset="0"/>
                <a:ea typeface="Cambria" pitchFamily="34" charset="-122"/>
                <a:cs typeface="Cambria" pitchFamily="34" charset="-120"/>
              </a:rPr>
              <a:t>X</a:t>
            </a:r>
            <a:pPr indent="0" marL="0">
              <a:lnSpc>
                <a:spcPts val="2000"/>
              </a:lnSpc>
              <a:buNone/>
            </a:pPr>
            <a:r>
              <a:rPr lang="en-US" sz="1300" dirty="0">
                <a:solidFill>
                  <a:srgbClr val="4A4A4A"/>
                </a:solidFill>
                <a:latin typeface="Cambria" pitchFamily="34" charset="0"/>
                <a:ea typeface="Cambria" pitchFamily="34" charset="-122"/>
                <a:cs typeface="Cambria" pitchFamily="34" charset="-120"/>
              </a:rPr>
              <a:t>, learn a function </a:t>
            </a:r>
            <a:pPr indent="0" marL="0">
              <a:lnSpc>
                <a:spcPts val="2000"/>
              </a:lnSpc>
              <a:buNone/>
            </a:pPr>
            <a:r>
              <a:rPr lang="en-US" sz="1300" i="1" dirty="0">
                <a:solidFill>
                  <a:srgbClr val="4A4A4A"/>
                </a:solidFill>
                <a:latin typeface="Cambria" pitchFamily="34" charset="0"/>
                <a:ea typeface="Cambria" pitchFamily="34" charset="-122"/>
                <a:cs typeface="Cambria" pitchFamily="34" charset="-120"/>
              </a:rPr>
              <a:t>y</a:t>
            </a:r>
            <a:pPr indent="0" marL="0">
              <a:lnSpc>
                <a:spcPts val="2000"/>
              </a:lnSpc>
              <a:buNone/>
            </a:pPr>
            <a:r>
              <a:rPr lang="en-US" sz="1300" dirty="0">
                <a:solidFill>
                  <a:srgbClr val="4A4A4A"/>
                </a:solidFill>
                <a:latin typeface="Cambria" pitchFamily="34" charset="0"/>
                <a:ea typeface="Cambria" pitchFamily="34" charset="-122"/>
                <a:cs typeface="Cambria" pitchFamily="34" charset="-120"/>
              </a:rPr>
              <a:t> : </a:t>
            </a:r>
            <a:pPr indent="0" marL="0">
              <a:lnSpc>
                <a:spcPts val="2000"/>
              </a:lnSpc>
              <a:buNone/>
            </a:pPr>
            <a:r>
              <a:rPr lang="en-US" sz="1300" i="1" dirty="0">
                <a:solidFill>
                  <a:srgbClr val="4A4A4A"/>
                </a:solidFill>
                <a:latin typeface="Cambria" pitchFamily="34" charset="0"/>
                <a:ea typeface="Cambria" pitchFamily="34" charset="-122"/>
                <a:cs typeface="Cambria" pitchFamily="34" charset="-120"/>
              </a:rPr>
              <a:t>V</a:t>
            </a:r>
            <a:pPr indent="0" marL="0">
              <a:lnSpc>
                <a:spcPts val="2000"/>
              </a:lnSpc>
              <a:buNone/>
            </a:pPr>
            <a:r>
              <a:rPr lang="en-US" sz="1300" dirty="0">
                <a:solidFill>
                  <a:srgbClr val="4A4A4A"/>
                </a:solidFill>
                <a:latin typeface="Cambria" pitchFamily="34" charset="0"/>
                <a:ea typeface="Cambria" pitchFamily="34" charset="-122"/>
                <a:cs typeface="Cambria" pitchFamily="34" charset="-120"/>
              </a:rPr>
              <a:t> → {0,1} that classifies each character as villain (1) or non-villain (0).</a:t>
            </a:r>
            <a:endParaRPr lang="en-US" sz="1300" dirty="0"/>
          </a:p>
        </p:txBody>
      </p:sp>
      <p:sp>
        <p:nvSpPr>
          <p:cNvPr id="12" name="Text 10"/>
          <p:cNvSpPr/>
          <p:nvPr/>
        </p:nvSpPr>
        <p:spPr>
          <a:xfrm>
            <a:off x="868680" y="3749040"/>
            <a:ext cx="512064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OBSERVABLE</a:t>
            </a:r>
            <a:endParaRPr lang="en-US" sz="1000" dirty="0"/>
          </a:p>
        </p:txBody>
      </p:sp>
      <p:sp>
        <p:nvSpPr>
          <p:cNvPr id="13" name="Text 11"/>
          <p:cNvSpPr/>
          <p:nvPr/>
        </p:nvSpPr>
        <p:spPr>
          <a:xfrm>
            <a:off x="868680" y="4023360"/>
            <a:ext cx="5120640" cy="64008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Characters and their attributes; locations, occupations, organisations; typed relational edges between entities.</a:t>
            </a:r>
            <a:endParaRPr lang="en-US" sz="1200" dirty="0"/>
          </a:p>
        </p:txBody>
      </p:sp>
      <p:sp>
        <p:nvSpPr>
          <p:cNvPr id="14" name="Text 12"/>
          <p:cNvSpPr/>
          <p:nvPr/>
        </p:nvSpPr>
        <p:spPr>
          <a:xfrm>
            <a:off x="868680" y="4754880"/>
            <a:ext cx="5120640" cy="274320"/>
          </a:xfrm>
          <a:prstGeom prst="rect">
            <a:avLst/>
          </a:prstGeom>
          <a:noFill/>
          <a:ln/>
        </p:spPr>
        <p:txBody>
          <a:bodyPr wrap="square" lIns="0" tIns="0" rIns="0" bIns="0" rtlCol="0" anchor="ctr"/>
          <a:lstStyle/>
          <a:p>
            <a:pPr indent="0" marL="0">
              <a:buNone/>
            </a:pPr>
            <a:r>
              <a:rPr lang="en-US" sz="1000" b="1" spc="300" kern="0" dirty="0">
                <a:solidFill>
                  <a:srgbClr val="B85450"/>
                </a:solidFill>
                <a:latin typeface="Georgia" pitchFamily="34" charset="0"/>
                <a:ea typeface="Georgia" pitchFamily="34" charset="-122"/>
                <a:cs typeface="Georgia" pitchFamily="34" charset="-120"/>
              </a:rPr>
              <a:t>WITHHELD AT TEST TIME</a:t>
            </a:r>
            <a:endParaRPr lang="en-US" sz="1000" dirty="0"/>
          </a:p>
        </p:txBody>
      </p:sp>
      <p:sp>
        <p:nvSpPr>
          <p:cNvPr id="15" name="Text 13"/>
          <p:cNvSpPr/>
          <p:nvPr/>
        </p:nvSpPr>
        <p:spPr>
          <a:xfrm>
            <a:off x="868680" y="5029200"/>
            <a:ext cx="5120640" cy="64008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kills, killed_by, sexually_assaults, financial-crime edges; narrative prominence; introduction order.</a:t>
            </a:r>
            <a:endParaRPr lang="en-US" sz="1200" dirty="0"/>
          </a:p>
        </p:txBody>
      </p:sp>
      <p:sp>
        <p:nvSpPr>
          <p:cNvPr id="16" name="Text 14"/>
          <p:cNvSpPr/>
          <p:nvPr/>
        </p:nvSpPr>
        <p:spPr>
          <a:xfrm>
            <a:off x="868680" y="5715000"/>
            <a:ext cx="5120640" cy="274320"/>
          </a:xfrm>
          <a:prstGeom prst="rect">
            <a:avLst/>
          </a:prstGeom>
          <a:noFill/>
          <a:ln/>
        </p:spPr>
        <p:txBody>
          <a:bodyPr wrap="square" lIns="0" tIns="0" rIns="0" bIns="0" rtlCol="0" anchor="ctr"/>
          <a:lstStyle/>
          <a:p>
            <a:pPr indent="0" marL="0">
              <a:buNone/>
            </a:pPr>
            <a:r>
              <a:rPr lang="en-US" sz="1100" i="1" dirty="0">
                <a:solidFill>
                  <a:srgbClr val="3D7068"/>
                </a:solidFill>
                <a:latin typeface="Georgia" pitchFamily="34" charset="0"/>
                <a:ea typeface="Georgia" pitchFamily="34" charset="-122"/>
                <a:cs typeface="Georgia" pitchFamily="34" charset="-120"/>
              </a:rPr>
              <a:t>Validated: masking these edges had zero impact on predictions.</a:t>
            </a:r>
            <a:endParaRPr lang="en-US" sz="1100" dirty="0"/>
          </a:p>
        </p:txBody>
      </p:sp>
      <p:sp>
        <p:nvSpPr>
          <p:cNvPr id="17" name="Shape 15"/>
          <p:cNvSpPr/>
          <p:nvPr/>
        </p:nvSpPr>
        <p:spPr>
          <a:xfrm>
            <a:off x="6766560" y="2057400"/>
            <a:ext cx="4754880" cy="4114800"/>
          </a:xfrm>
          <a:prstGeom prst="rect">
            <a:avLst/>
          </a:prstGeom>
          <a:solidFill>
            <a:srgbClr val="FFFFFF"/>
          </a:solidFill>
          <a:ln w="9525">
            <a:solidFill>
              <a:srgbClr val="C8CDD3"/>
            </a:solidFill>
            <a:prstDash val="solid"/>
          </a:ln>
        </p:spPr>
      </p:sp>
      <p:sp>
        <p:nvSpPr>
          <p:cNvPr id="18" name="Text 16"/>
          <p:cNvSpPr/>
          <p:nvPr/>
        </p:nvSpPr>
        <p:spPr>
          <a:xfrm>
            <a:off x="7040880" y="2240280"/>
            <a:ext cx="4206240" cy="274320"/>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FIGURE 2 · Toy example</a:t>
            </a:r>
            <a:endParaRPr lang="en-US" sz="1000" dirty="0"/>
          </a:p>
        </p:txBody>
      </p:sp>
      <p:sp>
        <p:nvSpPr>
          <p:cNvPr id="19" name="Shape 17"/>
          <p:cNvSpPr/>
          <p:nvPr/>
        </p:nvSpPr>
        <p:spPr>
          <a:xfrm>
            <a:off x="8156448" y="3337560"/>
            <a:ext cx="1335024" cy="0"/>
          </a:xfrm>
          <a:prstGeom prst="line">
            <a:avLst/>
          </a:prstGeom>
          <a:noFill/>
          <a:ln w="9525">
            <a:solidFill>
              <a:srgbClr val="C8CDD3"/>
            </a:solidFill>
            <a:prstDash val="solid"/>
          </a:ln>
        </p:spPr>
      </p:sp>
      <p:sp>
        <p:nvSpPr>
          <p:cNvPr id="20" name="Shape 18"/>
          <p:cNvSpPr/>
          <p:nvPr/>
        </p:nvSpPr>
        <p:spPr>
          <a:xfrm>
            <a:off x="9840932" y="3473494"/>
            <a:ext cx="800696" cy="733972"/>
          </a:xfrm>
          <a:prstGeom prst="line">
            <a:avLst/>
          </a:prstGeom>
          <a:noFill/>
          <a:ln w="9525">
            <a:solidFill>
              <a:srgbClr val="C8CDD3"/>
            </a:solidFill>
            <a:prstDash val="solid"/>
          </a:ln>
        </p:spPr>
      </p:sp>
      <p:sp>
        <p:nvSpPr>
          <p:cNvPr id="21" name="Shape 19"/>
          <p:cNvSpPr/>
          <p:nvPr/>
        </p:nvSpPr>
        <p:spPr>
          <a:xfrm>
            <a:off x="9619727" y="3525050"/>
            <a:ext cx="-494255" cy="1270941"/>
          </a:xfrm>
          <a:prstGeom prst="line">
            <a:avLst/>
          </a:prstGeom>
          <a:noFill/>
          <a:ln w="9525">
            <a:solidFill>
              <a:srgbClr val="C8CDD3"/>
            </a:solidFill>
            <a:prstDash val="solid"/>
          </a:ln>
        </p:spPr>
      </p:sp>
      <p:sp>
        <p:nvSpPr>
          <p:cNvPr id="22" name="Shape 20"/>
          <p:cNvSpPr/>
          <p:nvPr/>
        </p:nvSpPr>
        <p:spPr>
          <a:xfrm>
            <a:off x="9241325" y="4913935"/>
            <a:ext cx="1359831" cy="-500990"/>
          </a:xfrm>
          <a:prstGeom prst="line">
            <a:avLst/>
          </a:prstGeom>
          <a:noFill/>
          <a:ln w="9525">
            <a:solidFill>
              <a:srgbClr val="C8CDD3"/>
            </a:solidFill>
            <a:prstDash val="solid"/>
          </a:ln>
        </p:spPr>
      </p:sp>
      <p:sp>
        <p:nvSpPr>
          <p:cNvPr id="23" name="Shape 21"/>
          <p:cNvSpPr/>
          <p:nvPr/>
        </p:nvSpPr>
        <p:spPr>
          <a:xfrm>
            <a:off x="8864957" y="4910860"/>
            <a:ext cx="-1042114" cy="-403399"/>
          </a:xfrm>
          <a:prstGeom prst="line">
            <a:avLst/>
          </a:prstGeom>
          <a:noFill/>
          <a:ln w="9525">
            <a:solidFill>
              <a:srgbClr val="C8CDD3"/>
            </a:solidFill>
            <a:prstDash val="solid"/>
          </a:ln>
        </p:spPr>
      </p:sp>
      <p:sp>
        <p:nvSpPr>
          <p:cNvPr id="24" name="Shape 22"/>
          <p:cNvSpPr/>
          <p:nvPr/>
        </p:nvSpPr>
        <p:spPr>
          <a:xfrm>
            <a:off x="7898953" y="3530681"/>
            <a:ext cx="-207386" cy="711037"/>
          </a:xfrm>
          <a:prstGeom prst="line">
            <a:avLst/>
          </a:prstGeom>
          <a:noFill/>
          <a:ln w="9525">
            <a:solidFill>
              <a:srgbClr val="C8CDD3"/>
            </a:solidFill>
            <a:prstDash val="solid"/>
          </a:ln>
        </p:spPr>
      </p:sp>
      <p:sp>
        <p:nvSpPr>
          <p:cNvPr id="25" name="Shape 23"/>
          <p:cNvSpPr/>
          <p:nvPr/>
        </p:nvSpPr>
        <p:spPr>
          <a:xfrm>
            <a:off x="7754112" y="3136392"/>
            <a:ext cx="402336" cy="402336"/>
          </a:xfrm>
          <a:prstGeom prst="ellipse">
            <a:avLst/>
          </a:prstGeom>
          <a:solidFill>
            <a:srgbClr val="13294B"/>
          </a:solidFill>
          <a:ln/>
        </p:spPr>
      </p:sp>
      <p:sp>
        <p:nvSpPr>
          <p:cNvPr id="26" name="Text 24"/>
          <p:cNvSpPr/>
          <p:nvPr/>
        </p:nvSpPr>
        <p:spPr>
          <a:xfrm>
            <a:off x="7680960" y="3218688"/>
            <a:ext cx="54864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mbria" pitchFamily="34" charset="0"/>
                <a:ea typeface="Cambria" pitchFamily="34" charset="-122"/>
                <a:cs typeface="Cambria" pitchFamily="34" charset="-120"/>
              </a:rPr>
              <a:t>v₁</a:t>
            </a:r>
            <a:endParaRPr lang="en-US" sz="1000" dirty="0"/>
          </a:p>
        </p:txBody>
      </p:sp>
      <p:sp>
        <p:nvSpPr>
          <p:cNvPr id="27" name="Shape 25"/>
          <p:cNvSpPr/>
          <p:nvPr/>
        </p:nvSpPr>
        <p:spPr>
          <a:xfrm>
            <a:off x="9445752" y="3090672"/>
            <a:ext cx="493776" cy="493776"/>
          </a:xfrm>
          <a:prstGeom prst="ellipse">
            <a:avLst/>
          </a:prstGeom>
          <a:ln w="19050">
            <a:solidFill>
              <a:srgbClr val="B85450"/>
            </a:solidFill>
            <a:prstDash val="dash"/>
          </a:ln>
        </p:spPr>
      </p:sp>
      <p:sp>
        <p:nvSpPr>
          <p:cNvPr id="28" name="Shape 26"/>
          <p:cNvSpPr/>
          <p:nvPr/>
        </p:nvSpPr>
        <p:spPr>
          <a:xfrm>
            <a:off x="9491472" y="3136392"/>
            <a:ext cx="402336" cy="402336"/>
          </a:xfrm>
          <a:prstGeom prst="ellipse">
            <a:avLst/>
          </a:prstGeom>
          <a:solidFill>
            <a:srgbClr val="13294B"/>
          </a:solidFill>
          <a:ln/>
        </p:spPr>
      </p:sp>
      <p:sp>
        <p:nvSpPr>
          <p:cNvPr id="29" name="Text 27"/>
          <p:cNvSpPr/>
          <p:nvPr/>
        </p:nvSpPr>
        <p:spPr>
          <a:xfrm>
            <a:off x="9418320" y="3218688"/>
            <a:ext cx="54864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mbria" pitchFamily="34" charset="0"/>
                <a:ea typeface="Cambria" pitchFamily="34" charset="-122"/>
                <a:cs typeface="Cambria" pitchFamily="34" charset="-120"/>
              </a:rPr>
              <a:t>v₂</a:t>
            </a:r>
            <a:endParaRPr lang="en-US" sz="1000" dirty="0"/>
          </a:p>
        </p:txBody>
      </p:sp>
      <p:sp>
        <p:nvSpPr>
          <p:cNvPr id="30" name="Shape 28"/>
          <p:cNvSpPr/>
          <p:nvPr/>
        </p:nvSpPr>
        <p:spPr>
          <a:xfrm>
            <a:off x="10588752" y="4142232"/>
            <a:ext cx="402336" cy="402336"/>
          </a:xfrm>
          <a:prstGeom prst="ellipse">
            <a:avLst/>
          </a:prstGeom>
          <a:solidFill>
            <a:srgbClr val="13294B"/>
          </a:solidFill>
          <a:ln/>
        </p:spPr>
      </p:sp>
      <p:sp>
        <p:nvSpPr>
          <p:cNvPr id="31" name="Text 29"/>
          <p:cNvSpPr/>
          <p:nvPr/>
        </p:nvSpPr>
        <p:spPr>
          <a:xfrm>
            <a:off x="10515600" y="4224528"/>
            <a:ext cx="54864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mbria" pitchFamily="34" charset="0"/>
                <a:ea typeface="Cambria" pitchFamily="34" charset="-122"/>
                <a:cs typeface="Cambria" pitchFamily="34" charset="-120"/>
              </a:rPr>
              <a:t>v₃</a:t>
            </a:r>
            <a:endParaRPr lang="en-US" sz="1000" dirty="0"/>
          </a:p>
        </p:txBody>
      </p:sp>
      <p:sp>
        <p:nvSpPr>
          <p:cNvPr id="32" name="Shape 30"/>
          <p:cNvSpPr/>
          <p:nvPr/>
        </p:nvSpPr>
        <p:spPr>
          <a:xfrm>
            <a:off x="8851392" y="4782312"/>
            <a:ext cx="402336" cy="402336"/>
          </a:xfrm>
          <a:prstGeom prst="ellipse">
            <a:avLst/>
          </a:prstGeom>
          <a:solidFill>
            <a:srgbClr val="13294B"/>
          </a:solidFill>
          <a:ln/>
        </p:spPr>
      </p:sp>
      <p:sp>
        <p:nvSpPr>
          <p:cNvPr id="33" name="Text 31"/>
          <p:cNvSpPr/>
          <p:nvPr/>
        </p:nvSpPr>
        <p:spPr>
          <a:xfrm>
            <a:off x="8778240" y="4864608"/>
            <a:ext cx="54864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mbria" pitchFamily="34" charset="0"/>
                <a:ea typeface="Cambria" pitchFamily="34" charset="-122"/>
                <a:cs typeface="Cambria" pitchFamily="34" charset="-120"/>
              </a:rPr>
              <a:t>v₄</a:t>
            </a:r>
            <a:endParaRPr lang="en-US" sz="1000" dirty="0"/>
          </a:p>
        </p:txBody>
      </p:sp>
      <p:sp>
        <p:nvSpPr>
          <p:cNvPr id="34" name="Shape 32"/>
          <p:cNvSpPr/>
          <p:nvPr/>
        </p:nvSpPr>
        <p:spPr>
          <a:xfrm>
            <a:off x="7388352" y="4187952"/>
            <a:ext cx="493776" cy="493776"/>
          </a:xfrm>
          <a:prstGeom prst="ellipse">
            <a:avLst/>
          </a:prstGeom>
          <a:ln w="19050">
            <a:solidFill>
              <a:srgbClr val="B85450"/>
            </a:solidFill>
            <a:prstDash val="dash"/>
          </a:ln>
        </p:spPr>
      </p:sp>
      <p:sp>
        <p:nvSpPr>
          <p:cNvPr id="35" name="Shape 33"/>
          <p:cNvSpPr/>
          <p:nvPr/>
        </p:nvSpPr>
        <p:spPr>
          <a:xfrm>
            <a:off x="7434072" y="4233672"/>
            <a:ext cx="402336" cy="402336"/>
          </a:xfrm>
          <a:prstGeom prst="ellipse">
            <a:avLst/>
          </a:prstGeom>
          <a:solidFill>
            <a:srgbClr val="13294B"/>
          </a:solidFill>
          <a:ln/>
        </p:spPr>
      </p:sp>
      <p:sp>
        <p:nvSpPr>
          <p:cNvPr id="36" name="Text 34"/>
          <p:cNvSpPr/>
          <p:nvPr/>
        </p:nvSpPr>
        <p:spPr>
          <a:xfrm>
            <a:off x="7360920" y="4315968"/>
            <a:ext cx="54864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mbria" pitchFamily="34" charset="0"/>
                <a:ea typeface="Cambria" pitchFamily="34" charset="-122"/>
                <a:cs typeface="Cambria" pitchFamily="34" charset="-120"/>
              </a:rPr>
              <a:t>v₅</a:t>
            </a:r>
            <a:endParaRPr lang="en-US" sz="1000" dirty="0"/>
          </a:p>
        </p:txBody>
      </p:sp>
      <p:sp>
        <p:nvSpPr>
          <p:cNvPr id="37" name="Shape 35"/>
          <p:cNvSpPr/>
          <p:nvPr/>
        </p:nvSpPr>
        <p:spPr>
          <a:xfrm>
            <a:off x="7132320" y="5715000"/>
            <a:ext cx="164592" cy="164592"/>
          </a:xfrm>
          <a:prstGeom prst="ellipse">
            <a:avLst/>
          </a:prstGeom>
          <a:solidFill>
            <a:srgbClr val="13294B"/>
          </a:solidFill>
          <a:ln/>
        </p:spPr>
      </p:sp>
      <p:sp>
        <p:nvSpPr>
          <p:cNvPr id="38" name="Text 36"/>
          <p:cNvSpPr/>
          <p:nvPr/>
        </p:nvSpPr>
        <p:spPr>
          <a:xfrm>
            <a:off x="7360920" y="5669280"/>
            <a:ext cx="1371600" cy="256032"/>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non-villain</a:t>
            </a:r>
            <a:endParaRPr lang="en-US" sz="1000" dirty="0"/>
          </a:p>
        </p:txBody>
      </p:sp>
      <p:sp>
        <p:nvSpPr>
          <p:cNvPr id="39" name="Shape 37"/>
          <p:cNvSpPr/>
          <p:nvPr/>
        </p:nvSpPr>
        <p:spPr>
          <a:xfrm>
            <a:off x="8686800" y="5715000"/>
            <a:ext cx="164592" cy="164592"/>
          </a:xfrm>
          <a:prstGeom prst="ellipse">
            <a:avLst/>
          </a:prstGeom>
          <a:ln w="15240">
            <a:solidFill>
              <a:srgbClr val="B85450"/>
            </a:solidFill>
            <a:prstDash val="dash"/>
          </a:ln>
        </p:spPr>
      </p:sp>
      <p:sp>
        <p:nvSpPr>
          <p:cNvPr id="40" name="Text 38"/>
          <p:cNvSpPr/>
          <p:nvPr/>
        </p:nvSpPr>
        <p:spPr>
          <a:xfrm>
            <a:off x="8915400" y="5669280"/>
            <a:ext cx="1828800" cy="256032"/>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villain (label)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2 · DATA</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576 mysteries as knowledge graphs</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Each story yields one heterogeneous, typed graph; class labels assigned at the character level.</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4</a:t>
            </a:r>
            <a:endParaRPr lang="en-US" sz="1000" dirty="0"/>
          </a:p>
        </p:txBody>
      </p:sp>
      <p:sp>
        <p:nvSpPr>
          <p:cNvPr id="8" name="Shape 6"/>
          <p:cNvSpPr/>
          <p:nvPr/>
        </p:nvSpPr>
        <p:spPr>
          <a:xfrm>
            <a:off x="640080" y="2057400"/>
            <a:ext cx="2606040" cy="914400"/>
          </a:xfrm>
          <a:prstGeom prst="rect">
            <a:avLst/>
          </a:prstGeom>
          <a:solidFill>
            <a:srgbClr val="EEF1F4"/>
          </a:solidFill>
          <a:ln/>
        </p:spPr>
      </p:sp>
      <p:sp>
        <p:nvSpPr>
          <p:cNvPr id="9" name="Text 7"/>
          <p:cNvSpPr/>
          <p:nvPr/>
        </p:nvSpPr>
        <p:spPr>
          <a:xfrm>
            <a:off x="640080" y="2121408"/>
            <a:ext cx="2606040" cy="502920"/>
          </a:xfrm>
          <a:prstGeom prst="rect">
            <a:avLst/>
          </a:prstGeom>
          <a:noFill/>
          <a:ln/>
        </p:spPr>
        <p:txBody>
          <a:bodyPr wrap="square" lIns="0" tIns="0" rIns="0" bIns="0" rtlCol="0" anchor="ctr"/>
          <a:lstStyle/>
          <a:p>
            <a:pPr algn="ctr" indent="0" marL="0">
              <a:buNone/>
            </a:pPr>
            <a:r>
              <a:rPr lang="en-US" sz="3000" b="1" dirty="0">
                <a:solidFill>
                  <a:srgbClr val="13294B"/>
                </a:solidFill>
                <a:latin typeface="Georgia" pitchFamily="34" charset="0"/>
                <a:ea typeface="Georgia" pitchFamily="34" charset="-122"/>
                <a:cs typeface="Georgia" pitchFamily="34" charset="-120"/>
              </a:rPr>
              <a:t>576</a:t>
            </a:r>
            <a:endParaRPr lang="en-US" sz="3000" dirty="0"/>
          </a:p>
        </p:txBody>
      </p:sp>
      <p:sp>
        <p:nvSpPr>
          <p:cNvPr id="10" name="Text 8"/>
          <p:cNvSpPr/>
          <p:nvPr/>
        </p:nvSpPr>
        <p:spPr>
          <a:xfrm>
            <a:off x="640080" y="2606040"/>
            <a:ext cx="2606040" cy="274320"/>
          </a:xfrm>
          <a:prstGeom prst="rect">
            <a:avLst/>
          </a:prstGeom>
          <a:noFill/>
          <a:ln/>
        </p:spPr>
        <p:txBody>
          <a:bodyPr wrap="square" lIns="0" tIns="0" rIns="0" bIns="0" rtlCol="0" anchor="ctr"/>
          <a:lstStyle/>
          <a:p>
            <a:pPr algn="ctr" indent="0" marL="0">
              <a:buNone/>
            </a:pPr>
            <a:r>
              <a:rPr lang="en-US" sz="1100" i="1" spc="100" kern="0" dirty="0">
                <a:solidFill>
                  <a:srgbClr val="4A4A4A"/>
                </a:solidFill>
                <a:latin typeface="Georgia" pitchFamily="34" charset="0"/>
                <a:ea typeface="Georgia" pitchFamily="34" charset="-122"/>
                <a:cs typeface="Georgia" pitchFamily="34" charset="-120"/>
              </a:rPr>
              <a:t>stories</a:t>
            </a:r>
            <a:endParaRPr lang="en-US" sz="1100" dirty="0"/>
          </a:p>
        </p:txBody>
      </p:sp>
      <p:sp>
        <p:nvSpPr>
          <p:cNvPr id="11" name="Shape 9"/>
          <p:cNvSpPr/>
          <p:nvPr/>
        </p:nvSpPr>
        <p:spPr>
          <a:xfrm>
            <a:off x="3474720" y="2057400"/>
            <a:ext cx="2606040" cy="914400"/>
          </a:xfrm>
          <a:prstGeom prst="rect">
            <a:avLst/>
          </a:prstGeom>
          <a:solidFill>
            <a:srgbClr val="EEF1F4"/>
          </a:solidFill>
          <a:ln/>
        </p:spPr>
      </p:sp>
      <p:sp>
        <p:nvSpPr>
          <p:cNvPr id="12" name="Text 10"/>
          <p:cNvSpPr/>
          <p:nvPr/>
        </p:nvSpPr>
        <p:spPr>
          <a:xfrm>
            <a:off x="3474720" y="2121408"/>
            <a:ext cx="2606040" cy="502920"/>
          </a:xfrm>
          <a:prstGeom prst="rect">
            <a:avLst/>
          </a:prstGeom>
          <a:noFill/>
          <a:ln/>
        </p:spPr>
        <p:txBody>
          <a:bodyPr wrap="square" lIns="0" tIns="0" rIns="0" bIns="0" rtlCol="0" anchor="ctr"/>
          <a:lstStyle/>
          <a:p>
            <a:pPr algn="ctr" indent="0" marL="0">
              <a:buNone/>
            </a:pPr>
            <a:r>
              <a:rPr lang="en-US" sz="3000" b="1" dirty="0">
                <a:solidFill>
                  <a:srgbClr val="13294B"/>
                </a:solidFill>
                <a:latin typeface="Georgia" pitchFamily="34" charset="0"/>
                <a:ea typeface="Georgia" pitchFamily="34" charset="-122"/>
                <a:cs typeface="Georgia" pitchFamily="34" charset="-120"/>
              </a:rPr>
              <a:t>14,020</a:t>
            </a:r>
            <a:endParaRPr lang="en-US" sz="3000" dirty="0"/>
          </a:p>
        </p:txBody>
      </p:sp>
      <p:sp>
        <p:nvSpPr>
          <p:cNvPr id="13" name="Text 11"/>
          <p:cNvSpPr/>
          <p:nvPr/>
        </p:nvSpPr>
        <p:spPr>
          <a:xfrm>
            <a:off x="3474720" y="2606040"/>
            <a:ext cx="2606040" cy="274320"/>
          </a:xfrm>
          <a:prstGeom prst="rect">
            <a:avLst/>
          </a:prstGeom>
          <a:noFill/>
          <a:ln/>
        </p:spPr>
        <p:txBody>
          <a:bodyPr wrap="square" lIns="0" tIns="0" rIns="0" bIns="0" rtlCol="0" anchor="ctr"/>
          <a:lstStyle/>
          <a:p>
            <a:pPr algn="ctr" indent="0" marL="0">
              <a:buNone/>
            </a:pPr>
            <a:r>
              <a:rPr lang="en-US" sz="1100" i="1" spc="100" kern="0" dirty="0">
                <a:solidFill>
                  <a:srgbClr val="4A4A4A"/>
                </a:solidFill>
                <a:latin typeface="Georgia" pitchFamily="34" charset="0"/>
                <a:ea typeface="Georgia" pitchFamily="34" charset="-122"/>
                <a:cs typeface="Georgia" pitchFamily="34" charset="-120"/>
              </a:rPr>
              <a:t>nodes</a:t>
            </a:r>
            <a:endParaRPr lang="en-US" sz="1100" dirty="0"/>
          </a:p>
        </p:txBody>
      </p:sp>
      <p:sp>
        <p:nvSpPr>
          <p:cNvPr id="14" name="Shape 12"/>
          <p:cNvSpPr/>
          <p:nvPr/>
        </p:nvSpPr>
        <p:spPr>
          <a:xfrm>
            <a:off x="6309360" y="2057400"/>
            <a:ext cx="2606040" cy="914400"/>
          </a:xfrm>
          <a:prstGeom prst="rect">
            <a:avLst/>
          </a:prstGeom>
          <a:solidFill>
            <a:srgbClr val="EEF1F4"/>
          </a:solidFill>
          <a:ln/>
        </p:spPr>
      </p:sp>
      <p:sp>
        <p:nvSpPr>
          <p:cNvPr id="15" name="Text 13"/>
          <p:cNvSpPr/>
          <p:nvPr/>
        </p:nvSpPr>
        <p:spPr>
          <a:xfrm>
            <a:off x="6309360" y="2121408"/>
            <a:ext cx="2606040" cy="502920"/>
          </a:xfrm>
          <a:prstGeom prst="rect">
            <a:avLst/>
          </a:prstGeom>
          <a:noFill/>
          <a:ln/>
        </p:spPr>
        <p:txBody>
          <a:bodyPr wrap="square" lIns="0" tIns="0" rIns="0" bIns="0" rtlCol="0" anchor="ctr"/>
          <a:lstStyle/>
          <a:p>
            <a:pPr algn="ctr" indent="0" marL="0">
              <a:buNone/>
            </a:pPr>
            <a:r>
              <a:rPr lang="en-US" sz="3000" b="1" dirty="0">
                <a:solidFill>
                  <a:srgbClr val="13294B"/>
                </a:solidFill>
                <a:latin typeface="Georgia" pitchFamily="34" charset="0"/>
                <a:ea typeface="Georgia" pitchFamily="34" charset="-122"/>
                <a:cs typeface="Georgia" pitchFamily="34" charset="-120"/>
              </a:rPr>
              <a:t>≈ 32 K</a:t>
            </a:r>
            <a:endParaRPr lang="en-US" sz="3000" dirty="0"/>
          </a:p>
        </p:txBody>
      </p:sp>
      <p:sp>
        <p:nvSpPr>
          <p:cNvPr id="16" name="Text 14"/>
          <p:cNvSpPr/>
          <p:nvPr/>
        </p:nvSpPr>
        <p:spPr>
          <a:xfrm>
            <a:off x="6309360" y="2606040"/>
            <a:ext cx="2606040" cy="274320"/>
          </a:xfrm>
          <a:prstGeom prst="rect">
            <a:avLst/>
          </a:prstGeom>
          <a:noFill/>
          <a:ln/>
        </p:spPr>
        <p:txBody>
          <a:bodyPr wrap="square" lIns="0" tIns="0" rIns="0" bIns="0" rtlCol="0" anchor="ctr"/>
          <a:lstStyle/>
          <a:p>
            <a:pPr algn="ctr" indent="0" marL="0">
              <a:buNone/>
            </a:pPr>
            <a:r>
              <a:rPr lang="en-US" sz="1100" i="1" spc="100" kern="0" dirty="0">
                <a:solidFill>
                  <a:srgbClr val="4A4A4A"/>
                </a:solidFill>
                <a:latin typeface="Georgia" pitchFamily="34" charset="0"/>
                <a:ea typeface="Georgia" pitchFamily="34" charset="-122"/>
                <a:cs typeface="Georgia" pitchFamily="34" charset="-120"/>
              </a:rPr>
              <a:t>edges</a:t>
            </a:r>
            <a:endParaRPr lang="en-US" sz="1100" dirty="0"/>
          </a:p>
        </p:txBody>
      </p:sp>
      <p:sp>
        <p:nvSpPr>
          <p:cNvPr id="17" name="Shape 15"/>
          <p:cNvSpPr/>
          <p:nvPr/>
        </p:nvSpPr>
        <p:spPr>
          <a:xfrm>
            <a:off x="9144000" y="2057400"/>
            <a:ext cx="2606040" cy="914400"/>
          </a:xfrm>
          <a:prstGeom prst="rect">
            <a:avLst/>
          </a:prstGeom>
          <a:solidFill>
            <a:srgbClr val="EEF1F4"/>
          </a:solidFill>
          <a:ln/>
        </p:spPr>
      </p:sp>
      <p:sp>
        <p:nvSpPr>
          <p:cNvPr id="18" name="Text 16"/>
          <p:cNvSpPr/>
          <p:nvPr/>
        </p:nvSpPr>
        <p:spPr>
          <a:xfrm>
            <a:off x="9144000" y="2121408"/>
            <a:ext cx="2606040" cy="502920"/>
          </a:xfrm>
          <a:prstGeom prst="rect">
            <a:avLst/>
          </a:prstGeom>
          <a:noFill/>
          <a:ln/>
        </p:spPr>
        <p:txBody>
          <a:bodyPr wrap="square" lIns="0" tIns="0" rIns="0" bIns="0" rtlCol="0" anchor="ctr"/>
          <a:lstStyle/>
          <a:p>
            <a:pPr algn="ctr" indent="0" marL="0">
              <a:buNone/>
            </a:pPr>
            <a:r>
              <a:rPr lang="en-US" sz="3000" b="1" dirty="0">
                <a:solidFill>
                  <a:srgbClr val="13294B"/>
                </a:solidFill>
                <a:latin typeface="Georgia" pitchFamily="34" charset="0"/>
                <a:ea typeface="Georgia" pitchFamily="34" charset="-122"/>
                <a:cs typeface="Georgia" pitchFamily="34" charset="-120"/>
              </a:rPr>
              <a:t>16</a:t>
            </a:r>
            <a:endParaRPr lang="en-US" sz="3000" dirty="0"/>
          </a:p>
        </p:txBody>
      </p:sp>
      <p:sp>
        <p:nvSpPr>
          <p:cNvPr id="19" name="Text 17"/>
          <p:cNvSpPr/>
          <p:nvPr/>
        </p:nvSpPr>
        <p:spPr>
          <a:xfrm>
            <a:off x="9144000" y="2606040"/>
            <a:ext cx="2606040" cy="274320"/>
          </a:xfrm>
          <a:prstGeom prst="rect">
            <a:avLst/>
          </a:prstGeom>
          <a:noFill/>
          <a:ln/>
        </p:spPr>
        <p:txBody>
          <a:bodyPr wrap="square" lIns="0" tIns="0" rIns="0" bIns="0" rtlCol="0" anchor="ctr"/>
          <a:lstStyle/>
          <a:p>
            <a:pPr algn="ctr" indent="0" marL="0">
              <a:buNone/>
            </a:pPr>
            <a:r>
              <a:rPr lang="en-US" sz="1100" i="1" spc="100" kern="0" dirty="0">
                <a:solidFill>
                  <a:srgbClr val="4A4A4A"/>
                </a:solidFill>
                <a:latin typeface="Georgia" pitchFamily="34" charset="0"/>
                <a:ea typeface="Georgia" pitchFamily="34" charset="-122"/>
                <a:cs typeface="Georgia" pitchFamily="34" charset="-120"/>
              </a:rPr>
              <a:t>relation types</a:t>
            </a:r>
            <a:endParaRPr lang="en-US" sz="1100" dirty="0"/>
          </a:p>
        </p:txBody>
      </p:sp>
      <p:sp>
        <p:nvSpPr>
          <p:cNvPr id="20" name="Text 18"/>
          <p:cNvSpPr/>
          <p:nvPr/>
        </p:nvSpPr>
        <p:spPr>
          <a:xfrm>
            <a:off x="640080" y="324612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TABLE 1 · CLASS DISTRIBUTION</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5486400" cy="914400"/>
        </p:xfrm>
        <a:graphic>
          <a:graphicData uri="http://schemas.openxmlformats.org/drawingml/2006/table">
            <a:tbl>
              <a:tblPr/>
              <a:tblGrid>
                <a:gridCol w="2743200"/>
                <a:gridCol w="1371600"/>
                <a:gridCol w="1371600"/>
              </a:tblGrid>
              <a:tr h="329184">
                <a:tc>
                  <a:txBody>
                    <a:bodyPr/>
                    <a:lstStyle/>
                    <a:p>
                      <a:pPr algn="l" indent="0" marL="0">
                        <a:buNone/>
                      </a:pPr>
                      <a:r>
                        <a:rPr lang="en-US" sz="1100" b="1" dirty="0">
                          <a:solidFill>
                            <a:srgbClr val="13294B"/>
                          </a:solidFill>
                          <a:latin typeface="Georgia" pitchFamily="34" charset="0"/>
                          <a:ea typeface="Georgia" pitchFamily="34" charset="-122"/>
                          <a:cs typeface="Georgia" pitchFamily="34" charset="-120"/>
                        </a:rPr>
                        <a:t>Label</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r" indent="0" marL="0">
                        <a:buNone/>
                      </a:pPr>
                      <a:r>
                        <a:rPr lang="en-US" sz="1100" b="1" dirty="0">
                          <a:solidFill>
                            <a:srgbClr val="13294B"/>
                          </a:solidFill>
                          <a:latin typeface="Georgia" pitchFamily="34" charset="0"/>
                          <a:ea typeface="Georgia" pitchFamily="34" charset="-122"/>
                          <a:cs typeface="Georgia" pitchFamily="34" charset="-120"/>
                        </a:rPr>
                        <a:t>Count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r" indent="0" marL="0">
                        <a:buNone/>
                      </a:pPr>
                      <a:r>
                        <a:rPr lang="en-US" sz="1100" b="1" dirty="0">
                          <a:solidFill>
                            <a:srgbClr val="13294B"/>
                          </a:solidFill>
                          <a:latin typeface="Georgia" pitchFamily="34" charset="0"/>
                          <a:ea typeface="Georgia" pitchFamily="34" charset="-122"/>
                          <a:cs typeface="Georgia" pitchFamily="34" charset="-120"/>
                        </a:rPr>
                        <a:t>Share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329184">
                <a:tc>
                  <a:txBody>
                    <a:bodyPr/>
                    <a:lstStyle/>
                    <a:p>
                      <a:pPr algn="l" indent="0" marL="0">
                        <a:buNone/>
                      </a:pPr>
                      <a:r>
                        <a:rPr lang="en-US" sz="1100" dirty="0">
                          <a:solidFill>
                            <a:srgbClr val="4A4A4A"/>
                          </a:solidFill>
                          <a:latin typeface="Georgia" pitchFamily="34" charset="0"/>
                          <a:ea typeface="Georgia" pitchFamily="34" charset="-122"/>
                          <a:cs typeface="Georgia" pitchFamily="34" charset="-120"/>
                        </a:rPr>
                        <a:t>Uninvolved</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6,953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49.6 %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l" indent="0" marL="0">
                        <a:buNone/>
                      </a:pPr>
                      <a:r>
                        <a:rPr lang="en-US" sz="1100" dirty="0">
                          <a:solidFill>
                            <a:srgbClr val="4A4A4A"/>
                          </a:solidFill>
                          <a:latin typeface="Georgia" pitchFamily="34" charset="0"/>
                          <a:ea typeface="Georgia" pitchFamily="34" charset="-122"/>
                          <a:cs typeface="Georgia" pitchFamily="34" charset="-120"/>
                        </a:rPr>
                        <a:t>Witness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3,158</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22.5 %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l" indent="0" marL="0">
                        <a:buNone/>
                      </a:pPr>
                      <a:r>
                        <a:rPr lang="en-US" sz="1100" dirty="0">
                          <a:solidFill>
                            <a:srgbClr val="4A4A4A"/>
                          </a:solidFill>
                          <a:latin typeface="Georgia" pitchFamily="34" charset="0"/>
                          <a:ea typeface="Georgia" pitchFamily="34" charset="-122"/>
                          <a:cs typeface="Georgia" pitchFamily="34" charset="-120"/>
                        </a:rPr>
                        <a:t>Victim</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2,486</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17.7 %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l" indent="0" marL="0">
                        <a:buNone/>
                      </a:pPr>
                      <a:r>
                        <a:rPr lang="en-US" sz="1100" b="1" dirty="0">
                          <a:solidFill>
                            <a:srgbClr val="13294B"/>
                          </a:solidFill>
                          <a:latin typeface="Georgia" pitchFamily="34" charset="0"/>
                          <a:ea typeface="Georgia" pitchFamily="34" charset="-122"/>
                          <a:cs typeface="Georgia" pitchFamily="34" charset="-120"/>
                        </a:rPr>
                        <a:t>Villain</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b="1" dirty="0">
                          <a:solidFill>
                            <a:srgbClr val="13294B"/>
                          </a:solidFill>
                          <a:latin typeface="Cambria" pitchFamily="34" charset="0"/>
                          <a:ea typeface="Cambria" pitchFamily="34" charset="-122"/>
                          <a:cs typeface="Cambria" pitchFamily="34" charset="-120"/>
                        </a:rPr>
                        <a:t>1,275</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b="1" dirty="0">
                          <a:solidFill>
                            <a:srgbClr val="13294B"/>
                          </a:solidFill>
                          <a:latin typeface="Cambria" pitchFamily="34" charset="0"/>
                          <a:ea typeface="Cambria" pitchFamily="34" charset="-122"/>
                          <a:cs typeface="Cambria" pitchFamily="34" charset="-120"/>
                        </a:rPr>
                        <a:t>9.1 %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22" name="Text 19"/>
          <p:cNvSpPr/>
          <p:nvPr/>
        </p:nvSpPr>
        <p:spPr>
          <a:xfrm>
            <a:off x="6766560" y="3246120"/>
            <a:ext cx="45720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NOTES ON CONSTRUCTION</a:t>
            </a:r>
            <a:endParaRPr lang="en-US" sz="1000" dirty="0"/>
          </a:p>
        </p:txBody>
      </p:sp>
      <p:sp>
        <p:nvSpPr>
          <p:cNvPr id="23" name="Text 20"/>
          <p:cNvSpPr/>
          <p:nvPr/>
        </p:nvSpPr>
        <p:spPr>
          <a:xfrm>
            <a:off x="6766560" y="3520440"/>
            <a:ext cx="4754880" cy="2377440"/>
          </a:xfrm>
          <a:prstGeom prst="rect">
            <a:avLst/>
          </a:prstGeom>
          <a:noFill/>
          <a:ln/>
        </p:spPr>
        <p:txBody>
          <a:bodyPr wrap="square" lIns="0" tIns="0" rIns="0" bIns="0" rtlCol="0" anchor="ctr"/>
          <a:lstStyle/>
          <a:p>
            <a:pPr indent="0" marL="0">
              <a:lnSpc>
                <a:spcPts val="2000"/>
              </a:lnSpc>
              <a:buNone/>
            </a:pPr>
            <a:r>
              <a:rPr lang="en-US" sz="1100" dirty="0">
                <a:solidFill>
                  <a:srgbClr val="4A4A4A"/>
                </a:solidFill>
                <a:latin typeface="Cambria" pitchFamily="34" charset="0"/>
                <a:ea typeface="Cambria" pitchFamily="34" charset="-122"/>
                <a:cs typeface="Cambria" pitchFamily="34" charset="-120"/>
              </a:rPr>
              <a:t>·  Heterogeneous typed multigraph: 4 node types — Character, Location, Occupation, Organisation.</a:t>
            </a:r>
            <a:pPr indent="0" marL="0">
              <a:lnSpc>
                <a:spcPts val="2000"/>
              </a:lnSpc>
              <a:buNone/>
            </a:pPr>
            <a:r>
              <a:rPr lang="en-US" sz="1100" dirty="0">
                <a:solidFill>
                  <a:srgbClr val="000000"/>
                </a:solidFill>
              </a:rPr>
              <a:t>
</a:t>
            </a:r>
            <a:pPr indent="0" marL="0">
              <a:lnSpc>
                <a:spcPts val="2000"/>
              </a:lnSpc>
              <a:buNone/>
            </a:pPr>
            <a:r>
              <a:rPr lang="en-US" sz="1100" dirty="0">
                <a:solidFill>
                  <a:srgbClr val="4A4A4A"/>
                </a:solidFill>
                <a:latin typeface="Cambria" pitchFamily="34" charset="0"/>
                <a:ea typeface="Cambria" pitchFamily="34" charset="-122"/>
                <a:cs typeface="Cambria" pitchFamily="34" charset="-120"/>
              </a:rPr>
              <a:t>·  16 relation types = 8 base relations + their inverses (R-GCN treats edge directions as separate relations).</a:t>
            </a:r>
            <a:pPr indent="0" marL="0">
              <a:lnSpc>
                <a:spcPts val="2000"/>
              </a:lnSpc>
              <a:buNone/>
            </a:pPr>
            <a:r>
              <a:rPr lang="en-US" sz="1100" dirty="0">
                <a:solidFill>
                  <a:srgbClr val="000000"/>
                </a:solidFill>
              </a:rPr>
              <a:t>
</a:t>
            </a:r>
            <a:pPr indent="0" marL="0">
              <a:lnSpc>
                <a:spcPts val="2000"/>
              </a:lnSpc>
              <a:buNone/>
            </a:pPr>
            <a:r>
              <a:rPr lang="en-US" sz="1100" dirty="0">
                <a:solidFill>
                  <a:srgbClr val="4A4A4A"/>
                </a:solidFill>
                <a:latin typeface="Cambria" pitchFamily="34" charset="0"/>
                <a:ea typeface="Cambria" pitchFamily="34" charset="-122"/>
                <a:cs typeface="Cambria" pitchFamily="34" charset="-120"/>
              </a:rPr>
              <a:t>·  Class imbalance is moderate (~9 % positive); macro-F1 reported alongside accuracy.</a:t>
            </a:r>
            <a:pPr indent="0" marL="0">
              <a:lnSpc>
                <a:spcPts val="2000"/>
              </a:lnSpc>
              <a:buNone/>
            </a:pPr>
            <a:r>
              <a:rPr lang="en-US" sz="1100" dirty="0">
                <a:solidFill>
                  <a:srgbClr val="000000"/>
                </a:solidFill>
              </a:rPr>
              <a:t>
</a:t>
            </a:r>
            <a:pPr indent="0" marL="0">
              <a:lnSpc>
                <a:spcPts val="2000"/>
              </a:lnSpc>
              <a:buNone/>
            </a:pPr>
            <a:r>
              <a:rPr lang="en-US" sz="1100" dirty="0">
                <a:solidFill>
                  <a:srgbClr val="4A4A4A"/>
                </a:solidFill>
                <a:latin typeface="Cambria" pitchFamily="34" charset="0"/>
                <a:ea typeface="Cambria" pitchFamily="34" charset="-122"/>
                <a:cs typeface="Cambria" pitchFamily="34" charset="-120"/>
              </a:rPr>
              <a:t>·  No sub-graph batching; full-batch training fits on one GPU.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2 · DATA</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A worked example: "The Red-Headed League"</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Conan Doyle, 1891 · 7 characters, 18 typed edges.</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5</a:t>
            </a:r>
            <a:endParaRPr lang="en-US" sz="1000" dirty="0"/>
          </a:p>
        </p:txBody>
      </p:sp>
      <p:sp>
        <p:nvSpPr>
          <p:cNvPr id="8" name="Shape 6"/>
          <p:cNvSpPr/>
          <p:nvPr/>
        </p:nvSpPr>
        <p:spPr>
          <a:xfrm>
            <a:off x="640080" y="2057400"/>
            <a:ext cx="5486400" cy="1280160"/>
          </a:xfrm>
          <a:prstGeom prst="rect">
            <a:avLst/>
          </a:prstGeom>
          <a:solidFill>
            <a:srgbClr val="EEF1F4"/>
          </a:solidFill>
          <a:ln/>
        </p:spPr>
      </p:sp>
      <p:sp>
        <p:nvSpPr>
          <p:cNvPr id="9" name="Shape 7"/>
          <p:cNvSpPr/>
          <p:nvPr/>
        </p:nvSpPr>
        <p:spPr>
          <a:xfrm>
            <a:off x="640080" y="2057400"/>
            <a:ext cx="54864" cy="1280160"/>
          </a:xfrm>
          <a:prstGeom prst="rect">
            <a:avLst/>
          </a:prstGeom>
          <a:solidFill>
            <a:srgbClr val="13294B"/>
          </a:solidFill>
          <a:ln/>
        </p:spPr>
      </p:sp>
      <p:sp>
        <p:nvSpPr>
          <p:cNvPr id="10" name="Text 8"/>
          <p:cNvSpPr/>
          <p:nvPr/>
        </p:nvSpPr>
        <p:spPr>
          <a:xfrm>
            <a:off x="868680" y="2194560"/>
            <a:ext cx="512064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SYNOPSIS</a:t>
            </a:r>
            <a:endParaRPr lang="en-US" sz="1000" dirty="0"/>
          </a:p>
        </p:txBody>
      </p:sp>
      <p:sp>
        <p:nvSpPr>
          <p:cNvPr id="11" name="Text 9"/>
          <p:cNvSpPr/>
          <p:nvPr/>
        </p:nvSpPr>
        <p:spPr>
          <a:xfrm>
            <a:off x="868680" y="2468880"/>
            <a:ext cx="5120640" cy="868680"/>
          </a:xfrm>
          <a:prstGeom prst="rect">
            <a:avLst/>
          </a:prstGeom>
          <a:noFill/>
          <a:ln/>
        </p:spPr>
        <p:txBody>
          <a:bodyPr wrap="square" lIns="0" tIns="0" rIns="0" bIns="0" rtlCol="0" anchor="ctr"/>
          <a:lstStyle/>
          <a:p>
            <a:pPr indent="0" marL="0">
              <a:lnSpc>
                <a:spcPts val="1600"/>
              </a:lnSpc>
              <a:buNone/>
            </a:pPr>
            <a:r>
              <a:rPr lang="en-US" sz="1100" i="1" dirty="0">
                <a:solidFill>
                  <a:srgbClr val="4A4A4A"/>
                </a:solidFill>
                <a:latin typeface="Georgia" pitchFamily="34" charset="0"/>
                <a:ea typeface="Georgia" pitchFamily="34" charset="-122"/>
                <a:cs typeface="Georgia" pitchFamily="34" charset="-120"/>
              </a:rPr>
              <a:t>Pawnbroker Jabez Wilson is paid by a sham organisation to copy the encyclopedia. Holmes deduces that Wilson's assistant, Vincent Spaulding (alias John Clay), invented the League to clear the shop while Clay tunneled into the bank vault next door.</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5486400" cy="914400"/>
        </p:xfrm>
        <a:graphic>
          <a:graphicData uri="http://schemas.openxmlformats.org/drawingml/2006/table">
            <a:tbl>
              <a:tblPr/>
              <a:tblGrid>
                <a:gridCol w="2194560"/>
                <a:gridCol w="1188720"/>
                <a:gridCol w="640080"/>
                <a:gridCol w="731520"/>
                <a:gridCol w="731520"/>
              </a:tblGrid>
              <a:tr h="292608">
                <a:tc>
                  <a:txBody>
                    <a:bodyPr/>
                    <a:lstStyle/>
                    <a:p>
                      <a:pPr algn="l" indent="0" marL="0">
                        <a:buNone/>
                      </a:pPr>
                      <a:r>
                        <a:rPr lang="en-US" sz="1000" b="1" dirty="0">
                          <a:solidFill>
                            <a:srgbClr val="13294B"/>
                          </a:solidFill>
                          <a:latin typeface="Georgia" pitchFamily="34" charset="0"/>
                          <a:ea typeface="Georgia" pitchFamily="34" charset="-122"/>
                          <a:cs typeface="Georgia" pitchFamily="34" charset="-120"/>
                        </a:rPr>
                        <a:t>Character</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Label</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Mot.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Conc.</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Hidden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292608">
                <a:tc>
                  <a:txBody>
                    <a:bodyPr/>
                    <a:lstStyle/>
                    <a:p>
                      <a:pPr algn="l" indent="0" marL="0">
                        <a:buNone/>
                      </a:pPr>
                      <a:r>
                        <a:rPr lang="en-US" sz="1000" dirty="0">
                          <a:solidFill>
                            <a:srgbClr val="4A4A4A"/>
                          </a:solidFill>
                          <a:latin typeface="Georgia" pitchFamily="34" charset="0"/>
                          <a:ea typeface="Georgia" pitchFamily="34" charset="-122"/>
                          <a:cs typeface="Georgia" pitchFamily="34" charset="-120"/>
                        </a:rPr>
                        <a:t>Sherlock Holmes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Uninvolved</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algn="l" indent="0" marL="0">
                        <a:buNone/>
                      </a:pPr>
                      <a:r>
                        <a:rPr lang="en-US" sz="1000" dirty="0">
                          <a:solidFill>
                            <a:srgbClr val="4A4A4A"/>
                          </a:solidFill>
                          <a:latin typeface="Georgia" pitchFamily="34" charset="0"/>
                          <a:ea typeface="Georgia" pitchFamily="34" charset="-122"/>
                          <a:cs typeface="Georgia" pitchFamily="34" charset="-120"/>
                        </a:rPr>
                        <a:t>Dr. Watson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Uninvolved</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algn="l" indent="0" marL="0">
                        <a:buNone/>
                      </a:pPr>
                      <a:r>
                        <a:rPr lang="en-US" sz="1000" dirty="0">
                          <a:solidFill>
                            <a:srgbClr val="4A4A4A"/>
                          </a:solidFill>
                          <a:latin typeface="Georgia" pitchFamily="34" charset="0"/>
                          <a:ea typeface="Georgia" pitchFamily="34" charset="-122"/>
                          <a:cs typeface="Georgia" pitchFamily="34" charset="-120"/>
                        </a:rPr>
                        <a:t>Jabez Wilson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Uninvolved</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algn="l" indent="0" marL="0">
                        <a:buNone/>
                      </a:pPr>
                      <a:r>
                        <a:rPr lang="en-US" sz="1000" b="1" dirty="0">
                          <a:solidFill>
                            <a:srgbClr val="13294B"/>
                          </a:solidFill>
                          <a:latin typeface="Georgia" pitchFamily="34" charset="0"/>
                          <a:ea typeface="Georgia" pitchFamily="34" charset="-122"/>
                          <a:cs typeface="Georgia" pitchFamily="34" charset="-120"/>
                        </a:rPr>
                        <a:t>Spaulding / Clay</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b="1" dirty="0">
                          <a:solidFill>
                            <a:srgbClr val="B85450"/>
                          </a:solidFill>
                          <a:latin typeface="Georgia" pitchFamily="34" charset="0"/>
                          <a:ea typeface="Georgia" pitchFamily="34" charset="-122"/>
                          <a:cs typeface="Georgia" pitchFamily="34" charset="-120"/>
                        </a:rPr>
                        <a:t>Villain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r>
              <a:tr h="292608">
                <a:tc>
                  <a:txBody>
                    <a:bodyPr/>
                    <a:lstStyle/>
                    <a:p>
                      <a:pPr algn="l" indent="0" marL="0">
                        <a:buNone/>
                      </a:pPr>
                      <a:r>
                        <a:rPr lang="en-US" sz="1000" b="1" dirty="0">
                          <a:solidFill>
                            <a:srgbClr val="13294B"/>
                          </a:solidFill>
                          <a:latin typeface="Georgia" pitchFamily="34" charset="0"/>
                          <a:ea typeface="Georgia" pitchFamily="34" charset="-122"/>
                          <a:cs typeface="Georgia" pitchFamily="34" charset="-120"/>
                        </a:rPr>
                        <a:t>Duncan Ross / Archie</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b="1" dirty="0">
                          <a:solidFill>
                            <a:srgbClr val="B85450"/>
                          </a:solidFill>
                          <a:latin typeface="Georgia" pitchFamily="34" charset="0"/>
                          <a:ea typeface="Georgia" pitchFamily="34" charset="-122"/>
                          <a:cs typeface="Georgia" pitchFamily="34" charset="-120"/>
                        </a:rPr>
                        <a:t>Villain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yes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2E8E7"/>
                    </a:solidFill>
                  </a:tcPr>
                </a:tc>
              </a:tr>
              <a:tr h="292608">
                <a:tc>
                  <a:txBody>
                    <a:bodyPr/>
                    <a:lstStyle/>
                    <a:p>
                      <a:pPr algn="l" indent="0" marL="0">
                        <a:buNone/>
                      </a:pPr>
                      <a:r>
                        <a:rPr lang="en-US" sz="1000" dirty="0">
                          <a:solidFill>
                            <a:srgbClr val="4A4A4A"/>
                          </a:solidFill>
                          <a:latin typeface="Georgia" pitchFamily="34" charset="0"/>
                          <a:ea typeface="Georgia" pitchFamily="34" charset="-122"/>
                          <a:cs typeface="Georgia" pitchFamily="34" charset="-120"/>
                        </a:rPr>
                        <a:t>Inspector Jones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Georgia" pitchFamily="34" charset="0"/>
                          <a:ea typeface="Georgia" pitchFamily="34" charset="-122"/>
                          <a:cs typeface="Georgia" pitchFamily="34" charset="-120"/>
                        </a:rPr>
                        <a:t>Uninvolved</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8A8A8A"/>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13" name="Shape 10"/>
          <p:cNvSpPr/>
          <p:nvPr/>
        </p:nvSpPr>
        <p:spPr>
          <a:xfrm>
            <a:off x="6766560" y="2057400"/>
            <a:ext cx="4754880" cy="4114800"/>
          </a:xfrm>
          <a:prstGeom prst="rect">
            <a:avLst/>
          </a:prstGeom>
          <a:solidFill>
            <a:srgbClr val="FFFFFF"/>
          </a:solidFill>
          <a:ln w="9525">
            <a:solidFill>
              <a:srgbClr val="C8CDD3"/>
            </a:solidFill>
            <a:prstDash val="solid"/>
          </a:ln>
        </p:spPr>
      </p:sp>
      <p:sp>
        <p:nvSpPr>
          <p:cNvPr id="14" name="Text 11"/>
          <p:cNvSpPr/>
          <p:nvPr/>
        </p:nvSpPr>
        <p:spPr>
          <a:xfrm>
            <a:off x="7040880" y="2240280"/>
            <a:ext cx="4206240" cy="274320"/>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FIGURE 3 · Extracted knowledge graph</a:t>
            </a:r>
            <a:endParaRPr lang="en-US" sz="1000" dirty="0"/>
          </a:p>
        </p:txBody>
      </p:sp>
      <p:sp>
        <p:nvSpPr>
          <p:cNvPr id="15" name="Shape 12"/>
          <p:cNvSpPr/>
          <p:nvPr/>
        </p:nvSpPr>
        <p:spPr>
          <a:xfrm>
            <a:off x="7040880" y="2606040"/>
            <a:ext cx="146304" cy="146304"/>
          </a:xfrm>
          <a:prstGeom prst="ellipse">
            <a:avLst/>
          </a:prstGeom>
          <a:solidFill>
            <a:srgbClr val="13294B"/>
          </a:solidFill>
          <a:ln/>
        </p:spPr>
      </p:sp>
      <p:sp>
        <p:nvSpPr>
          <p:cNvPr id="16" name="Text 13"/>
          <p:cNvSpPr/>
          <p:nvPr/>
        </p:nvSpPr>
        <p:spPr>
          <a:xfrm>
            <a:off x="7223760" y="2560320"/>
            <a:ext cx="1005840" cy="237744"/>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Char.</a:t>
            </a:r>
            <a:endParaRPr lang="en-US" sz="1000" dirty="0"/>
          </a:p>
        </p:txBody>
      </p:sp>
      <p:sp>
        <p:nvSpPr>
          <p:cNvPr id="17" name="Shape 14"/>
          <p:cNvSpPr/>
          <p:nvPr/>
        </p:nvSpPr>
        <p:spPr>
          <a:xfrm>
            <a:off x="8229600" y="2606040"/>
            <a:ext cx="146304" cy="146304"/>
          </a:xfrm>
          <a:prstGeom prst="ellipse">
            <a:avLst/>
          </a:prstGeom>
          <a:solidFill>
            <a:srgbClr val="3D7068"/>
          </a:solidFill>
          <a:ln/>
        </p:spPr>
      </p:sp>
      <p:sp>
        <p:nvSpPr>
          <p:cNvPr id="18" name="Text 15"/>
          <p:cNvSpPr/>
          <p:nvPr/>
        </p:nvSpPr>
        <p:spPr>
          <a:xfrm>
            <a:off x="8412480" y="2560320"/>
            <a:ext cx="1005840" cy="237744"/>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Loc.</a:t>
            </a:r>
            <a:endParaRPr lang="en-US" sz="1000" dirty="0"/>
          </a:p>
        </p:txBody>
      </p:sp>
      <p:sp>
        <p:nvSpPr>
          <p:cNvPr id="19" name="Shape 16"/>
          <p:cNvSpPr/>
          <p:nvPr/>
        </p:nvSpPr>
        <p:spPr>
          <a:xfrm>
            <a:off x="9235440" y="2606040"/>
            <a:ext cx="146304" cy="146304"/>
          </a:xfrm>
          <a:prstGeom prst="ellipse">
            <a:avLst/>
          </a:prstGeom>
          <a:solidFill>
            <a:srgbClr val="4A6A95"/>
          </a:solidFill>
          <a:ln/>
        </p:spPr>
      </p:sp>
      <p:sp>
        <p:nvSpPr>
          <p:cNvPr id="20" name="Text 17"/>
          <p:cNvSpPr/>
          <p:nvPr/>
        </p:nvSpPr>
        <p:spPr>
          <a:xfrm>
            <a:off x="9418320" y="2560320"/>
            <a:ext cx="1005840" cy="237744"/>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Occ.</a:t>
            </a:r>
            <a:endParaRPr lang="en-US" sz="1000" dirty="0"/>
          </a:p>
        </p:txBody>
      </p:sp>
      <p:sp>
        <p:nvSpPr>
          <p:cNvPr id="21" name="Shape 18"/>
          <p:cNvSpPr/>
          <p:nvPr/>
        </p:nvSpPr>
        <p:spPr>
          <a:xfrm>
            <a:off x="10241280" y="2606040"/>
            <a:ext cx="146304" cy="146304"/>
          </a:xfrm>
          <a:prstGeom prst="ellipse">
            <a:avLst/>
          </a:prstGeom>
          <a:solidFill>
            <a:srgbClr val="2C4A75"/>
          </a:solidFill>
          <a:ln/>
        </p:spPr>
      </p:sp>
      <p:sp>
        <p:nvSpPr>
          <p:cNvPr id="22" name="Text 19"/>
          <p:cNvSpPr/>
          <p:nvPr/>
        </p:nvSpPr>
        <p:spPr>
          <a:xfrm>
            <a:off x="10424160" y="2560320"/>
            <a:ext cx="1005840" cy="237744"/>
          </a:xfrm>
          <a:prstGeom prst="rect">
            <a:avLst/>
          </a:prstGeom>
          <a:noFill/>
          <a:ln/>
        </p:spPr>
        <p:txBody>
          <a:bodyPr wrap="square" lIns="0" tIns="0" rIns="0" bIns="0" rtlCol="0" anchor="ctr"/>
          <a:lstStyle/>
          <a:p>
            <a:pPr indent="0" marL="0">
              <a:buNone/>
            </a:pPr>
            <a:r>
              <a:rPr lang="en-US" sz="1000" i="1" dirty="0">
                <a:solidFill>
                  <a:srgbClr val="4A4A4A"/>
                </a:solidFill>
                <a:latin typeface="Georgia" pitchFamily="34" charset="0"/>
                <a:ea typeface="Georgia" pitchFamily="34" charset="-122"/>
                <a:cs typeface="Georgia" pitchFamily="34" charset="-120"/>
              </a:rPr>
              <a:t>Org.</a:t>
            </a:r>
            <a:endParaRPr lang="en-US" sz="1000" dirty="0"/>
          </a:p>
        </p:txBody>
      </p:sp>
      <p:sp>
        <p:nvSpPr>
          <p:cNvPr id="23" name="Shape 20"/>
          <p:cNvSpPr/>
          <p:nvPr/>
        </p:nvSpPr>
        <p:spPr>
          <a:xfrm>
            <a:off x="7739315" y="3254354"/>
            <a:ext cx="1940691" cy="989372"/>
          </a:xfrm>
          <a:prstGeom prst="line">
            <a:avLst/>
          </a:prstGeom>
          <a:noFill/>
          <a:ln w="9525">
            <a:solidFill>
              <a:srgbClr val="C8CDD3"/>
            </a:solidFill>
            <a:prstDash val="solid"/>
          </a:ln>
        </p:spPr>
      </p:sp>
      <p:sp>
        <p:nvSpPr>
          <p:cNvPr id="24" name="Shape 21"/>
          <p:cNvSpPr/>
          <p:nvPr/>
        </p:nvSpPr>
        <p:spPr>
          <a:xfrm>
            <a:off x="7654889" y="3343942"/>
            <a:ext cx="1012262" cy="1724595"/>
          </a:xfrm>
          <a:prstGeom prst="line">
            <a:avLst/>
          </a:prstGeom>
          <a:noFill/>
          <a:ln w="9525">
            <a:solidFill>
              <a:srgbClr val="C8CDD3"/>
            </a:solidFill>
            <a:prstDash val="solid"/>
          </a:ln>
        </p:spPr>
      </p:sp>
      <p:sp>
        <p:nvSpPr>
          <p:cNvPr id="25" name="Shape 22"/>
          <p:cNvSpPr/>
          <p:nvPr/>
        </p:nvSpPr>
        <p:spPr>
          <a:xfrm>
            <a:off x="7528164" y="3373578"/>
            <a:ext cx="-105889" cy="1482443"/>
          </a:xfrm>
          <a:prstGeom prst="line">
            <a:avLst/>
          </a:prstGeom>
          <a:noFill/>
          <a:ln w="9525">
            <a:solidFill>
              <a:srgbClr val="C8CDD3"/>
            </a:solidFill>
            <a:prstDash val="solid"/>
          </a:ln>
        </p:spPr>
      </p:sp>
      <p:sp>
        <p:nvSpPr>
          <p:cNvPr id="26" name="Shape 23"/>
          <p:cNvSpPr/>
          <p:nvPr/>
        </p:nvSpPr>
        <p:spPr>
          <a:xfrm>
            <a:off x="9263180" y="3582085"/>
            <a:ext cx="1453280" cy="425350"/>
          </a:xfrm>
          <a:prstGeom prst="line">
            <a:avLst/>
          </a:prstGeom>
          <a:noFill/>
          <a:ln w="9525">
            <a:solidFill>
              <a:srgbClr val="C8CDD3"/>
            </a:solidFill>
            <a:prstDash val="solid"/>
          </a:ln>
        </p:spPr>
      </p:sp>
      <p:sp>
        <p:nvSpPr>
          <p:cNvPr id="27" name="Shape 24"/>
          <p:cNvSpPr/>
          <p:nvPr/>
        </p:nvSpPr>
        <p:spPr>
          <a:xfrm>
            <a:off x="11034589" y="4857476"/>
            <a:ext cx="-77857" cy="-570953"/>
          </a:xfrm>
          <a:prstGeom prst="line">
            <a:avLst/>
          </a:prstGeom>
          <a:noFill/>
          <a:ln w="9525">
            <a:solidFill>
              <a:srgbClr val="C8CDD3"/>
            </a:solidFill>
            <a:prstDash val="solid"/>
          </a:ln>
        </p:spPr>
      </p:sp>
      <p:sp>
        <p:nvSpPr>
          <p:cNvPr id="28" name="Shape 25"/>
          <p:cNvSpPr/>
          <p:nvPr/>
        </p:nvSpPr>
        <p:spPr>
          <a:xfrm>
            <a:off x="10030699" y="4188221"/>
            <a:ext cx="878362" cy="-878362"/>
          </a:xfrm>
          <a:prstGeom prst="line">
            <a:avLst/>
          </a:prstGeom>
          <a:noFill/>
          <a:ln w="9525">
            <a:solidFill>
              <a:srgbClr val="C8CDD3"/>
            </a:solidFill>
            <a:prstDash val="solid"/>
          </a:ln>
        </p:spPr>
      </p:sp>
      <p:sp>
        <p:nvSpPr>
          <p:cNvPr id="29" name="Shape 26"/>
          <p:cNvSpPr/>
          <p:nvPr/>
        </p:nvSpPr>
        <p:spPr>
          <a:xfrm>
            <a:off x="8723376" y="4343400"/>
            <a:ext cx="932688" cy="0"/>
          </a:xfrm>
          <a:prstGeom prst="line">
            <a:avLst/>
          </a:prstGeom>
          <a:noFill/>
          <a:ln w="9525">
            <a:solidFill>
              <a:srgbClr val="C8CDD3"/>
            </a:solidFill>
            <a:prstDash val="solid"/>
          </a:ln>
        </p:spPr>
      </p:sp>
      <p:sp>
        <p:nvSpPr>
          <p:cNvPr id="30" name="Shape 27"/>
          <p:cNvSpPr/>
          <p:nvPr/>
        </p:nvSpPr>
        <p:spPr>
          <a:xfrm>
            <a:off x="7324344" y="2935224"/>
            <a:ext cx="438912" cy="438912"/>
          </a:xfrm>
          <a:prstGeom prst="ellipse">
            <a:avLst/>
          </a:prstGeom>
          <a:solidFill>
            <a:srgbClr val="13294B"/>
          </a:solidFill>
          <a:ln/>
        </p:spPr>
      </p:sp>
      <p:sp>
        <p:nvSpPr>
          <p:cNvPr id="31" name="Text 28"/>
          <p:cNvSpPr/>
          <p:nvPr/>
        </p:nvSpPr>
        <p:spPr>
          <a:xfrm>
            <a:off x="6766560" y="2660904"/>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Holmes</a:t>
            </a:r>
            <a:endParaRPr lang="en-US" sz="900" dirty="0"/>
          </a:p>
        </p:txBody>
      </p:sp>
      <p:sp>
        <p:nvSpPr>
          <p:cNvPr id="32" name="Shape 29"/>
          <p:cNvSpPr/>
          <p:nvPr/>
        </p:nvSpPr>
        <p:spPr>
          <a:xfrm>
            <a:off x="7187184" y="4855464"/>
            <a:ext cx="438912" cy="438912"/>
          </a:xfrm>
          <a:prstGeom prst="ellipse">
            <a:avLst/>
          </a:prstGeom>
          <a:solidFill>
            <a:srgbClr val="4A6A95"/>
          </a:solidFill>
          <a:ln/>
        </p:spPr>
      </p:sp>
      <p:sp>
        <p:nvSpPr>
          <p:cNvPr id="33" name="Text 30"/>
          <p:cNvSpPr/>
          <p:nvPr/>
        </p:nvSpPr>
        <p:spPr>
          <a:xfrm>
            <a:off x="6629400" y="5330952"/>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Detective</a:t>
            </a:r>
            <a:endParaRPr lang="en-US" sz="900" dirty="0"/>
          </a:p>
        </p:txBody>
      </p:sp>
      <p:sp>
        <p:nvSpPr>
          <p:cNvPr id="34" name="Shape 31"/>
          <p:cNvSpPr/>
          <p:nvPr/>
        </p:nvSpPr>
        <p:spPr>
          <a:xfrm>
            <a:off x="8558784" y="5038344"/>
            <a:ext cx="438912" cy="438912"/>
          </a:xfrm>
          <a:prstGeom prst="ellipse">
            <a:avLst/>
          </a:prstGeom>
          <a:solidFill>
            <a:srgbClr val="13294B"/>
          </a:solidFill>
          <a:ln/>
        </p:spPr>
      </p:sp>
      <p:sp>
        <p:nvSpPr>
          <p:cNvPr id="35" name="Text 32"/>
          <p:cNvSpPr/>
          <p:nvPr/>
        </p:nvSpPr>
        <p:spPr>
          <a:xfrm>
            <a:off x="8001000" y="5513832"/>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Watson</a:t>
            </a:r>
            <a:endParaRPr lang="en-US" sz="900" dirty="0"/>
          </a:p>
        </p:txBody>
      </p:sp>
      <p:sp>
        <p:nvSpPr>
          <p:cNvPr id="36" name="Shape 33"/>
          <p:cNvSpPr/>
          <p:nvPr/>
        </p:nvSpPr>
        <p:spPr>
          <a:xfrm>
            <a:off x="8833104" y="3300984"/>
            <a:ext cx="438912" cy="438912"/>
          </a:xfrm>
          <a:prstGeom prst="ellipse">
            <a:avLst/>
          </a:prstGeom>
          <a:solidFill>
            <a:srgbClr val="13294B"/>
          </a:solidFill>
          <a:ln/>
        </p:spPr>
      </p:sp>
      <p:sp>
        <p:nvSpPr>
          <p:cNvPr id="37" name="Text 34"/>
          <p:cNvSpPr/>
          <p:nvPr/>
        </p:nvSpPr>
        <p:spPr>
          <a:xfrm>
            <a:off x="8275320" y="3026664"/>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Wilson</a:t>
            </a:r>
            <a:endParaRPr lang="en-US" sz="900" dirty="0"/>
          </a:p>
        </p:txBody>
      </p:sp>
      <p:sp>
        <p:nvSpPr>
          <p:cNvPr id="38" name="Shape 35"/>
          <p:cNvSpPr/>
          <p:nvPr/>
        </p:nvSpPr>
        <p:spPr>
          <a:xfrm>
            <a:off x="9601200" y="4069080"/>
            <a:ext cx="548640" cy="548640"/>
          </a:xfrm>
          <a:prstGeom prst="ellipse">
            <a:avLst/>
          </a:prstGeom>
          <a:ln w="15240">
            <a:solidFill>
              <a:srgbClr val="B85450"/>
            </a:solidFill>
            <a:prstDash val="dash"/>
          </a:ln>
        </p:spPr>
      </p:sp>
      <p:sp>
        <p:nvSpPr>
          <p:cNvPr id="39" name="Shape 36"/>
          <p:cNvSpPr/>
          <p:nvPr/>
        </p:nvSpPr>
        <p:spPr>
          <a:xfrm>
            <a:off x="9656064" y="4123944"/>
            <a:ext cx="438912" cy="438912"/>
          </a:xfrm>
          <a:prstGeom prst="ellipse">
            <a:avLst/>
          </a:prstGeom>
          <a:solidFill>
            <a:srgbClr val="13294B"/>
          </a:solidFill>
          <a:ln/>
        </p:spPr>
      </p:sp>
      <p:sp>
        <p:nvSpPr>
          <p:cNvPr id="40" name="Text 37"/>
          <p:cNvSpPr/>
          <p:nvPr/>
        </p:nvSpPr>
        <p:spPr>
          <a:xfrm>
            <a:off x="9098280" y="4599432"/>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Spaulding</a:t>
            </a:r>
            <a:endParaRPr lang="en-US" sz="900" dirty="0"/>
          </a:p>
        </p:txBody>
      </p:sp>
      <p:sp>
        <p:nvSpPr>
          <p:cNvPr id="41" name="Shape 38"/>
          <p:cNvSpPr/>
          <p:nvPr/>
        </p:nvSpPr>
        <p:spPr>
          <a:xfrm>
            <a:off x="10844784" y="2935224"/>
            <a:ext cx="438912" cy="438912"/>
          </a:xfrm>
          <a:prstGeom prst="ellipse">
            <a:avLst/>
          </a:prstGeom>
          <a:solidFill>
            <a:srgbClr val="3D7068"/>
          </a:solidFill>
          <a:ln/>
        </p:spPr>
      </p:sp>
      <p:sp>
        <p:nvSpPr>
          <p:cNvPr id="42" name="Text 39"/>
          <p:cNvSpPr/>
          <p:nvPr/>
        </p:nvSpPr>
        <p:spPr>
          <a:xfrm>
            <a:off x="10287000" y="2660904"/>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Bank</a:t>
            </a:r>
            <a:endParaRPr lang="en-US" sz="900" dirty="0"/>
          </a:p>
        </p:txBody>
      </p:sp>
      <p:sp>
        <p:nvSpPr>
          <p:cNvPr id="43" name="Shape 40"/>
          <p:cNvSpPr/>
          <p:nvPr/>
        </p:nvSpPr>
        <p:spPr>
          <a:xfrm>
            <a:off x="10707624" y="3849624"/>
            <a:ext cx="438912" cy="438912"/>
          </a:xfrm>
          <a:prstGeom prst="ellipse">
            <a:avLst/>
          </a:prstGeom>
          <a:solidFill>
            <a:srgbClr val="2C4A75"/>
          </a:solidFill>
          <a:ln/>
        </p:spPr>
      </p:sp>
      <p:sp>
        <p:nvSpPr>
          <p:cNvPr id="44" name="Text 41"/>
          <p:cNvSpPr/>
          <p:nvPr/>
        </p:nvSpPr>
        <p:spPr>
          <a:xfrm>
            <a:off x="10149840" y="3575304"/>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Red-Hd. Lg.</a:t>
            </a:r>
            <a:endParaRPr lang="en-US" sz="900" dirty="0"/>
          </a:p>
        </p:txBody>
      </p:sp>
      <p:sp>
        <p:nvSpPr>
          <p:cNvPr id="45" name="Shape 42"/>
          <p:cNvSpPr/>
          <p:nvPr/>
        </p:nvSpPr>
        <p:spPr>
          <a:xfrm>
            <a:off x="10789920" y="4800600"/>
            <a:ext cx="548640" cy="548640"/>
          </a:xfrm>
          <a:prstGeom prst="ellipse">
            <a:avLst/>
          </a:prstGeom>
          <a:ln w="15240">
            <a:solidFill>
              <a:srgbClr val="B85450"/>
            </a:solidFill>
            <a:prstDash val="dash"/>
          </a:ln>
        </p:spPr>
      </p:sp>
      <p:sp>
        <p:nvSpPr>
          <p:cNvPr id="46" name="Shape 43"/>
          <p:cNvSpPr/>
          <p:nvPr/>
        </p:nvSpPr>
        <p:spPr>
          <a:xfrm>
            <a:off x="10844784" y="4855464"/>
            <a:ext cx="438912" cy="438912"/>
          </a:xfrm>
          <a:prstGeom prst="ellipse">
            <a:avLst/>
          </a:prstGeom>
          <a:solidFill>
            <a:srgbClr val="13294B"/>
          </a:solidFill>
          <a:ln/>
        </p:spPr>
      </p:sp>
      <p:sp>
        <p:nvSpPr>
          <p:cNvPr id="47" name="Text 44"/>
          <p:cNvSpPr/>
          <p:nvPr/>
        </p:nvSpPr>
        <p:spPr>
          <a:xfrm>
            <a:off x="10287000" y="5330952"/>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Ross</a:t>
            </a:r>
            <a:endParaRPr lang="en-US" sz="900" dirty="0"/>
          </a:p>
        </p:txBody>
      </p:sp>
      <p:sp>
        <p:nvSpPr>
          <p:cNvPr id="48" name="Shape 45"/>
          <p:cNvSpPr/>
          <p:nvPr/>
        </p:nvSpPr>
        <p:spPr>
          <a:xfrm>
            <a:off x="8284464" y="4123944"/>
            <a:ext cx="438912" cy="438912"/>
          </a:xfrm>
          <a:prstGeom prst="ellipse">
            <a:avLst/>
          </a:prstGeom>
          <a:solidFill>
            <a:srgbClr val="13294B"/>
          </a:solidFill>
          <a:ln/>
        </p:spPr>
      </p:sp>
      <p:sp>
        <p:nvSpPr>
          <p:cNvPr id="49" name="Text 46"/>
          <p:cNvSpPr/>
          <p:nvPr/>
        </p:nvSpPr>
        <p:spPr>
          <a:xfrm>
            <a:off x="7726680" y="3849624"/>
            <a:ext cx="1554480" cy="237744"/>
          </a:xfrm>
          <a:prstGeom prst="rect">
            <a:avLst/>
          </a:prstGeom>
          <a:noFill/>
          <a:ln/>
        </p:spPr>
        <p:txBody>
          <a:bodyPr wrap="square" lIns="0" tIns="0" rIns="0" bIns="0" rtlCol="0" anchor="ctr"/>
          <a:lstStyle/>
          <a:p>
            <a:pPr algn="ctr" indent="0" marL="0">
              <a:buNone/>
            </a:pPr>
            <a:r>
              <a:rPr lang="en-US" sz="900" dirty="0">
                <a:solidFill>
                  <a:srgbClr val="13294B"/>
                </a:solidFill>
                <a:latin typeface="Georgia" pitchFamily="34" charset="0"/>
                <a:ea typeface="Georgia" pitchFamily="34" charset="-122"/>
                <a:cs typeface="Georgia" pitchFamily="34" charset="-120"/>
              </a:rPr>
              <a:t>Jones</a:t>
            </a:r>
            <a:endParaRPr lang="en-US" sz="900" dirty="0"/>
          </a:p>
        </p:txBody>
      </p:sp>
      <p:sp>
        <p:nvSpPr>
          <p:cNvPr id="50" name="Text 47"/>
          <p:cNvSpPr/>
          <p:nvPr/>
        </p:nvSpPr>
        <p:spPr>
          <a:xfrm>
            <a:off x="7040880" y="5806440"/>
            <a:ext cx="4206240" cy="274320"/>
          </a:xfrm>
          <a:prstGeom prst="rect">
            <a:avLst/>
          </a:prstGeom>
          <a:noFill/>
          <a:ln/>
        </p:spPr>
        <p:txBody>
          <a:bodyPr wrap="square" lIns="0" tIns="0" rIns="0" bIns="0" rtlCol="0" anchor="ctr"/>
          <a:lstStyle/>
          <a:p>
            <a:pPr algn="ctr" indent="0" marL="0">
              <a:buNone/>
            </a:pPr>
            <a:r>
              <a:rPr lang="en-US" sz="900" i="1" dirty="0">
                <a:solidFill>
                  <a:srgbClr val="8A8A8A"/>
                </a:solidFill>
                <a:latin typeface="Georgia" pitchFamily="34" charset="0"/>
                <a:ea typeface="Georgia" pitchFamily="34" charset="-122"/>
                <a:cs typeface="Georgia" pitchFamily="34" charset="-120"/>
              </a:rPr>
              <a:t>Dashed outline: ground-truth villains (held out). Crime edges withheld at test time.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2 · DATA</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Graph construction</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Heterogeneous directed multigraph; inverse edges materialised as distinct relations.</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6</a:t>
            </a:r>
            <a:endParaRPr lang="en-US" sz="1000" dirty="0"/>
          </a:p>
        </p:txBody>
      </p:sp>
      <p:sp>
        <p:nvSpPr>
          <p:cNvPr id="8" name="Text 6"/>
          <p:cNvSpPr/>
          <p:nvPr/>
        </p:nvSpPr>
        <p:spPr>
          <a:xfrm>
            <a:off x="640080" y="210312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NODE TYPES (4)</a:t>
            </a:r>
            <a:endParaRPr lang="en-US" sz="1000" dirty="0"/>
          </a:p>
        </p:txBody>
      </p:sp>
      <p:sp>
        <p:nvSpPr>
          <p:cNvPr id="9" name="Shape 7"/>
          <p:cNvSpPr/>
          <p:nvPr/>
        </p:nvSpPr>
        <p:spPr>
          <a:xfrm>
            <a:off x="640080" y="2423160"/>
            <a:ext cx="5486400" cy="685800"/>
          </a:xfrm>
          <a:prstGeom prst="rect">
            <a:avLst/>
          </a:prstGeom>
          <a:solidFill>
            <a:srgbClr val="F6F8FA"/>
          </a:solidFill>
          <a:ln/>
        </p:spPr>
      </p:sp>
      <p:sp>
        <p:nvSpPr>
          <p:cNvPr id="10" name="Text 8"/>
          <p:cNvSpPr/>
          <p:nvPr/>
        </p:nvSpPr>
        <p:spPr>
          <a:xfrm>
            <a:off x="822960" y="2514600"/>
            <a:ext cx="1828800" cy="292608"/>
          </a:xfrm>
          <a:prstGeom prst="rect">
            <a:avLst/>
          </a:prstGeom>
          <a:noFill/>
          <a:ln/>
        </p:spPr>
        <p:txBody>
          <a:bodyPr wrap="square" lIns="0" tIns="0" rIns="0" bIns="0" rtlCol="0" anchor="ctr"/>
          <a:lstStyle/>
          <a:p>
            <a:pPr indent="0" marL="0">
              <a:buNone/>
            </a:pPr>
            <a:r>
              <a:rPr lang="en-US" sz="1300" b="1" dirty="0">
                <a:solidFill>
                  <a:srgbClr val="13294B"/>
                </a:solidFill>
                <a:latin typeface="Georgia" pitchFamily="34" charset="0"/>
                <a:ea typeface="Georgia" pitchFamily="34" charset="-122"/>
                <a:cs typeface="Georgia" pitchFamily="34" charset="-120"/>
              </a:rPr>
              <a:t>Character</a:t>
            </a:r>
            <a:endParaRPr lang="en-US" sz="1300" dirty="0"/>
          </a:p>
        </p:txBody>
      </p:sp>
      <p:sp>
        <p:nvSpPr>
          <p:cNvPr id="11" name="Text 9"/>
          <p:cNvSpPr/>
          <p:nvPr/>
        </p:nvSpPr>
        <p:spPr>
          <a:xfrm>
            <a:off x="822960" y="2807208"/>
            <a:ext cx="5212080" cy="27432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Named person; carries class label.</a:t>
            </a:r>
            <a:endParaRPr lang="en-US" sz="1100" dirty="0"/>
          </a:p>
        </p:txBody>
      </p:sp>
      <p:sp>
        <p:nvSpPr>
          <p:cNvPr id="12" name="Shape 10"/>
          <p:cNvSpPr/>
          <p:nvPr/>
        </p:nvSpPr>
        <p:spPr>
          <a:xfrm>
            <a:off x="640080" y="3200400"/>
            <a:ext cx="5486400" cy="685800"/>
          </a:xfrm>
          <a:prstGeom prst="rect">
            <a:avLst/>
          </a:prstGeom>
          <a:solidFill>
            <a:srgbClr val="F6F8FA"/>
          </a:solidFill>
          <a:ln/>
        </p:spPr>
      </p:sp>
      <p:sp>
        <p:nvSpPr>
          <p:cNvPr id="13" name="Text 11"/>
          <p:cNvSpPr/>
          <p:nvPr/>
        </p:nvSpPr>
        <p:spPr>
          <a:xfrm>
            <a:off x="822960" y="3291840"/>
            <a:ext cx="1828800" cy="292608"/>
          </a:xfrm>
          <a:prstGeom prst="rect">
            <a:avLst/>
          </a:prstGeom>
          <a:noFill/>
          <a:ln/>
        </p:spPr>
        <p:txBody>
          <a:bodyPr wrap="square" lIns="0" tIns="0" rIns="0" bIns="0" rtlCol="0" anchor="ctr"/>
          <a:lstStyle/>
          <a:p>
            <a:pPr indent="0" marL="0">
              <a:buNone/>
            </a:pPr>
            <a:r>
              <a:rPr lang="en-US" sz="1300" b="1" dirty="0">
                <a:solidFill>
                  <a:srgbClr val="13294B"/>
                </a:solidFill>
                <a:latin typeface="Georgia" pitchFamily="34" charset="0"/>
                <a:ea typeface="Georgia" pitchFamily="34" charset="-122"/>
                <a:cs typeface="Georgia" pitchFamily="34" charset="-120"/>
              </a:rPr>
              <a:t>Location</a:t>
            </a:r>
            <a:endParaRPr lang="en-US" sz="1300" dirty="0"/>
          </a:p>
        </p:txBody>
      </p:sp>
      <p:sp>
        <p:nvSpPr>
          <p:cNvPr id="14" name="Text 12"/>
          <p:cNvSpPr/>
          <p:nvPr/>
        </p:nvSpPr>
        <p:spPr>
          <a:xfrm>
            <a:off x="822960" y="3584448"/>
            <a:ext cx="5212080" cy="27432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Place of crime, alibi, or residence.</a:t>
            </a:r>
            <a:endParaRPr lang="en-US" sz="1100" dirty="0"/>
          </a:p>
        </p:txBody>
      </p:sp>
      <p:sp>
        <p:nvSpPr>
          <p:cNvPr id="15" name="Shape 13"/>
          <p:cNvSpPr/>
          <p:nvPr/>
        </p:nvSpPr>
        <p:spPr>
          <a:xfrm>
            <a:off x="640080" y="3977640"/>
            <a:ext cx="5486400" cy="685800"/>
          </a:xfrm>
          <a:prstGeom prst="rect">
            <a:avLst/>
          </a:prstGeom>
          <a:solidFill>
            <a:srgbClr val="F6F8FA"/>
          </a:solidFill>
          <a:ln/>
        </p:spPr>
      </p:sp>
      <p:sp>
        <p:nvSpPr>
          <p:cNvPr id="16" name="Text 14"/>
          <p:cNvSpPr/>
          <p:nvPr/>
        </p:nvSpPr>
        <p:spPr>
          <a:xfrm>
            <a:off x="822960" y="4069080"/>
            <a:ext cx="1828800" cy="292608"/>
          </a:xfrm>
          <a:prstGeom prst="rect">
            <a:avLst/>
          </a:prstGeom>
          <a:noFill/>
          <a:ln/>
        </p:spPr>
        <p:txBody>
          <a:bodyPr wrap="square" lIns="0" tIns="0" rIns="0" bIns="0" rtlCol="0" anchor="ctr"/>
          <a:lstStyle/>
          <a:p>
            <a:pPr indent="0" marL="0">
              <a:buNone/>
            </a:pPr>
            <a:r>
              <a:rPr lang="en-US" sz="1300" b="1" dirty="0">
                <a:solidFill>
                  <a:srgbClr val="13294B"/>
                </a:solidFill>
                <a:latin typeface="Georgia" pitchFamily="34" charset="0"/>
                <a:ea typeface="Georgia" pitchFamily="34" charset="-122"/>
                <a:cs typeface="Georgia" pitchFamily="34" charset="-120"/>
              </a:rPr>
              <a:t>Occupation</a:t>
            </a:r>
            <a:endParaRPr lang="en-US" sz="1300" dirty="0"/>
          </a:p>
        </p:txBody>
      </p:sp>
      <p:sp>
        <p:nvSpPr>
          <p:cNvPr id="17" name="Text 15"/>
          <p:cNvSpPr/>
          <p:nvPr/>
        </p:nvSpPr>
        <p:spPr>
          <a:xfrm>
            <a:off x="822960" y="4361688"/>
            <a:ext cx="5212080" cy="27432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Profession or social role.</a:t>
            </a:r>
            <a:endParaRPr lang="en-US" sz="1100" dirty="0"/>
          </a:p>
        </p:txBody>
      </p:sp>
      <p:sp>
        <p:nvSpPr>
          <p:cNvPr id="18" name="Shape 16"/>
          <p:cNvSpPr/>
          <p:nvPr/>
        </p:nvSpPr>
        <p:spPr>
          <a:xfrm>
            <a:off x="640080" y="4754880"/>
            <a:ext cx="5486400" cy="685800"/>
          </a:xfrm>
          <a:prstGeom prst="rect">
            <a:avLst/>
          </a:prstGeom>
          <a:solidFill>
            <a:srgbClr val="F6F8FA"/>
          </a:solidFill>
          <a:ln/>
        </p:spPr>
      </p:sp>
      <p:sp>
        <p:nvSpPr>
          <p:cNvPr id="19" name="Text 17"/>
          <p:cNvSpPr/>
          <p:nvPr/>
        </p:nvSpPr>
        <p:spPr>
          <a:xfrm>
            <a:off x="822960" y="4846320"/>
            <a:ext cx="1828800" cy="292608"/>
          </a:xfrm>
          <a:prstGeom prst="rect">
            <a:avLst/>
          </a:prstGeom>
          <a:noFill/>
          <a:ln/>
        </p:spPr>
        <p:txBody>
          <a:bodyPr wrap="square" lIns="0" tIns="0" rIns="0" bIns="0" rtlCol="0" anchor="ctr"/>
          <a:lstStyle/>
          <a:p>
            <a:pPr indent="0" marL="0">
              <a:buNone/>
            </a:pPr>
            <a:r>
              <a:rPr lang="en-US" sz="1300" b="1" dirty="0">
                <a:solidFill>
                  <a:srgbClr val="13294B"/>
                </a:solidFill>
                <a:latin typeface="Georgia" pitchFamily="34" charset="0"/>
                <a:ea typeface="Georgia" pitchFamily="34" charset="-122"/>
                <a:cs typeface="Georgia" pitchFamily="34" charset="-120"/>
              </a:rPr>
              <a:t>Organisation</a:t>
            </a:r>
            <a:endParaRPr lang="en-US" sz="1300" dirty="0"/>
          </a:p>
        </p:txBody>
      </p:sp>
      <p:sp>
        <p:nvSpPr>
          <p:cNvPr id="20" name="Text 18"/>
          <p:cNvSpPr/>
          <p:nvPr/>
        </p:nvSpPr>
        <p:spPr>
          <a:xfrm>
            <a:off x="822960" y="5138928"/>
            <a:ext cx="5212080" cy="27432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Affiliation, employer, gang, etc.</a:t>
            </a:r>
            <a:endParaRPr lang="en-US" sz="1100" dirty="0"/>
          </a:p>
        </p:txBody>
      </p:sp>
      <p:sp>
        <p:nvSpPr>
          <p:cNvPr id="21" name="Text 19"/>
          <p:cNvSpPr/>
          <p:nvPr/>
        </p:nvSpPr>
        <p:spPr>
          <a:xfrm>
            <a:off x="6766560" y="2103120"/>
            <a:ext cx="50292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RELATION TYPES (8 + 8 INVERSES)</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66560" y="2423160"/>
          <a:ext cx="4754880" cy="914400"/>
        </p:xfrm>
        <a:graphic>
          <a:graphicData uri="http://schemas.openxmlformats.org/drawingml/2006/table">
            <a:tbl>
              <a:tblPr/>
              <a:tblGrid>
                <a:gridCol w="2377440"/>
                <a:gridCol w="2377440"/>
              </a:tblGrid>
              <a:tr h="310896">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Forward</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Inverse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knows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known_by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employs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employed_by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affiliated_with</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has_member</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located_at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location_of</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witnessed_at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witnessed</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alibi_at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alibi_for</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personal_bond</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(symmetric)</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10896">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accuses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accused_by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23" name="Text 20"/>
          <p:cNvSpPr/>
          <p:nvPr/>
        </p:nvSpPr>
        <p:spPr>
          <a:xfrm>
            <a:off x="640080" y="5989320"/>
            <a:ext cx="10911535" cy="365760"/>
          </a:xfrm>
          <a:prstGeom prst="rect">
            <a:avLst/>
          </a:prstGeom>
          <a:noFill/>
          <a:ln/>
        </p:spPr>
        <p:txBody>
          <a:bodyPr wrap="square" lIns="0" tIns="0" rIns="0" bIns="0" rtlCol="0" anchor="ctr"/>
          <a:lstStyle/>
          <a:p>
            <a:pPr algn="ctr" indent="0" marL="0">
              <a:buNone/>
            </a:pPr>
            <a:r>
              <a:rPr lang="en-US" sz="1200" i="1" dirty="0">
                <a:solidFill>
                  <a:srgbClr val="13294B"/>
                </a:solidFill>
                <a:latin typeface="Georgia" pitchFamily="34" charset="0"/>
                <a:ea typeface="Georgia" pitchFamily="34" charset="-122"/>
                <a:cs typeface="Georgia" pitchFamily="34" charset="-120"/>
              </a:rPr>
              <a:t>Inverses materialised as separate relations so the encoder can learn distinct transformations for each direction.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3 · MODEL</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R-GCN encoder</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Per-relation message passing with basis decomposition for parameter efficiency.</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7</a:t>
            </a:r>
            <a:endParaRPr lang="en-US" sz="1000" dirty="0"/>
          </a:p>
        </p:txBody>
      </p:sp>
      <p:sp>
        <p:nvSpPr>
          <p:cNvPr id="8" name="Shape 6"/>
          <p:cNvSpPr/>
          <p:nvPr/>
        </p:nvSpPr>
        <p:spPr>
          <a:xfrm>
            <a:off x="640080" y="1874520"/>
            <a:ext cx="10911535" cy="1783080"/>
          </a:xfrm>
          <a:prstGeom prst="rect">
            <a:avLst/>
          </a:prstGeom>
          <a:solidFill>
            <a:srgbClr val="EEF1F4"/>
          </a:solidFill>
          <a:ln/>
        </p:spPr>
      </p:sp>
      <p:sp>
        <p:nvSpPr>
          <p:cNvPr id="9" name="Shape 7"/>
          <p:cNvSpPr/>
          <p:nvPr/>
        </p:nvSpPr>
        <p:spPr>
          <a:xfrm>
            <a:off x="640080" y="1874520"/>
            <a:ext cx="54864" cy="1783080"/>
          </a:xfrm>
          <a:prstGeom prst="rect">
            <a:avLst/>
          </a:prstGeom>
          <a:solidFill>
            <a:srgbClr val="13294B"/>
          </a:solidFill>
          <a:ln/>
        </p:spPr>
      </p:sp>
      <p:sp>
        <p:nvSpPr>
          <p:cNvPr id="10" name="Text 8"/>
          <p:cNvSpPr/>
          <p:nvPr/>
        </p:nvSpPr>
        <p:spPr>
          <a:xfrm>
            <a:off x="868680" y="1984248"/>
            <a:ext cx="10362895"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DEFINITION 3.1 (R-GCN propagation rule)</a:t>
            </a:r>
            <a:endParaRPr lang="en-US" sz="1000" dirty="0"/>
          </a:p>
        </p:txBody>
      </p:sp>
      <p:pic>
        <p:nvPicPr>
          <p:cNvPr id="11" name="Image 0" descr="/home/claude/academic/eq/eq_propagation.png">    </p:cNvPr>
          <p:cNvPicPr>
            <a:picLocks noChangeAspect="1"/>
          </p:cNvPicPr>
          <p:nvPr/>
        </p:nvPicPr>
        <p:blipFill>
          <a:blip r:embed="rId1"/>
          <a:stretch>
            <a:fillRect/>
          </a:stretch>
        </p:blipFill>
        <p:spPr>
          <a:xfrm>
            <a:off x="3535528" y="2258568"/>
            <a:ext cx="5120640" cy="899369"/>
          </a:xfrm>
          <a:prstGeom prst="rect">
            <a:avLst/>
          </a:prstGeom>
        </p:spPr>
      </p:pic>
      <p:sp>
        <p:nvSpPr>
          <p:cNvPr id="12" name="Text 9"/>
          <p:cNvSpPr/>
          <p:nvPr/>
        </p:nvSpPr>
        <p:spPr>
          <a:xfrm>
            <a:off x="868680" y="3291840"/>
            <a:ext cx="10362895" cy="32004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Cambria" pitchFamily="34" charset="0"/>
                <a:ea typeface="Cambria" pitchFamily="34" charset="-122"/>
                <a:cs typeface="Cambria" pitchFamily="34" charset="-120"/>
              </a:rPr>
              <a:t>where </a:t>
            </a:r>
            <a:pPr indent="0" marL="0">
              <a:lnSpc>
                <a:spcPts val="1600"/>
              </a:lnSpc>
              <a:buNone/>
            </a:pPr>
            <a:r>
              <a:rPr lang="en-US" sz="1100" i="1" dirty="0">
                <a:solidFill>
                  <a:srgbClr val="4A4A4A"/>
                </a:solidFill>
                <a:latin typeface="Cambria" pitchFamily="34" charset="0"/>
                <a:ea typeface="Cambria" pitchFamily="34" charset="-122"/>
                <a:cs typeface="Cambria" pitchFamily="34" charset="-120"/>
              </a:rPr>
              <a:t>W</a:t>
            </a:r>
            <a:pPr indent="0" marL="0">
              <a:lnSpc>
                <a:spcPts val="1600"/>
              </a:lnSpc>
              <a:buNone/>
            </a:pPr>
            <a:r>
              <a:rPr lang="en-US" sz="900" i="1" baseline="-40000" dirty="0">
                <a:solidFill>
                  <a:srgbClr val="4A4A4A"/>
                </a:solidFill>
                <a:latin typeface="Cambria" pitchFamily="34" charset="0"/>
                <a:ea typeface="Cambria" pitchFamily="34" charset="-122"/>
                <a:cs typeface="Cambria" pitchFamily="34" charset="-120"/>
              </a:rPr>
              <a:t>r</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is the relation-specific weight matrix, </a:t>
            </a:r>
            <a:pPr indent="0" marL="0">
              <a:lnSpc>
                <a:spcPts val="1600"/>
              </a:lnSpc>
              <a:buNone/>
            </a:pPr>
            <a:r>
              <a:rPr lang="en-US" sz="1100" i="1" dirty="0">
                <a:solidFill>
                  <a:srgbClr val="4A4A4A"/>
                </a:solidFill>
                <a:latin typeface="Cambria" pitchFamily="34" charset="0"/>
                <a:ea typeface="Cambria" pitchFamily="34" charset="-122"/>
                <a:cs typeface="Cambria" pitchFamily="34" charset="-120"/>
              </a:rPr>
              <a:t>c</a:t>
            </a:r>
            <a:pPr indent="0" marL="0">
              <a:lnSpc>
                <a:spcPts val="1600"/>
              </a:lnSpc>
              <a:buNone/>
            </a:pPr>
            <a:r>
              <a:rPr lang="en-US" sz="900" i="1" baseline="-40000" dirty="0">
                <a:solidFill>
                  <a:srgbClr val="4A4A4A"/>
                </a:solidFill>
                <a:latin typeface="Cambria" pitchFamily="34" charset="0"/>
                <a:ea typeface="Cambria" pitchFamily="34" charset="-122"/>
                <a:cs typeface="Cambria" pitchFamily="34" charset="-120"/>
              </a:rPr>
              <a:t>i,r</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 |</a:t>
            </a:r>
            <a:pPr indent="0" marL="0">
              <a:lnSpc>
                <a:spcPts val="1600"/>
              </a:lnSpc>
              <a:buNone/>
            </a:pPr>
            <a:r>
              <a:rPr lang="en-US" sz="1100" i="1" dirty="0">
                <a:solidFill>
                  <a:srgbClr val="4A4A4A"/>
                </a:solidFill>
                <a:latin typeface="Cambria" pitchFamily="34" charset="0"/>
                <a:ea typeface="Cambria" pitchFamily="34" charset="-122"/>
                <a:cs typeface="Cambria" pitchFamily="34" charset="-120"/>
              </a:rPr>
              <a:t>N</a:t>
            </a:r>
            <a:pPr indent="0" marL="0">
              <a:lnSpc>
                <a:spcPts val="1600"/>
              </a:lnSpc>
              <a:buNone/>
            </a:pPr>
            <a:r>
              <a:rPr lang="en-US" sz="900" i="1" baseline="-40000" dirty="0">
                <a:solidFill>
                  <a:srgbClr val="4A4A4A"/>
                </a:solidFill>
                <a:latin typeface="Cambria" pitchFamily="34" charset="0"/>
                <a:ea typeface="Cambria" pitchFamily="34" charset="-122"/>
                <a:cs typeface="Cambria" pitchFamily="34" charset="-120"/>
              </a:rPr>
              <a:t>ir</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is the symmetric normalisation, and </a:t>
            </a:r>
            <a:pPr indent="0" marL="0">
              <a:lnSpc>
                <a:spcPts val="1600"/>
              </a:lnSpc>
              <a:buNone/>
            </a:pPr>
            <a:r>
              <a:rPr lang="en-US" sz="1100" i="1" dirty="0">
                <a:solidFill>
                  <a:srgbClr val="4A4A4A"/>
                </a:solidFill>
                <a:latin typeface="Cambria" pitchFamily="34" charset="0"/>
                <a:ea typeface="Cambria" pitchFamily="34" charset="-122"/>
                <a:cs typeface="Cambria" pitchFamily="34" charset="-120"/>
              </a:rPr>
              <a:t>W</a:t>
            </a:r>
            <a:pPr indent="0" marL="0">
              <a:lnSpc>
                <a:spcPts val="1600"/>
              </a:lnSpc>
              <a:buNone/>
            </a:pPr>
            <a:r>
              <a:rPr lang="en-US" sz="900" i="1" baseline="-40000" dirty="0">
                <a:solidFill>
                  <a:srgbClr val="4A4A4A"/>
                </a:solidFill>
                <a:latin typeface="Cambria" pitchFamily="34" charset="0"/>
                <a:ea typeface="Cambria" pitchFamily="34" charset="-122"/>
                <a:cs typeface="Cambria" pitchFamily="34" charset="-120"/>
              </a:rPr>
              <a:t>0</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is the self-loop transformation.</a:t>
            </a:r>
            <a:endParaRPr lang="en-US" sz="1100" dirty="0"/>
          </a:p>
        </p:txBody>
      </p:sp>
      <p:sp>
        <p:nvSpPr>
          <p:cNvPr id="13" name="Shape 10"/>
          <p:cNvSpPr/>
          <p:nvPr/>
        </p:nvSpPr>
        <p:spPr>
          <a:xfrm>
            <a:off x="640080" y="3931920"/>
            <a:ext cx="5486400" cy="2240280"/>
          </a:xfrm>
          <a:prstGeom prst="rect">
            <a:avLst/>
          </a:prstGeom>
          <a:solidFill>
            <a:srgbClr val="FFFFFF"/>
          </a:solidFill>
          <a:ln w="9525">
            <a:solidFill>
              <a:srgbClr val="C8CDD3"/>
            </a:solidFill>
            <a:prstDash val="solid"/>
          </a:ln>
        </p:spPr>
      </p:sp>
      <p:sp>
        <p:nvSpPr>
          <p:cNvPr id="14" name="Text 11"/>
          <p:cNvSpPr/>
          <p:nvPr/>
        </p:nvSpPr>
        <p:spPr>
          <a:xfrm>
            <a:off x="822960" y="4114800"/>
            <a:ext cx="5120640" cy="274320"/>
          </a:xfrm>
          <a:prstGeom prst="rect">
            <a:avLst/>
          </a:prstGeom>
          <a:noFill/>
          <a:ln/>
        </p:spPr>
        <p:txBody>
          <a:bodyPr wrap="square" lIns="0" tIns="0" rIns="0" bIns="0" rtlCol="0" anchor="ctr"/>
          <a:lstStyle/>
          <a:p>
            <a:pPr indent="0" marL="0">
              <a:buNone/>
            </a:pPr>
            <a:r>
              <a:rPr lang="en-US" sz="1000" b="1" spc="300" kern="0" dirty="0">
                <a:solidFill>
                  <a:srgbClr val="B85450"/>
                </a:solidFill>
                <a:latin typeface="Georgia" pitchFamily="34" charset="0"/>
                <a:ea typeface="Georgia" pitchFamily="34" charset="-122"/>
                <a:cs typeface="Georgia" pitchFamily="34" charset="-120"/>
              </a:rPr>
              <a:t>PROBLEM</a:t>
            </a:r>
            <a:endParaRPr lang="en-US" sz="1000" dirty="0"/>
          </a:p>
        </p:txBody>
      </p:sp>
      <p:sp>
        <p:nvSpPr>
          <p:cNvPr id="15" name="Text 12"/>
          <p:cNvSpPr/>
          <p:nvPr/>
        </p:nvSpPr>
        <p:spPr>
          <a:xfrm>
            <a:off x="822960" y="4389120"/>
            <a:ext cx="5120640" cy="365760"/>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Parameter explosion</a:t>
            </a:r>
            <a:endParaRPr lang="en-US" sz="1600" dirty="0"/>
          </a:p>
        </p:txBody>
      </p:sp>
      <p:sp>
        <p:nvSpPr>
          <p:cNvPr id="16" name="Text 13"/>
          <p:cNvSpPr/>
          <p:nvPr/>
        </p:nvSpPr>
        <p:spPr>
          <a:xfrm>
            <a:off x="822960" y="4846320"/>
            <a:ext cx="5120640" cy="118872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Cambria" pitchFamily="34" charset="0"/>
                <a:ea typeface="Cambria" pitchFamily="34" charset="-122"/>
                <a:cs typeface="Cambria" pitchFamily="34" charset="-120"/>
              </a:rPr>
              <a:t>With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R</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relations and hidden width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d</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the encoder needs </a:t>
            </a:r>
            <a:pPr indent="0" marL="0">
              <a:lnSpc>
                <a:spcPts val="1800"/>
              </a:lnSpc>
              <a:buNone/>
            </a:pPr>
            <a:r>
              <a:rPr lang="en-US" sz="1200" i="1" dirty="0">
                <a:solidFill>
                  <a:srgbClr val="13294B"/>
                </a:solidFill>
                <a:latin typeface="Cambria" pitchFamily="34" charset="0"/>
                <a:ea typeface="Cambria" pitchFamily="34" charset="-122"/>
                <a:cs typeface="Cambria" pitchFamily="34" charset="-120"/>
              </a:rPr>
              <a:t>R · d</a:t>
            </a:r>
            <a:pPr indent="0" marL="0">
              <a:lnSpc>
                <a:spcPts val="1800"/>
              </a:lnSpc>
              <a:buNone/>
            </a:pPr>
            <a:r>
              <a:rPr lang="en-US" sz="900" baseline="30000" dirty="0">
                <a:solidFill>
                  <a:srgbClr val="13294B"/>
                </a:solidFill>
                <a:latin typeface="Cambria" pitchFamily="34" charset="0"/>
                <a:ea typeface="Cambria" pitchFamily="34" charset="-122"/>
                <a:cs typeface="Cambria" pitchFamily="34" charset="-120"/>
              </a:rPr>
              <a:t>²</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parameters per layer. With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R</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 16 and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d</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 32, that is 16,384 parameters per layer for relation transformations alone.</a:t>
            </a:r>
            <a:endParaRPr lang="en-US" sz="1200" dirty="0"/>
          </a:p>
        </p:txBody>
      </p:sp>
      <p:sp>
        <p:nvSpPr>
          <p:cNvPr id="17" name="Shape 14"/>
          <p:cNvSpPr/>
          <p:nvPr/>
        </p:nvSpPr>
        <p:spPr>
          <a:xfrm>
            <a:off x="6400800" y="3931920"/>
            <a:ext cx="5120640" cy="2240280"/>
          </a:xfrm>
          <a:prstGeom prst="rect">
            <a:avLst/>
          </a:prstGeom>
          <a:solidFill>
            <a:srgbClr val="FFFFFF"/>
          </a:solidFill>
          <a:ln w="9525">
            <a:solidFill>
              <a:srgbClr val="C8CDD3"/>
            </a:solidFill>
            <a:prstDash val="solid"/>
          </a:ln>
        </p:spPr>
      </p:sp>
      <p:sp>
        <p:nvSpPr>
          <p:cNvPr id="18" name="Text 15"/>
          <p:cNvSpPr/>
          <p:nvPr/>
        </p:nvSpPr>
        <p:spPr>
          <a:xfrm>
            <a:off x="6583680" y="4114800"/>
            <a:ext cx="4754880" cy="274320"/>
          </a:xfrm>
          <a:prstGeom prst="rect">
            <a:avLst/>
          </a:prstGeom>
          <a:noFill/>
          <a:ln/>
        </p:spPr>
        <p:txBody>
          <a:bodyPr wrap="square" lIns="0" tIns="0" rIns="0" bIns="0" rtlCol="0" anchor="ctr"/>
          <a:lstStyle/>
          <a:p>
            <a:pPr indent="0" marL="0">
              <a:buNone/>
            </a:pPr>
            <a:r>
              <a:rPr lang="en-US" sz="1000" b="1" spc="300" kern="0" dirty="0">
                <a:solidFill>
                  <a:srgbClr val="3D7068"/>
                </a:solidFill>
                <a:latin typeface="Georgia" pitchFamily="34" charset="0"/>
                <a:ea typeface="Georgia" pitchFamily="34" charset="-122"/>
                <a:cs typeface="Georgia" pitchFamily="34" charset="-120"/>
              </a:rPr>
              <a:t>SOLUTION</a:t>
            </a:r>
            <a:endParaRPr lang="en-US" sz="1000" dirty="0"/>
          </a:p>
        </p:txBody>
      </p:sp>
      <p:sp>
        <p:nvSpPr>
          <p:cNvPr id="19" name="Text 16"/>
          <p:cNvSpPr/>
          <p:nvPr/>
        </p:nvSpPr>
        <p:spPr>
          <a:xfrm>
            <a:off x="6583680" y="4389120"/>
            <a:ext cx="4754880" cy="365760"/>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Basis decomposition</a:t>
            </a:r>
            <a:endParaRPr lang="en-US" sz="1600" dirty="0"/>
          </a:p>
        </p:txBody>
      </p:sp>
      <p:pic>
        <p:nvPicPr>
          <p:cNvPr id="20" name="Image 1" descr="/home/claude/academic/eq/eq_basis.png">    </p:cNvPr>
          <p:cNvPicPr>
            <a:picLocks noChangeAspect="1"/>
          </p:cNvPicPr>
          <p:nvPr/>
        </p:nvPicPr>
        <p:blipFill>
          <a:blip r:embed="rId2"/>
          <a:stretch>
            <a:fillRect/>
          </a:stretch>
        </p:blipFill>
        <p:spPr>
          <a:xfrm>
            <a:off x="8183880" y="4846320"/>
            <a:ext cx="1554480" cy="648632"/>
          </a:xfrm>
          <a:prstGeom prst="rect">
            <a:avLst/>
          </a:prstGeom>
        </p:spPr>
      </p:pic>
      <p:sp>
        <p:nvSpPr>
          <p:cNvPr id="21" name="Text 17"/>
          <p:cNvSpPr/>
          <p:nvPr/>
        </p:nvSpPr>
        <p:spPr>
          <a:xfrm>
            <a:off x="6583680" y="5577840"/>
            <a:ext cx="4754880" cy="59436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Cambria" pitchFamily="34" charset="0"/>
                <a:ea typeface="Cambria" pitchFamily="34" charset="-122"/>
                <a:cs typeface="Cambria" pitchFamily="34" charset="-120"/>
              </a:rPr>
              <a:t>Share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B</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basis matrices across all relations;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a</a:t>
            </a:r>
            <a:pPr indent="0" marL="0">
              <a:lnSpc>
                <a:spcPts val="1800"/>
              </a:lnSpc>
              <a:buNone/>
            </a:pPr>
            <a:r>
              <a:rPr lang="en-US" sz="900" i="1" baseline="-40000" dirty="0">
                <a:solidFill>
                  <a:srgbClr val="4A4A4A"/>
                </a:solidFill>
                <a:latin typeface="Cambria" pitchFamily="34" charset="0"/>
                <a:ea typeface="Cambria" pitchFamily="34" charset="-122"/>
                <a:cs typeface="Cambria" pitchFamily="34" charset="-120"/>
              </a:rPr>
              <a:t>rb</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are scalar coefficients. </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With </a:t>
            </a:r>
            <a:pPr indent="0" marL="0">
              <a:lnSpc>
                <a:spcPts val="1800"/>
              </a:lnSpc>
              <a:buNone/>
            </a:pPr>
            <a:r>
              <a:rPr lang="en-US" sz="1200" i="1" dirty="0">
                <a:solidFill>
                  <a:srgbClr val="4A4A4A"/>
                </a:solidFill>
                <a:latin typeface="Cambria" pitchFamily="34" charset="0"/>
                <a:ea typeface="Cambria" pitchFamily="34" charset="-122"/>
                <a:cs typeface="Cambria" pitchFamily="34" charset="-120"/>
              </a:rPr>
              <a:t>B</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 30, parameter count drops to </a:t>
            </a:r>
            <a:pPr indent="0" marL="0">
              <a:lnSpc>
                <a:spcPts val="1800"/>
              </a:lnSpc>
              <a:buNone/>
            </a:pPr>
            <a:r>
              <a:rPr lang="en-US" sz="1200" i="1" dirty="0">
                <a:solidFill>
                  <a:srgbClr val="13294B"/>
                </a:solidFill>
                <a:latin typeface="Cambria" pitchFamily="34" charset="0"/>
                <a:ea typeface="Cambria" pitchFamily="34" charset="-122"/>
                <a:cs typeface="Cambria" pitchFamily="34" charset="-120"/>
              </a:rPr>
              <a:t>B · d</a:t>
            </a:r>
            <a:pPr indent="0" marL="0">
              <a:lnSpc>
                <a:spcPts val="1800"/>
              </a:lnSpc>
              <a:buNone/>
            </a:pPr>
            <a:r>
              <a:rPr lang="en-US" sz="900" baseline="30000" dirty="0">
                <a:solidFill>
                  <a:srgbClr val="13294B"/>
                </a:solidFill>
                <a:latin typeface="Cambria" pitchFamily="34" charset="0"/>
                <a:ea typeface="Cambria" pitchFamily="34" charset="-122"/>
                <a:cs typeface="Cambria" pitchFamily="34" charset="-120"/>
              </a:rPr>
              <a:t>²</a:t>
            </a:r>
            <a:pPr indent="0" marL="0">
              <a:lnSpc>
                <a:spcPts val="1800"/>
              </a:lnSpc>
              <a:buNone/>
            </a:pPr>
            <a:r>
              <a:rPr lang="en-US" sz="1200" dirty="0">
                <a:solidFill>
                  <a:srgbClr val="13294B"/>
                </a:solidFill>
                <a:latin typeface="Cambria" pitchFamily="34" charset="0"/>
                <a:ea typeface="Cambria" pitchFamily="34" charset="-122"/>
                <a:cs typeface="Cambria" pitchFamily="34" charset="-120"/>
              </a:rPr>
              <a:t> + </a:t>
            </a:r>
            <a:pPr indent="0" marL="0">
              <a:lnSpc>
                <a:spcPts val="1800"/>
              </a:lnSpc>
              <a:buNone/>
            </a:pPr>
            <a:r>
              <a:rPr lang="en-US" sz="1200" i="1" dirty="0">
                <a:solidFill>
                  <a:srgbClr val="13294B"/>
                </a:solidFill>
                <a:latin typeface="Cambria" pitchFamily="34" charset="0"/>
                <a:ea typeface="Cambria" pitchFamily="34" charset="-122"/>
                <a:cs typeface="Cambria" pitchFamily="34" charset="-120"/>
              </a:rPr>
              <a:t>R · B</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3 · MODEL</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Two decoders, one encoder</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Multi-task training: link prediction and node classification share an R-GCN encoder.</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8</a:t>
            </a:r>
            <a:endParaRPr lang="en-US" sz="1000" dirty="0"/>
          </a:p>
        </p:txBody>
      </p:sp>
      <p:sp>
        <p:nvSpPr>
          <p:cNvPr id="8" name="Shape 6"/>
          <p:cNvSpPr/>
          <p:nvPr/>
        </p:nvSpPr>
        <p:spPr>
          <a:xfrm>
            <a:off x="5090008" y="2240280"/>
            <a:ext cx="2011680" cy="914400"/>
          </a:xfrm>
          <a:prstGeom prst="rect">
            <a:avLst/>
          </a:prstGeom>
          <a:solidFill>
            <a:srgbClr val="EEF1F4"/>
          </a:solidFill>
          <a:ln/>
        </p:spPr>
      </p:sp>
      <p:sp>
        <p:nvSpPr>
          <p:cNvPr id="9" name="Shape 7"/>
          <p:cNvSpPr/>
          <p:nvPr/>
        </p:nvSpPr>
        <p:spPr>
          <a:xfrm>
            <a:off x="5090008" y="2240280"/>
            <a:ext cx="54864" cy="914400"/>
          </a:xfrm>
          <a:prstGeom prst="rect">
            <a:avLst/>
          </a:prstGeom>
          <a:solidFill>
            <a:srgbClr val="13294B"/>
          </a:solidFill>
          <a:ln/>
        </p:spPr>
      </p:sp>
      <p:sp>
        <p:nvSpPr>
          <p:cNvPr id="10" name="Text 8"/>
          <p:cNvSpPr/>
          <p:nvPr/>
        </p:nvSpPr>
        <p:spPr>
          <a:xfrm>
            <a:off x="5227168" y="2404872"/>
            <a:ext cx="1828800" cy="292608"/>
          </a:xfrm>
          <a:prstGeom prst="rect">
            <a:avLst/>
          </a:prstGeom>
          <a:noFill/>
          <a:ln/>
        </p:spPr>
        <p:txBody>
          <a:bodyPr wrap="square" lIns="0" tIns="0" rIns="0" bIns="0" rtlCol="0" anchor="ctr"/>
          <a:lstStyle/>
          <a:p>
            <a:pPr algn="ctr" indent="0" marL="0">
              <a:buNone/>
            </a:pPr>
            <a:r>
              <a:rPr lang="en-US" sz="1400" b="1" dirty="0">
                <a:solidFill>
                  <a:srgbClr val="13294B"/>
                </a:solidFill>
                <a:latin typeface="Georgia" pitchFamily="34" charset="0"/>
                <a:ea typeface="Georgia" pitchFamily="34" charset="-122"/>
                <a:cs typeface="Georgia" pitchFamily="34" charset="-120"/>
              </a:rPr>
              <a:t>R-GCN encoder</a:t>
            </a:r>
            <a:endParaRPr lang="en-US" sz="1400" dirty="0"/>
          </a:p>
        </p:txBody>
      </p:sp>
      <p:pic>
        <p:nvPicPr>
          <p:cNvPr id="11" name="Image 0" descr="/home/claude/academic/eq/eq_h_shared.png">    </p:cNvPr>
          <p:cNvPicPr>
            <a:picLocks noChangeAspect="1"/>
          </p:cNvPicPr>
          <p:nvPr/>
        </p:nvPicPr>
        <p:blipFill>
          <a:blip r:embed="rId1"/>
          <a:stretch>
            <a:fillRect/>
          </a:stretch>
        </p:blipFill>
        <p:spPr>
          <a:xfrm>
            <a:off x="5752948" y="2743200"/>
            <a:ext cx="777240" cy="254406"/>
          </a:xfrm>
          <a:prstGeom prst="rect">
            <a:avLst/>
          </a:prstGeom>
        </p:spPr>
      </p:pic>
      <p:sp>
        <p:nvSpPr>
          <p:cNvPr id="12" name="Text 9"/>
          <p:cNvSpPr/>
          <p:nvPr/>
        </p:nvSpPr>
        <p:spPr>
          <a:xfrm>
            <a:off x="5227168" y="2953512"/>
            <a:ext cx="1828800" cy="182880"/>
          </a:xfrm>
          <a:prstGeom prst="rect">
            <a:avLst/>
          </a:prstGeom>
          <a:noFill/>
          <a:ln/>
        </p:spPr>
        <p:txBody>
          <a:bodyPr wrap="square" lIns="0" tIns="0" rIns="0" bIns="0" rtlCol="0" anchor="ctr"/>
          <a:lstStyle/>
          <a:p>
            <a:pPr algn="ctr" indent="0" marL="0">
              <a:buNone/>
            </a:pPr>
            <a:r>
              <a:rPr lang="en-US" sz="900" i="1" dirty="0">
                <a:solidFill>
                  <a:srgbClr val="4A4A4A"/>
                </a:solidFill>
                <a:latin typeface="Georgia" pitchFamily="34" charset="0"/>
                <a:ea typeface="Georgia" pitchFamily="34" charset="-122"/>
                <a:cs typeface="Georgia" pitchFamily="34" charset="-120"/>
              </a:rPr>
              <a:t>shared embedding</a:t>
            </a:r>
            <a:endParaRPr lang="en-US" sz="900" dirty="0"/>
          </a:p>
        </p:txBody>
      </p:sp>
      <p:sp>
        <p:nvSpPr>
          <p:cNvPr id="13" name="Shape 10"/>
          <p:cNvSpPr/>
          <p:nvPr/>
        </p:nvSpPr>
        <p:spPr>
          <a:xfrm>
            <a:off x="5090008" y="2697480"/>
            <a:ext cx="-1554480" cy="0"/>
          </a:xfrm>
          <a:prstGeom prst="line">
            <a:avLst/>
          </a:prstGeom>
          <a:noFill/>
          <a:ln w="9525">
            <a:solidFill>
              <a:srgbClr val="4A6A95"/>
            </a:solidFill>
            <a:prstDash val="solid"/>
            <a:tailEnd type="triangle"/>
          </a:ln>
        </p:spPr>
      </p:sp>
      <p:sp>
        <p:nvSpPr>
          <p:cNvPr id="14" name="Shape 11"/>
          <p:cNvSpPr/>
          <p:nvPr/>
        </p:nvSpPr>
        <p:spPr>
          <a:xfrm>
            <a:off x="7101688" y="2697480"/>
            <a:ext cx="1554480" cy="0"/>
          </a:xfrm>
          <a:prstGeom prst="line">
            <a:avLst/>
          </a:prstGeom>
          <a:noFill/>
          <a:ln w="9525">
            <a:solidFill>
              <a:srgbClr val="4A6A95"/>
            </a:solidFill>
            <a:prstDash val="solid"/>
            <a:tailEnd type="triangle"/>
          </a:ln>
        </p:spPr>
      </p:sp>
      <p:sp>
        <p:nvSpPr>
          <p:cNvPr id="15" name="Text 12"/>
          <p:cNvSpPr/>
          <p:nvPr/>
        </p:nvSpPr>
        <p:spPr>
          <a:xfrm>
            <a:off x="0" y="1691640"/>
            <a:ext cx="12191695" cy="219456"/>
          </a:xfrm>
          <a:prstGeom prst="rect">
            <a:avLst/>
          </a:prstGeom>
          <a:noFill/>
          <a:ln/>
        </p:spPr>
        <p:txBody>
          <a:bodyPr wrap="square" lIns="0" tIns="0" rIns="0" bIns="0" rtlCol="0" anchor="ctr"/>
          <a:lstStyle/>
          <a:p>
            <a:pPr algn="ctr" indent="0" marL="0">
              <a:buNone/>
            </a:pPr>
            <a:r>
              <a:rPr lang="en-US" sz="1100" i="1" dirty="0">
                <a:solidFill>
                  <a:srgbClr val="8A8A8A"/>
                </a:solidFill>
                <a:latin typeface="Georgia" pitchFamily="34" charset="0"/>
                <a:ea typeface="Georgia" pitchFamily="34" charset="-122"/>
                <a:cs typeface="Georgia" pitchFamily="34" charset="-120"/>
              </a:rPr>
              <a:t>Joint loss</a:t>
            </a:r>
            <a:endParaRPr lang="en-US" sz="1100" dirty="0"/>
          </a:p>
        </p:txBody>
      </p:sp>
      <p:pic>
        <p:nvPicPr>
          <p:cNvPr id="16" name="Image 1" descr="/home/claude/academic/eq/eq_joint.png">    </p:cNvPr>
          <p:cNvPicPr>
            <a:picLocks noChangeAspect="1"/>
          </p:cNvPicPr>
          <p:nvPr/>
        </p:nvPicPr>
        <p:blipFill>
          <a:blip r:embed="rId2"/>
          <a:stretch>
            <a:fillRect/>
          </a:stretch>
        </p:blipFill>
        <p:spPr>
          <a:xfrm>
            <a:off x="5181448" y="1920240"/>
            <a:ext cx="1828800" cy="176981"/>
          </a:xfrm>
          <a:prstGeom prst="rect">
            <a:avLst/>
          </a:prstGeom>
        </p:spPr>
      </p:pic>
      <p:sp>
        <p:nvSpPr>
          <p:cNvPr id="17" name="Shape 13"/>
          <p:cNvSpPr/>
          <p:nvPr/>
        </p:nvSpPr>
        <p:spPr>
          <a:xfrm>
            <a:off x="731520" y="3703320"/>
            <a:ext cx="4998568" cy="2331720"/>
          </a:xfrm>
          <a:prstGeom prst="rect">
            <a:avLst/>
          </a:prstGeom>
          <a:solidFill>
            <a:srgbClr val="FFFFFF"/>
          </a:solidFill>
          <a:ln w="9525">
            <a:solidFill>
              <a:srgbClr val="C8CDD3"/>
            </a:solidFill>
            <a:prstDash val="solid"/>
          </a:ln>
        </p:spPr>
      </p:sp>
      <p:sp>
        <p:nvSpPr>
          <p:cNvPr id="18" name="Text 14"/>
          <p:cNvSpPr/>
          <p:nvPr/>
        </p:nvSpPr>
        <p:spPr>
          <a:xfrm>
            <a:off x="1005840" y="3886200"/>
            <a:ext cx="4449928"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3.1 · LINK PREDICTION</a:t>
            </a:r>
            <a:endParaRPr lang="en-US" sz="1000" dirty="0"/>
          </a:p>
        </p:txBody>
      </p:sp>
      <p:sp>
        <p:nvSpPr>
          <p:cNvPr id="19" name="Text 15"/>
          <p:cNvSpPr/>
          <p:nvPr/>
        </p:nvSpPr>
        <p:spPr>
          <a:xfrm>
            <a:off x="1005840" y="4206240"/>
            <a:ext cx="4449928" cy="411480"/>
          </a:xfrm>
          <a:prstGeom prst="rect">
            <a:avLst/>
          </a:prstGeom>
          <a:noFill/>
          <a:ln/>
        </p:spPr>
        <p:txBody>
          <a:bodyPr wrap="square" lIns="0" tIns="0" rIns="0" bIns="0" rtlCol="0" anchor="ctr"/>
          <a:lstStyle/>
          <a:p>
            <a:pPr indent="0" marL="0">
              <a:buNone/>
            </a:pPr>
            <a:r>
              <a:rPr lang="en-US" sz="1800" b="1" dirty="0">
                <a:solidFill>
                  <a:srgbClr val="13294B"/>
                </a:solidFill>
                <a:latin typeface="Georgia" pitchFamily="34" charset="0"/>
                <a:ea typeface="Georgia" pitchFamily="34" charset="-122"/>
                <a:cs typeface="Georgia" pitchFamily="34" charset="-120"/>
              </a:rPr>
              <a:t>DistMult decoder</a:t>
            </a:r>
            <a:endParaRPr lang="en-US" sz="1800" dirty="0"/>
          </a:p>
        </p:txBody>
      </p:sp>
      <p:pic>
        <p:nvPicPr>
          <p:cNvPr id="20" name="Image 2" descr="/home/claude/academic/eq/eq_distmult.png">    </p:cNvPr>
          <p:cNvPicPr>
            <a:picLocks noChangeAspect="1"/>
          </p:cNvPicPr>
          <p:nvPr/>
        </p:nvPicPr>
        <p:blipFill>
          <a:blip r:embed="rId3"/>
          <a:stretch>
            <a:fillRect/>
          </a:stretch>
        </p:blipFill>
        <p:spPr>
          <a:xfrm>
            <a:off x="1859204" y="4709160"/>
            <a:ext cx="2743200" cy="326837"/>
          </a:xfrm>
          <a:prstGeom prst="rect">
            <a:avLst/>
          </a:prstGeom>
        </p:spPr>
      </p:pic>
      <p:sp>
        <p:nvSpPr>
          <p:cNvPr id="21" name="Text 16"/>
          <p:cNvSpPr/>
          <p:nvPr/>
        </p:nvSpPr>
        <p:spPr>
          <a:xfrm>
            <a:off x="1005840" y="5166360"/>
            <a:ext cx="4449928" cy="77724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Per-relation diagonal Rᵣ. Sigmoid cross-entropy on observed vs. corrupted triples.</a:t>
            </a:r>
            <a:endParaRPr lang="en-US" sz="1200" dirty="0"/>
          </a:p>
        </p:txBody>
      </p:sp>
      <p:sp>
        <p:nvSpPr>
          <p:cNvPr id="22" name="Shape 17"/>
          <p:cNvSpPr/>
          <p:nvPr/>
        </p:nvSpPr>
        <p:spPr>
          <a:xfrm>
            <a:off x="6735928" y="3703320"/>
            <a:ext cx="4998568" cy="2331720"/>
          </a:xfrm>
          <a:prstGeom prst="rect">
            <a:avLst/>
          </a:prstGeom>
          <a:solidFill>
            <a:srgbClr val="FFFFFF"/>
          </a:solidFill>
          <a:ln w="9525">
            <a:solidFill>
              <a:srgbClr val="C8CDD3"/>
            </a:solidFill>
            <a:prstDash val="solid"/>
          </a:ln>
        </p:spPr>
      </p:sp>
      <p:sp>
        <p:nvSpPr>
          <p:cNvPr id="23" name="Text 18"/>
          <p:cNvSpPr/>
          <p:nvPr/>
        </p:nvSpPr>
        <p:spPr>
          <a:xfrm>
            <a:off x="7010248" y="3886200"/>
            <a:ext cx="4449928"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3.2 · NODE CLASSIFICATION</a:t>
            </a:r>
            <a:endParaRPr lang="en-US" sz="1000" dirty="0"/>
          </a:p>
        </p:txBody>
      </p:sp>
      <p:sp>
        <p:nvSpPr>
          <p:cNvPr id="24" name="Text 19"/>
          <p:cNvSpPr/>
          <p:nvPr/>
        </p:nvSpPr>
        <p:spPr>
          <a:xfrm>
            <a:off x="7010248" y="4206240"/>
            <a:ext cx="4449928" cy="411480"/>
          </a:xfrm>
          <a:prstGeom prst="rect">
            <a:avLst/>
          </a:prstGeom>
          <a:noFill/>
          <a:ln/>
        </p:spPr>
        <p:txBody>
          <a:bodyPr wrap="square" lIns="0" tIns="0" rIns="0" bIns="0" rtlCol="0" anchor="ctr"/>
          <a:lstStyle/>
          <a:p>
            <a:pPr indent="0" marL="0">
              <a:buNone/>
            </a:pPr>
            <a:r>
              <a:rPr lang="en-US" sz="1800" b="1" dirty="0">
                <a:solidFill>
                  <a:srgbClr val="13294B"/>
                </a:solidFill>
                <a:latin typeface="Georgia" pitchFamily="34" charset="0"/>
                <a:ea typeface="Georgia" pitchFamily="34" charset="-122"/>
                <a:cs typeface="Georgia" pitchFamily="34" charset="-120"/>
              </a:rPr>
              <a:t>Linear softmax head</a:t>
            </a:r>
            <a:endParaRPr lang="en-US" sz="1800" dirty="0"/>
          </a:p>
        </p:txBody>
      </p:sp>
      <p:pic>
        <p:nvPicPr>
          <p:cNvPr id="25" name="Image 3" descr="/home/claude/academic/eq/eq_softmax.png">    </p:cNvPr>
          <p:cNvPicPr>
            <a:picLocks noChangeAspect="1"/>
          </p:cNvPicPr>
          <p:nvPr/>
        </p:nvPicPr>
        <p:blipFill>
          <a:blip r:embed="rId4"/>
          <a:stretch>
            <a:fillRect/>
          </a:stretch>
        </p:blipFill>
        <p:spPr>
          <a:xfrm>
            <a:off x="7863611" y="4709160"/>
            <a:ext cx="2743200" cy="501805"/>
          </a:xfrm>
          <a:prstGeom prst="rect">
            <a:avLst/>
          </a:prstGeom>
        </p:spPr>
      </p:pic>
      <p:sp>
        <p:nvSpPr>
          <p:cNvPr id="26" name="Text 20"/>
          <p:cNvSpPr/>
          <p:nvPr/>
        </p:nvSpPr>
        <p:spPr>
          <a:xfrm>
            <a:off x="7010248" y="5166360"/>
            <a:ext cx="4449928" cy="77724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Cross-entropy on labelled nodes; unlabelled nodes still propagate messages.</a:t>
            </a:r>
            <a:endParaRPr lang="en-US" sz="1200" dirty="0"/>
          </a:p>
        </p:txBody>
      </p:sp>
      <p:sp>
        <p:nvSpPr>
          <p:cNvPr id="27" name="Text 21"/>
          <p:cNvSpPr/>
          <p:nvPr/>
        </p:nvSpPr>
        <p:spPr>
          <a:xfrm>
            <a:off x="640080" y="6172200"/>
            <a:ext cx="10911535" cy="274320"/>
          </a:xfrm>
          <a:prstGeom prst="rect">
            <a:avLst/>
          </a:prstGeom>
          <a:noFill/>
          <a:ln/>
        </p:spPr>
        <p:txBody>
          <a:bodyPr wrap="square" lIns="0" tIns="0" rIns="0" bIns="0" rtlCol="0" anchor="ctr"/>
          <a:lstStyle/>
          <a:p>
            <a:pPr algn="ctr" indent="0" marL="0">
              <a:buNone/>
            </a:pPr>
            <a:r>
              <a:rPr lang="en-US" sz="1100" b="1" i="1" dirty="0">
                <a:solidFill>
                  <a:srgbClr val="13294B"/>
                </a:solidFill>
                <a:latin typeface="Georgia" pitchFamily="34" charset="0"/>
                <a:ea typeface="Georgia" pitchFamily="34" charset="-122"/>
                <a:cs typeface="Georgia" pitchFamily="34" charset="-120"/>
              </a:rPr>
              <a:t>Remark.  </a:t>
            </a:r>
            <a:pPr algn="ctr" indent="0" marL="0">
              <a:buNone/>
            </a:pPr>
            <a:r>
              <a:rPr lang="en-US" sz="1100" i="1" dirty="0">
                <a:solidFill>
                  <a:srgbClr val="4A4A4A"/>
                </a:solidFill>
                <a:latin typeface="Georgia" pitchFamily="34" charset="0"/>
                <a:ea typeface="Georgia" pitchFamily="34" charset="-122"/>
                <a:cs typeface="Georgia" pitchFamily="34" charset="-120"/>
              </a:rPr>
              <a:t>Link prediction regularises the shared embeddings — the encoder must capture relational structure beyond what is discriminative for classification.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4 · TRAINING</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Training procedure</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Negative sampling, edge masking, and class balance handled at the loss level.</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9</a:t>
            </a:r>
            <a:endParaRPr lang="en-US" sz="1000" dirty="0"/>
          </a:p>
        </p:txBody>
      </p:sp>
      <p:sp>
        <p:nvSpPr>
          <p:cNvPr id="8" name="Shape 6"/>
          <p:cNvSpPr/>
          <p:nvPr/>
        </p:nvSpPr>
        <p:spPr>
          <a:xfrm>
            <a:off x="640080" y="2103120"/>
            <a:ext cx="5349240" cy="1874520"/>
          </a:xfrm>
          <a:prstGeom prst="rect">
            <a:avLst/>
          </a:prstGeom>
          <a:solidFill>
            <a:srgbClr val="F6F8FA"/>
          </a:solidFill>
          <a:ln w="9525">
            <a:solidFill>
              <a:srgbClr val="C8CDD3"/>
            </a:solidFill>
            <a:prstDash val="solid"/>
          </a:ln>
        </p:spPr>
      </p:sp>
      <p:sp>
        <p:nvSpPr>
          <p:cNvPr id="9" name="Text 7"/>
          <p:cNvSpPr/>
          <p:nvPr/>
        </p:nvSpPr>
        <p:spPr>
          <a:xfrm>
            <a:off x="868680" y="226771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 4.1</a:t>
            </a:r>
            <a:endParaRPr lang="en-US" sz="1000" dirty="0"/>
          </a:p>
        </p:txBody>
      </p:sp>
      <p:sp>
        <p:nvSpPr>
          <p:cNvPr id="10" name="Text 8"/>
          <p:cNvSpPr/>
          <p:nvPr/>
        </p:nvSpPr>
        <p:spPr>
          <a:xfrm>
            <a:off x="868680" y="2514600"/>
            <a:ext cx="4892040" cy="384048"/>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Negative sampling</a:t>
            </a:r>
            <a:endParaRPr lang="en-US" sz="1600" dirty="0"/>
          </a:p>
        </p:txBody>
      </p:sp>
      <p:sp>
        <p:nvSpPr>
          <p:cNvPr id="11" name="Text 9"/>
          <p:cNvSpPr/>
          <p:nvPr/>
        </p:nvSpPr>
        <p:spPr>
          <a:xfrm>
            <a:off x="868680" y="297180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For every observed triple (vᵢ, r, vⱼ), draw ω = 1 corrupted triple by perturbing the head or tail uniformly. DistMult is trained on observed-vs-corrupted as a binary task.</a:t>
            </a:r>
            <a:endParaRPr lang="en-US" sz="1100" dirty="0"/>
          </a:p>
        </p:txBody>
      </p:sp>
      <p:sp>
        <p:nvSpPr>
          <p:cNvPr id="12" name="Shape 10"/>
          <p:cNvSpPr/>
          <p:nvPr/>
        </p:nvSpPr>
        <p:spPr>
          <a:xfrm>
            <a:off x="6217920" y="2103120"/>
            <a:ext cx="5349240" cy="1874520"/>
          </a:xfrm>
          <a:prstGeom prst="rect">
            <a:avLst/>
          </a:prstGeom>
          <a:solidFill>
            <a:srgbClr val="F6F8FA"/>
          </a:solidFill>
          <a:ln w="9525">
            <a:solidFill>
              <a:srgbClr val="C8CDD3"/>
            </a:solidFill>
            <a:prstDash val="solid"/>
          </a:ln>
        </p:spPr>
      </p:sp>
      <p:sp>
        <p:nvSpPr>
          <p:cNvPr id="13" name="Text 11"/>
          <p:cNvSpPr/>
          <p:nvPr/>
        </p:nvSpPr>
        <p:spPr>
          <a:xfrm>
            <a:off x="6446520" y="226771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 4.2</a:t>
            </a:r>
            <a:endParaRPr lang="en-US" sz="1000" dirty="0"/>
          </a:p>
        </p:txBody>
      </p:sp>
      <p:sp>
        <p:nvSpPr>
          <p:cNvPr id="14" name="Text 12"/>
          <p:cNvSpPr/>
          <p:nvPr/>
        </p:nvSpPr>
        <p:spPr>
          <a:xfrm>
            <a:off x="6446520" y="2514600"/>
            <a:ext cx="4892040" cy="384048"/>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Bidirectional message passing</a:t>
            </a:r>
            <a:endParaRPr lang="en-US" sz="1600" dirty="0"/>
          </a:p>
        </p:txBody>
      </p:sp>
      <p:sp>
        <p:nvSpPr>
          <p:cNvPr id="15" name="Text 13"/>
          <p:cNvSpPr/>
          <p:nvPr/>
        </p:nvSpPr>
        <p:spPr>
          <a:xfrm>
            <a:off x="6446520" y="297180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Inverse edges materialised as separate relations so the encoder can learn distinct transformations per direction; this matters for asymmetric relations like accuses.</a:t>
            </a:r>
            <a:endParaRPr lang="en-US" sz="1100" dirty="0"/>
          </a:p>
        </p:txBody>
      </p:sp>
      <p:sp>
        <p:nvSpPr>
          <p:cNvPr id="16" name="Shape 14"/>
          <p:cNvSpPr/>
          <p:nvPr/>
        </p:nvSpPr>
        <p:spPr>
          <a:xfrm>
            <a:off x="640080" y="4206240"/>
            <a:ext cx="5349240" cy="1874520"/>
          </a:xfrm>
          <a:prstGeom prst="rect">
            <a:avLst/>
          </a:prstGeom>
          <a:solidFill>
            <a:srgbClr val="F6F8FA"/>
          </a:solidFill>
          <a:ln w="9525">
            <a:solidFill>
              <a:srgbClr val="C8CDD3"/>
            </a:solidFill>
            <a:prstDash val="solid"/>
          </a:ln>
        </p:spPr>
      </p:sp>
      <p:sp>
        <p:nvSpPr>
          <p:cNvPr id="17" name="Text 15"/>
          <p:cNvSpPr/>
          <p:nvPr/>
        </p:nvSpPr>
        <p:spPr>
          <a:xfrm>
            <a:off x="868680" y="437083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 4.3</a:t>
            </a:r>
            <a:endParaRPr lang="en-US" sz="1000" dirty="0"/>
          </a:p>
        </p:txBody>
      </p:sp>
      <p:sp>
        <p:nvSpPr>
          <p:cNvPr id="18" name="Text 16"/>
          <p:cNvSpPr/>
          <p:nvPr/>
        </p:nvSpPr>
        <p:spPr>
          <a:xfrm>
            <a:off x="868680" y="4617720"/>
            <a:ext cx="4892040" cy="384048"/>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Crime-edge masking</a:t>
            </a:r>
            <a:endParaRPr lang="en-US" sz="1600" dirty="0"/>
          </a:p>
        </p:txBody>
      </p:sp>
      <p:sp>
        <p:nvSpPr>
          <p:cNvPr id="19" name="Text 17"/>
          <p:cNvSpPr/>
          <p:nvPr/>
        </p:nvSpPr>
        <p:spPr>
          <a:xfrm>
            <a:off x="868680" y="507492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Edges that trivially leak the label (kills, killed_by, sexually_assaults, financial-crime) are removed from both training and test graphs. Validated via ablation: masking had zero impact on predictions.</a:t>
            </a:r>
            <a:endParaRPr lang="en-US" sz="1100" dirty="0"/>
          </a:p>
        </p:txBody>
      </p:sp>
      <p:sp>
        <p:nvSpPr>
          <p:cNvPr id="20" name="Shape 18"/>
          <p:cNvSpPr/>
          <p:nvPr/>
        </p:nvSpPr>
        <p:spPr>
          <a:xfrm>
            <a:off x="6217920" y="4206240"/>
            <a:ext cx="5349240" cy="1874520"/>
          </a:xfrm>
          <a:prstGeom prst="rect">
            <a:avLst/>
          </a:prstGeom>
          <a:solidFill>
            <a:srgbClr val="F6F8FA"/>
          </a:solidFill>
          <a:ln w="9525">
            <a:solidFill>
              <a:srgbClr val="C8CDD3"/>
            </a:solidFill>
            <a:prstDash val="solid"/>
          </a:ln>
        </p:spPr>
      </p:sp>
      <p:sp>
        <p:nvSpPr>
          <p:cNvPr id="21" name="Text 19"/>
          <p:cNvSpPr/>
          <p:nvPr/>
        </p:nvSpPr>
        <p:spPr>
          <a:xfrm>
            <a:off x="6446520" y="437083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 4.4</a:t>
            </a:r>
            <a:endParaRPr lang="en-US" sz="1000" dirty="0"/>
          </a:p>
        </p:txBody>
      </p:sp>
      <p:sp>
        <p:nvSpPr>
          <p:cNvPr id="22" name="Text 20"/>
          <p:cNvSpPr/>
          <p:nvPr/>
        </p:nvSpPr>
        <p:spPr>
          <a:xfrm>
            <a:off x="6446520" y="4617720"/>
            <a:ext cx="4892040" cy="384048"/>
          </a:xfrm>
          <a:prstGeom prst="rect">
            <a:avLst/>
          </a:prstGeom>
          <a:noFill/>
          <a:ln/>
        </p:spPr>
        <p:txBody>
          <a:bodyPr wrap="square" lIns="0" tIns="0" rIns="0" bIns="0" rtlCol="0" anchor="ctr"/>
          <a:lstStyle/>
          <a:p>
            <a:pPr indent="0" marL="0">
              <a:buNone/>
            </a:pPr>
            <a:r>
              <a:rPr lang="en-US" sz="1600" b="1" dirty="0">
                <a:solidFill>
                  <a:srgbClr val="13294B"/>
                </a:solidFill>
                <a:latin typeface="Georgia" pitchFamily="34" charset="0"/>
                <a:ea typeface="Georgia" pitchFamily="34" charset="-122"/>
                <a:cs typeface="Georgia" pitchFamily="34" charset="-120"/>
              </a:rPr>
              <a:t>Class imbalance</a:t>
            </a:r>
            <a:endParaRPr lang="en-US" sz="1600" dirty="0"/>
          </a:p>
        </p:txBody>
      </p:sp>
      <p:sp>
        <p:nvSpPr>
          <p:cNvPr id="23" name="Text 21"/>
          <p:cNvSpPr/>
          <p:nvPr/>
        </p:nvSpPr>
        <p:spPr>
          <a:xfrm>
            <a:off x="6446520" y="507492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Villain class is ~9 % of nodes. Cross-entropy weighted inversely by class frequency; macro-F1 reported alongside accuracy.</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5 · RESULTS</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Quantitative evaluation</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R-GCN outperforms a feature-only logistic-regression baseline on macro-F1 and accuracy.</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10</a:t>
            </a:r>
            <a:endParaRPr lang="en-US" sz="1000" dirty="0"/>
          </a:p>
        </p:txBody>
      </p:sp>
      <p:sp>
        <p:nvSpPr>
          <p:cNvPr id="8" name="Text 6"/>
          <p:cNvSpPr/>
          <p:nvPr/>
        </p:nvSpPr>
        <p:spPr>
          <a:xfrm>
            <a:off x="640080" y="2103120"/>
            <a:ext cx="73152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TABLE 2 · TEST METRICS (HELD-OUT 20 % SPLIT)</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8229600" cy="914400"/>
        </p:xfrm>
        <a:graphic>
          <a:graphicData uri="http://schemas.openxmlformats.org/drawingml/2006/table">
            <a:tbl>
              <a:tblPr/>
              <a:tblGrid>
                <a:gridCol w="3108960"/>
                <a:gridCol w="1280160"/>
                <a:gridCol w="1280160"/>
                <a:gridCol w="1280160"/>
                <a:gridCol w="1280160"/>
              </a:tblGrid>
              <a:tr h="365760">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Model</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100" b="1" dirty="0">
                          <a:solidFill>
                            <a:srgbClr val="13294B"/>
                          </a:solidFill>
                          <a:latin typeface="Georgia" pitchFamily="34" charset="0"/>
                          <a:ea typeface="Georgia" pitchFamily="34" charset="-122"/>
                          <a:cs typeface="Georgia" pitchFamily="34" charset="-120"/>
                        </a:rPr>
                        <a:t>Accuracy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100" b="1" dirty="0">
                          <a:solidFill>
                            <a:srgbClr val="13294B"/>
                          </a:solidFill>
                          <a:latin typeface="Georgia" pitchFamily="34" charset="0"/>
                          <a:ea typeface="Georgia" pitchFamily="34" charset="-122"/>
                          <a:cs typeface="Georgia" pitchFamily="34" charset="-120"/>
                        </a:rPr>
                        <a:t>Macro-F1</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100" b="1" dirty="0">
                          <a:solidFill>
                            <a:srgbClr val="13294B"/>
                          </a:solidFill>
                          <a:latin typeface="Georgia" pitchFamily="34" charset="0"/>
                          <a:ea typeface="Georgia" pitchFamily="34" charset="-122"/>
                          <a:cs typeface="Georgia" pitchFamily="34" charset="-120"/>
                        </a:rPr>
                        <a:t>Precision</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100" b="1" dirty="0">
                          <a:solidFill>
                            <a:srgbClr val="13294B"/>
                          </a:solidFill>
                          <a:latin typeface="Georgia" pitchFamily="34" charset="0"/>
                          <a:ea typeface="Georgia" pitchFamily="34" charset="-122"/>
                          <a:cs typeface="Georgia" pitchFamily="34" charset="-120"/>
                        </a:rPr>
                        <a:t>Recall</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365760">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Logistic regression (features only)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0.869</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0.715</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0.628</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0.741</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65760">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R-GCN (ours)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0.904</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0.762</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0.711</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0.708</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r>
              <a:tr h="365760">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Δ (R-GCN − LogReg)</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i="1" dirty="0">
                          <a:solidFill>
                            <a:srgbClr val="3D7068"/>
                          </a:solidFill>
                          <a:latin typeface="Cambria" pitchFamily="34" charset="0"/>
                          <a:ea typeface="Cambria" pitchFamily="34" charset="-122"/>
                          <a:cs typeface="Cambria" pitchFamily="34" charset="-120"/>
                        </a:rPr>
                        <a:t>+0.035</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i="1" dirty="0">
                          <a:solidFill>
                            <a:srgbClr val="3D7068"/>
                          </a:solidFill>
                          <a:latin typeface="Cambria" pitchFamily="34" charset="0"/>
                          <a:ea typeface="Cambria" pitchFamily="34" charset="-122"/>
                          <a:cs typeface="Cambria" pitchFamily="34" charset="-120"/>
                        </a:rPr>
                        <a:t>+0.047</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i="1" dirty="0">
                          <a:solidFill>
                            <a:srgbClr val="3D7068"/>
                          </a:solidFill>
                          <a:latin typeface="Cambria" pitchFamily="34" charset="0"/>
                          <a:ea typeface="Cambria" pitchFamily="34" charset="-122"/>
                          <a:cs typeface="Cambria" pitchFamily="34" charset="-120"/>
                        </a:rPr>
                        <a:t>+0.083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i="1" dirty="0">
                          <a:solidFill>
                            <a:srgbClr val="B85450"/>
                          </a:solidFill>
                          <a:latin typeface="Cambria" pitchFamily="34" charset="0"/>
                          <a:ea typeface="Cambria" pitchFamily="34" charset="-122"/>
                          <a:cs typeface="Cambria" pitchFamily="34" charset="-120"/>
                        </a:rPr>
                        <a:t>−0.033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10" name="Text 7"/>
          <p:cNvSpPr/>
          <p:nvPr/>
        </p:nvSpPr>
        <p:spPr>
          <a:xfrm>
            <a:off x="9098280" y="2103120"/>
            <a:ext cx="27432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TABLE 3 · ABLATION</a:t>
            </a:r>
            <a:endParaRPr lang="en-US" sz="10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9098280" y="2423160"/>
          <a:ext cx="2423160" cy="914400"/>
        </p:xfrm>
        <a:graphic>
          <a:graphicData uri="http://schemas.openxmlformats.org/drawingml/2006/table">
            <a:tbl>
              <a:tblPr/>
              <a:tblGrid>
                <a:gridCol w="1600200"/>
                <a:gridCol w="822960"/>
              </a:tblGrid>
              <a:tr h="292608">
                <a:tc>
                  <a:txBody>
                    <a:bodyPr/>
                    <a:lstStyle/>
                    <a:p>
                      <a:pPr indent="0" marL="0">
                        <a:buNone/>
                      </a:pPr>
                      <a:r>
                        <a:rPr lang="en-US" sz="1000" b="1" dirty="0">
                          <a:solidFill>
                            <a:srgbClr val="13294B"/>
                          </a:solidFill>
                          <a:latin typeface="Georgia" pitchFamily="34" charset="0"/>
                          <a:ea typeface="Georgia" pitchFamily="34" charset="-122"/>
                          <a:cs typeface="Georgia" pitchFamily="34" charset="-120"/>
                        </a:rPr>
                        <a:t>Variant</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F1</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292608">
                <a:tc>
                  <a:txBody>
                    <a:bodyPr/>
                    <a:lstStyle/>
                    <a:p>
                      <a:pPr indent="0" marL="0">
                        <a:buNone/>
                      </a:pPr>
                      <a:r>
                        <a:rPr lang="en-US" sz="1000" dirty="0">
                          <a:solidFill>
                            <a:srgbClr val="4A4A4A"/>
                          </a:solidFill>
                          <a:latin typeface="Georgia" pitchFamily="34" charset="0"/>
                          <a:ea typeface="Georgia" pitchFamily="34" charset="-122"/>
                          <a:cs typeface="Georgia" pitchFamily="34" charset="-120"/>
                        </a:rPr>
                        <a:t>R-GCN (full)</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Cambria" pitchFamily="34" charset="0"/>
                          <a:ea typeface="Cambria" pitchFamily="34" charset="-122"/>
                          <a:cs typeface="Cambria" pitchFamily="34" charset="-120"/>
                        </a:rPr>
                        <a:t>0.762</a:t>
                      </a:r>
                      <a:endParaRPr lang="en-US" sz="10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indent="0" marL="0">
                        <a:buNone/>
                      </a:pPr>
                      <a:r>
                        <a:rPr lang="en-US" sz="1000" dirty="0">
                          <a:solidFill>
                            <a:srgbClr val="4A4A4A"/>
                          </a:solidFill>
                          <a:latin typeface="Georgia" pitchFamily="34" charset="0"/>
                          <a:ea typeface="Georgia" pitchFamily="34" charset="-122"/>
                          <a:cs typeface="Georgia" pitchFamily="34" charset="-120"/>
                        </a:rPr>
                        <a:t>− features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B85450"/>
                          </a:solidFill>
                          <a:latin typeface="Cambria" pitchFamily="34" charset="0"/>
                          <a:ea typeface="Cambria" pitchFamily="34" charset="-122"/>
                          <a:cs typeface="Cambria" pitchFamily="34" charset="-120"/>
                        </a:rPr>
                        <a:t>0.255</a:t>
                      </a:r>
                      <a:endParaRPr lang="en-US" sz="10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indent="0" marL="0">
                        <a:buNone/>
                      </a:pPr>
                      <a:r>
                        <a:rPr lang="en-US" sz="1000" dirty="0">
                          <a:solidFill>
                            <a:srgbClr val="4A4A4A"/>
                          </a:solidFill>
                          <a:latin typeface="Georgia" pitchFamily="34" charset="0"/>
                          <a:ea typeface="Georgia" pitchFamily="34" charset="-122"/>
                          <a:cs typeface="Georgia" pitchFamily="34" charset="-120"/>
                        </a:rPr>
                        <a:t>− link decoder</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Cambria" pitchFamily="34" charset="0"/>
                          <a:ea typeface="Cambria" pitchFamily="34" charset="-122"/>
                          <a:cs typeface="Cambria" pitchFamily="34" charset="-120"/>
                        </a:rPr>
                        <a:t>0.731</a:t>
                      </a:r>
                      <a:endParaRPr lang="en-US" sz="10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92608">
                <a:tc>
                  <a:txBody>
                    <a:bodyPr/>
                    <a:lstStyle/>
                    <a:p>
                      <a:pPr indent="0" marL="0">
                        <a:buNone/>
                      </a:pPr>
                      <a:r>
                        <a:rPr lang="en-US" sz="1000" dirty="0">
                          <a:solidFill>
                            <a:srgbClr val="4A4A4A"/>
                          </a:solidFill>
                          <a:latin typeface="Georgia" pitchFamily="34" charset="0"/>
                          <a:ea typeface="Georgia" pitchFamily="34" charset="-122"/>
                          <a:cs typeface="Georgia" pitchFamily="34" charset="-120"/>
                        </a:rPr>
                        <a:t>− inverse rels</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000" dirty="0">
                          <a:solidFill>
                            <a:srgbClr val="4A4A4A"/>
                          </a:solidFill>
                          <a:latin typeface="Cambria" pitchFamily="34" charset="0"/>
                          <a:ea typeface="Cambria" pitchFamily="34" charset="-122"/>
                          <a:cs typeface="Cambria" pitchFamily="34" charset="-120"/>
                        </a:rPr>
                        <a:t>0.748</a:t>
                      </a:r>
                      <a:endParaRPr lang="en-US" sz="10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12" name="Text 8"/>
          <p:cNvSpPr/>
          <p:nvPr/>
        </p:nvSpPr>
        <p:spPr>
          <a:xfrm>
            <a:off x="640080" y="443484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KEY FINDINGS</a:t>
            </a:r>
            <a:endParaRPr lang="en-US" sz="1000" dirty="0"/>
          </a:p>
        </p:txBody>
      </p:sp>
      <p:sp>
        <p:nvSpPr>
          <p:cNvPr id="13" name="Text 9"/>
          <p:cNvSpPr/>
          <p:nvPr/>
        </p:nvSpPr>
        <p:spPr>
          <a:xfrm>
            <a:off x="640080" y="4754880"/>
            <a:ext cx="5943600" cy="169164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Cambria" pitchFamily="34" charset="0"/>
                <a:ea typeface="Cambria" pitchFamily="34" charset="-122"/>
                <a:cs typeface="Cambria" pitchFamily="34" charset="-120"/>
              </a:rPr>
              <a:t>·  R-GCN improves macro-F1 by </a:t>
            </a:r>
            <a:pPr indent="0" marL="0">
              <a:lnSpc>
                <a:spcPts val="1800"/>
              </a:lnSpc>
              <a:buNone/>
            </a:pPr>
            <a:r>
              <a:rPr lang="en-US" sz="1200" i="1" dirty="0">
                <a:solidFill>
                  <a:srgbClr val="13294B"/>
                </a:solidFill>
                <a:latin typeface="Cambria" pitchFamily="34" charset="0"/>
                <a:ea typeface="Cambria" pitchFamily="34" charset="-122"/>
                <a:cs typeface="Cambria" pitchFamily="34" charset="-120"/>
              </a:rPr>
              <a:t>Δ</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 +0.047 over the feature-only baseline.</a:t>
            </a:r>
            <a:pPr indent="0" marL="0">
              <a:lnSpc>
                <a:spcPts val="1800"/>
              </a:lnSpc>
              <a:buNone/>
            </a:pPr>
            <a:r>
              <a:rPr lang="en-US" sz="1200" dirty="0">
                <a:solidFill>
                  <a:srgbClr val="000000"/>
                </a:solidFill>
              </a:rPr>
              <a:t>
</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Topology alone ("− features" ablation) yields F1 = 0.255 — only marginally above chance. Features carry most of the signal; relations sharpen it.</a:t>
            </a:r>
            <a:pPr indent="0" marL="0">
              <a:lnSpc>
                <a:spcPts val="1800"/>
              </a:lnSpc>
              <a:buNone/>
            </a:pPr>
            <a:r>
              <a:rPr lang="en-US" sz="1200" dirty="0">
                <a:solidFill>
                  <a:srgbClr val="000000"/>
                </a:solidFill>
              </a:rPr>
              <a:t>
</a:t>
            </a:r>
            <a:pPr indent="0" marL="0">
              <a:lnSpc>
                <a:spcPts val="1800"/>
              </a:lnSpc>
              <a:buNone/>
            </a:pPr>
            <a:r>
              <a:rPr lang="en-US" sz="1200" dirty="0">
                <a:solidFill>
                  <a:srgbClr val="4A4A4A"/>
                </a:solidFill>
                <a:latin typeface="Cambria" pitchFamily="34" charset="0"/>
                <a:ea typeface="Cambria" pitchFamily="34" charset="-122"/>
                <a:cs typeface="Cambria" pitchFamily="34" charset="-120"/>
              </a:rPr>
              <a:t>·  Trade-off: R-GCN trades a small drop in recall (−3.3 pp) for a substantial precision gain (+8.3 pp) — fewer false positives.</a:t>
            </a:r>
            <a:endParaRPr lang="en-US" sz="1200" dirty="0"/>
          </a:p>
        </p:txBody>
      </p:sp>
      <p:sp>
        <p:nvSpPr>
          <p:cNvPr id="14" name="Shape 10"/>
          <p:cNvSpPr/>
          <p:nvPr/>
        </p:nvSpPr>
        <p:spPr>
          <a:xfrm>
            <a:off x="7040880" y="4572000"/>
            <a:ext cx="4480560" cy="1783080"/>
          </a:xfrm>
          <a:prstGeom prst="rect">
            <a:avLst/>
          </a:prstGeom>
          <a:solidFill>
            <a:srgbClr val="FFFFFF"/>
          </a:solidFill>
          <a:ln w="9525">
            <a:solidFill>
              <a:srgbClr val="C8CDD3"/>
            </a:solidFill>
            <a:prstDash val="solid"/>
          </a:ln>
        </p:spPr>
      </p:sp>
      <p:sp>
        <p:nvSpPr>
          <p:cNvPr id="15" name="Text 11"/>
          <p:cNvSpPr/>
          <p:nvPr/>
        </p:nvSpPr>
        <p:spPr>
          <a:xfrm>
            <a:off x="7315200" y="4709160"/>
            <a:ext cx="3931920" cy="274320"/>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FIGURE 4 · Macro-F1 comparison</a:t>
            </a:r>
            <a:endParaRPr lang="en-US" sz="1000" dirty="0"/>
          </a:p>
        </p:txBody>
      </p:sp>
      <p:sp>
        <p:nvSpPr>
          <p:cNvPr id="16" name="Text 12"/>
          <p:cNvSpPr/>
          <p:nvPr/>
        </p:nvSpPr>
        <p:spPr>
          <a:xfrm>
            <a:off x="7315200" y="5166360"/>
            <a:ext cx="1097280" cy="274320"/>
          </a:xfrm>
          <a:prstGeom prst="rect">
            <a:avLst/>
          </a:prstGeom>
          <a:noFill/>
          <a:ln/>
        </p:spPr>
        <p:txBody>
          <a:bodyPr wrap="square" lIns="0" tIns="0" rIns="0" bIns="0" rtlCol="0" anchor="ctr"/>
          <a:lstStyle/>
          <a:p>
            <a:pPr algn="r" indent="0" marL="0">
              <a:buNone/>
            </a:pPr>
            <a:r>
              <a:rPr lang="en-US" sz="1000" dirty="0">
                <a:solidFill>
                  <a:srgbClr val="4A4A4A"/>
                </a:solidFill>
                <a:latin typeface="Georgia" pitchFamily="34" charset="0"/>
                <a:ea typeface="Georgia" pitchFamily="34" charset="-122"/>
                <a:cs typeface="Georgia" pitchFamily="34" charset="-120"/>
              </a:rPr>
              <a:t>LogReg</a:t>
            </a:r>
            <a:endParaRPr lang="en-US" sz="1000" dirty="0"/>
          </a:p>
        </p:txBody>
      </p:sp>
      <p:sp>
        <p:nvSpPr>
          <p:cNvPr id="17" name="Shape 13"/>
          <p:cNvSpPr/>
          <p:nvPr/>
        </p:nvSpPr>
        <p:spPr>
          <a:xfrm>
            <a:off x="8503920" y="5212080"/>
            <a:ext cx="1830629" cy="201168"/>
          </a:xfrm>
          <a:prstGeom prst="rect">
            <a:avLst/>
          </a:prstGeom>
          <a:solidFill>
            <a:srgbClr val="8A8A8A"/>
          </a:solidFill>
          <a:ln/>
        </p:spPr>
      </p:sp>
      <p:sp>
        <p:nvSpPr>
          <p:cNvPr id="18" name="Text 14"/>
          <p:cNvSpPr/>
          <p:nvPr/>
        </p:nvSpPr>
        <p:spPr>
          <a:xfrm>
            <a:off x="10407701" y="5166360"/>
            <a:ext cx="640080" cy="274320"/>
          </a:xfrm>
          <a:prstGeom prst="rect">
            <a:avLst/>
          </a:prstGeom>
          <a:noFill/>
          <a:ln/>
        </p:spPr>
        <p:txBody>
          <a:bodyPr wrap="square" lIns="0" tIns="0" rIns="0" bIns="0" rtlCol="0" anchor="ctr"/>
          <a:lstStyle/>
          <a:p>
            <a:pPr indent="0" marL="0">
              <a:buNone/>
            </a:pPr>
            <a:r>
              <a:rPr lang="en-US" sz="1000" dirty="0">
                <a:solidFill>
                  <a:srgbClr val="4A4A4A"/>
                </a:solidFill>
                <a:latin typeface="Cambria" pitchFamily="34" charset="0"/>
                <a:ea typeface="Cambria" pitchFamily="34" charset="-122"/>
                <a:cs typeface="Cambria" pitchFamily="34" charset="-120"/>
              </a:rPr>
              <a:t>0.715</a:t>
            </a:r>
            <a:endParaRPr lang="en-US" sz="1000" dirty="0"/>
          </a:p>
        </p:txBody>
      </p:sp>
      <p:sp>
        <p:nvSpPr>
          <p:cNvPr id="19" name="Text 15"/>
          <p:cNvSpPr/>
          <p:nvPr/>
        </p:nvSpPr>
        <p:spPr>
          <a:xfrm>
            <a:off x="7315200" y="5669280"/>
            <a:ext cx="1097280" cy="274320"/>
          </a:xfrm>
          <a:prstGeom prst="rect">
            <a:avLst/>
          </a:prstGeom>
          <a:noFill/>
          <a:ln/>
        </p:spPr>
        <p:txBody>
          <a:bodyPr wrap="square" lIns="0" tIns="0" rIns="0" bIns="0" rtlCol="0" anchor="ctr"/>
          <a:lstStyle/>
          <a:p>
            <a:pPr algn="r" indent="0" marL="0">
              <a:buNone/>
            </a:pPr>
            <a:r>
              <a:rPr lang="en-US" sz="1000" b="1" dirty="0">
                <a:solidFill>
                  <a:srgbClr val="13294B"/>
                </a:solidFill>
                <a:latin typeface="Georgia" pitchFamily="34" charset="0"/>
                <a:ea typeface="Georgia" pitchFamily="34" charset="-122"/>
                <a:cs typeface="Georgia" pitchFamily="34" charset="-120"/>
              </a:rPr>
              <a:t>R-GCN</a:t>
            </a:r>
            <a:endParaRPr lang="en-US" sz="1000" dirty="0"/>
          </a:p>
        </p:txBody>
      </p:sp>
      <p:sp>
        <p:nvSpPr>
          <p:cNvPr id="20" name="Shape 16"/>
          <p:cNvSpPr/>
          <p:nvPr/>
        </p:nvSpPr>
        <p:spPr>
          <a:xfrm>
            <a:off x="8503920" y="5715000"/>
            <a:ext cx="1950964" cy="201168"/>
          </a:xfrm>
          <a:prstGeom prst="rect">
            <a:avLst/>
          </a:prstGeom>
          <a:solidFill>
            <a:srgbClr val="13294B"/>
          </a:solidFill>
          <a:ln/>
        </p:spPr>
      </p:sp>
      <p:sp>
        <p:nvSpPr>
          <p:cNvPr id="21" name="Text 17"/>
          <p:cNvSpPr/>
          <p:nvPr/>
        </p:nvSpPr>
        <p:spPr>
          <a:xfrm>
            <a:off x="10528036" y="5669280"/>
            <a:ext cx="640080" cy="274320"/>
          </a:xfrm>
          <a:prstGeom prst="rect">
            <a:avLst/>
          </a:prstGeom>
          <a:noFill/>
          <a:ln/>
        </p:spPr>
        <p:txBody>
          <a:bodyPr wrap="square" lIns="0" tIns="0" rIns="0" bIns="0" rtlCol="0" anchor="ctr"/>
          <a:lstStyle/>
          <a:p>
            <a:pPr indent="0" marL="0">
              <a:buNone/>
            </a:pPr>
            <a:r>
              <a:rPr lang="en-US" sz="1000" b="1" dirty="0">
                <a:solidFill>
                  <a:srgbClr val="13294B"/>
                </a:solidFill>
                <a:latin typeface="Cambria" pitchFamily="34" charset="0"/>
                <a:ea typeface="Cambria" pitchFamily="34" charset="-122"/>
                <a:cs typeface="Cambria" pitchFamily="34" charset="-120"/>
              </a:rPr>
              <a:t>0.762</a:t>
            </a:r>
            <a:endParaRPr lang="en-US" sz="1000" dirty="0"/>
          </a:p>
        </p:txBody>
      </p:sp>
      <p:sp>
        <p:nvSpPr>
          <p:cNvPr id="22" name="Shape 18"/>
          <p:cNvSpPr/>
          <p:nvPr/>
        </p:nvSpPr>
        <p:spPr>
          <a:xfrm>
            <a:off x="8503920" y="6126480"/>
            <a:ext cx="2560320" cy="0"/>
          </a:xfrm>
          <a:prstGeom prst="line">
            <a:avLst/>
          </a:prstGeom>
          <a:noFill/>
          <a:ln w="6350">
            <a:solidFill>
              <a:srgbClr val="C8CDD3"/>
            </a:solidFill>
            <a:prstDash val="solid"/>
          </a:ln>
        </p:spPr>
      </p:sp>
      <p:sp>
        <p:nvSpPr>
          <p:cNvPr id="23" name="Text 19"/>
          <p:cNvSpPr/>
          <p:nvPr/>
        </p:nvSpPr>
        <p:spPr>
          <a:xfrm>
            <a:off x="8366760" y="6172200"/>
            <a:ext cx="274320" cy="228600"/>
          </a:xfrm>
          <a:prstGeom prst="rect">
            <a:avLst/>
          </a:prstGeom>
          <a:noFill/>
          <a:ln/>
        </p:spPr>
        <p:txBody>
          <a:bodyPr wrap="square" lIns="0" tIns="0" rIns="0" bIns="0" rtlCol="0" anchor="ctr"/>
          <a:lstStyle/>
          <a:p>
            <a:pPr algn="ctr" indent="0" marL="0">
              <a:buNone/>
            </a:pPr>
            <a:r>
              <a:rPr lang="en-US" sz="900" dirty="0">
                <a:solidFill>
                  <a:srgbClr val="8A8A8A"/>
                </a:solidFill>
                <a:latin typeface="Cambria" pitchFamily="34" charset="0"/>
                <a:ea typeface="Cambria" pitchFamily="34" charset="-122"/>
                <a:cs typeface="Cambria" pitchFamily="34" charset="-120"/>
              </a:rPr>
              <a:t>0</a:t>
            </a:r>
            <a:endParaRPr lang="en-US" sz="900" dirty="0"/>
          </a:p>
        </p:txBody>
      </p:sp>
      <p:sp>
        <p:nvSpPr>
          <p:cNvPr id="24" name="Text 20"/>
          <p:cNvSpPr/>
          <p:nvPr/>
        </p:nvSpPr>
        <p:spPr>
          <a:xfrm>
            <a:off x="10927080" y="6172200"/>
            <a:ext cx="274320" cy="228600"/>
          </a:xfrm>
          <a:prstGeom prst="rect">
            <a:avLst/>
          </a:prstGeom>
          <a:noFill/>
          <a:ln/>
        </p:spPr>
        <p:txBody>
          <a:bodyPr wrap="square" lIns="0" tIns="0" rIns="0" bIns="0" rtlCol="0" anchor="ctr"/>
          <a:lstStyle/>
          <a:p>
            <a:pPr algn="ctr" indent="0" marL="0">
              <a:buNone/>
            </a:pPr>
            <a:r>
              <a:rPr lang="en-US" sz="900" dirty="0">
                <a:solidFill>
                  <a:srgbClr val="8A8A8A"/>
                </a:solidFill>
                <a:latin typeface="Cambria" pitchFamily="34" charset="0"/>
                <a:ea typeface="Cambria" pitchFamily="34" charset="-122"/>
                <a:cs typeface="Cambria"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5 · ANALYSIS</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Where the models disagree</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Most of R-GCN's gain comes from clearing innocents, not catching extra villains.</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11</a:t>
            </a:r>
            <a:endParaRPr lang="en-US" sz="1000" dirty="0"/>
          </a:p>
        </p:txBody>
      </p:sp>
      <p:sp>
        <p:nvSpPr>
          <p:cNvPr id="8" name="Shape 6"/>
          <p:cNvSpPr/>
          <p:nvPr/>
        </p:nvSpPr>
        <p:spPr>
          <a:xfrm>
            <a:off x="640080" y="2103120"/>
            <a:ext cx="5181448" cy="3840480"/>
          </a:xfrm>
          <a:prstGeom prst="rect">
            <a:avLst/>
          </a:prstGeom>
          <a:solidFill>
            <a:srgbClr val="F6F8FA"/>
          </a:solidFill>
          <a:ln w="9525">
            <a:solidFill>
              <a:srgbClr val="C8CDD3"/>
            </a:solidFill>
            <a:prstDash val="solid"/>
          </a:ln>
        </p:spPr>
      </p:sp>
      <p:sp>
        <p:nvSpPr>
          <p:cNvPr id="9" name="Shape 7"/>
          <p:cNvSpPr/>
          <p:nvPr/>
        </p:nvSpPr>
        <p:spPr>
          <a:xfrm>
            <a:off x="640080" y="2103120"/>
            <a:ext cx="5181448" cy="45720"/>
          </a:xfrm>
          <a:prstGeom prst="rect">
            <a:avLst/>
          </a:prstGeom>
          <a:solidFill>
            <a:srgbClr val="13294B"/>
          </a:solidFill>
          <a:ln/>
        </p:spPr>
      </p:sp>
      <p:sp>
        <p:nvSpPr>
          <p:cNvPr id="10" name="Text 8"/>
          <p:cNvSpPr/>
          <p:nvPr/>
        </p:nvSpPr>
        <p:spPr>
          <a:xfrm>
            <a:off x="914400" y="2286000"/>
            <a:ext cx="4632808"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R-GCN GAINS BY</a:t>
            </a:r>
            <a:endParaRPr lang="en-US" sz="1000" dirty="0"/>
          </a:p>
        </p:txBody>
      </p:sp>
      <p:sp>
        <p:nvSpPr>
          <p:cNvPr id="11" name="Text 9"/>
          <p:cNvSpPr/>
          <p:nvPr/>
        </p:nvSpPr>
        <p:spPr>
          <a:xfrm>
            <a:off x="914400" y="2606040"/>
            <a:ext cx="4632808" cy="457200"/>
          </a:xfrm>
          <a:prstGeom prst="rect">
            <a:avLst/>
          </a:prstGeom>
          <a:noFill/>
          <a:ln/>
        </p:spPr>
        <p:txBody>
          <a:bodyPr wrap="square" lIns="0" tIns="0" rIns="0" bIns="0" rtlCol="0" anchor="ctr"/>
          <a:lstStyle/>
          <a:p>
            <a:pPr indent="0" marL="0">
              <a:buNone/>
            </a:pPr>
            <a:r>
              <a:rPr lang="en-US" sz="2200" b="1" dirty="0">
                <a:solidFill>
                  <a:srgbClr val="13294B"/>
                </a:solidFill>
                <a:latin typeface="Georgia" pitchFamily="34" charset="0"/>
                <a:ea typeface="Georgia" pitchFamily="34" charset="-122"/>
                <a:cs typeface="Georgia" pitchFamily="34" charset="-120"/>
              </a:rPr>
              <a:t>Clearing innocents</a:t>
            </a:r>
            <a:endParaRPr lang="en-US" sz="2200" dirty="0"/>
          </a:p>
        </p:txBody>
      </p:sp>
      <p:sp>
        <p:nvSpPr>
          <p:cNvPr id="12" name="Text 10"/>
          <p:cNvSpPr/>
          <p:nvPr/>
        </p:nvSpPr>
        <p:spPr>
          <a:xfrm>
            <a:off x="914400" y="3108960"/>
            <a:ext cx="4632808" cy="64008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It uses relational context — alibis, spatial separation, professional ties — to rule suspects out.</a:t>
            </a:r>
            <a:endParaRPr lang="en-US" sz="1200" dirty="0"/>
          </a:p>
        </p:txBody>
      </p:sp>
      <p:sp>
        <p:nvSpPr>
          <p:cNvPr id="13" name="Text 11"/>
          <p:cNvSpPr/>
          <p:nvPr/>
        </p:nvSpPr>
        <p:spPr>
          <a:xfrm>
            <a:off x="914400" y="3886200"/>
            <a:ext cx="1828800" cy="1463040"/>
          </a:xfrm>
          <a:prstGeom prst="rect">
            <a:avLst/>
          </a:prstGeom>
          <a:noFill/>
          <a:ln/>
        </p:spPr>
        <p:txBody>
          <a:bodyPr wrap="square" lIns="0" tIns="0" rIns="0" bIns="0" rtlCol="0" anchor="ctr"/>
          <a:lstStyle/>
          <a:p>
            <a:pPr indent="0" marL="0">
              <a:buNone/>
            </a:pPr>
            <a:r>
              <a:rPr lang="en-US" sz="9600" b="1" dirty="0">
                <a:solidFill>
                  <a:srgbClr val="3D7068"/>
                </a:solidFill>
                <a:latin typeface="Georgia" pitchFamily="34" charset="0"/>
                <a:ea typeface="Georgia" pitchFamily="34" charset="-122"/>
                <a:cs typeface="Georgia" pitchFamily="34" charset="-120"/>
              </a:rPr>
              <a:t>19</a:t>
            </a:r>
            <a:endParaRPr lang="en-US" sz="9600" dirty="0"/>
          </a:p>
        </p:txBody>
      </p:sp>
      <p:sp>
        <p:nvSpPr>
          <p:cNvPr id="14" name="Text 12"/>
          <p:cNvSpPr/>
          <p:nvPr/>
        </p:nvSpPr>
        <p:spPr>
          <a:xfrm>
            <a:off x="2834640" y="4343400"/>
            <a:ext cx="2712568" cy="365760"/>
          </a:xfrm>
          <a:prstGeom prst="rect">
            <a:avLst/>
          </a:prstGeom>
          <a:noFill/>
          <a:ln/>
        </p:spPr>
        <p:txBody>
          <a:bodyPr wrap="square" lIns="0" tIns="0" rIns="0" bIns="0" rtlCol="0" anchor="ctr"/>
          <a:lstStyle/>
          <a:p>
            <a:pPr indent="0" marL="0">
              <a:buNone/>
            </a:pPr>
            <a:r>
              <a:rPr lang="en-US" sz="1400" i="1" dirty="0">
                <a:solidFill>
                  <a:srgbClr val="4A4A4A"/>
                </a:solidFill>
                <a:latin typeface="Georgia" pitchFamily="34" charset="0"/>
                <a:ea typeface="Georgia" pitchFamily="34" charset="-122"/>
                <a:cs typeface="Georgia" pitchFamily="34" charset="-120"/>
              </a:rPr>
              <a:t>false accusations</a:t>
            </a:r>
            <a:endParaRPr lang="en-US" sz="1400" dirty="0"/>
          </a:p>
        </p:txBody>
      </p:sp>
      <p:sp>
        <p:nvSpPr>
          <p:cNvPr id="15" name="Text 13"/>
          <p:cNvSpPr/>
          <p:nvPr/>
        </p:nvSpPr>
        <p:spPr>
          <a:xfrm>
            <a:off x="2834640" y="4709160"/>
            <a:ext cx="2712568" cy="274320"/>
          </a:xfrm>
          <a:prstGeom prst="rect">
            <a:avLst/>
          </a:prstGeom>
          <a:noFill/>
          <a:ln/>
        </p:spPr>
        <p:txBody>
          <a:bodyPr wrap="square" lIns="0" tIns="0" rIns="0" bIns="0" rtlCol="0" anchor="ctr"/>
          <a:lstStyle/>
          <a:p>
            <a:pPr indent="0" marL="0">
              <a:buNone/>
            </a:pPr>
            <a:r>
              <a:rPr lang="en-US" sz="1100" i="1" dirty="0">
                <a:solidFill>
                  <a:srgbClr val="8A8A8A"/>
                </a:solidFill>
                <a:latin typeface="Georgia" pitchFamily="34" charset="0"/>
                <a:ea typeface="Georgia" pitchFamily="34" charset="-122"/>
                <a:cs typeface="Georgia" pitchFamily="34" charset="-120"/>
              </a:rPr>
              <a:t>(10 Uninvolved · 7 Witness · 2 Victim)</a:t>
            </a:r>
            <a:endParaRPr lang="en-US" sz="1100" dirty="0"/>
          </a:p>
        </p:txBody>
      </p:sp>
      <p:sp>
        <p:nvSpPr>
          <p:cNvPr id="16" name="Shape 14"/>
          <p:cNvSpPr/>
          <p:nvPr/>
        </p:nvSpPr>
        <p:spPr>
          <a:xfrm>
            <a:off x="6461608" y="2103120"/>
            <a:ext cx="5181448" cy="3840480"/>
          </a:xfrm>
          <a:prstGeom prst="rect">
            <a:avLst/>
          </a:prstGeom>
          <a:solidFill>
            <a:srgbClr val="F6F8FA"/>
          </a:solidFill>
          <a:ln w="9525">
            <a:solidFill>
              <a:srgbClr val="C8CDD3"/>
            </a:solidFill>
            <a:prstDash val="solid"/>
          </a:ln>
        </p:spPr>
      </p:sp>
      <p:sp>
        <p:nvSpPr>
          <p:cNvPr id="17" name="Shape 15"/>
          <p:cNvSpPr/>
          <p:nvPr/>
        </p:nvSpPr>
        <p:spPr>
          <a:xfrm>
            <a:off x="6461608" y="2103120"/>
            <a:ext cx="5181448" cy="45720"/>
          </a:xfrm>
          <a:prstGeom prst="rect">
            <a:avLst/>
          </a:prstGeom>
          <a:solidFill>
            <a:srgbClr val="B85450"/>
          </a:solidFill>
          <a:ln/>
        </p:spPr>
      </p:sp>
      <p:sp>
        <p:nvSpPr>
          <p:cNvPr id="18" name="Text 16"/>
          <p:cNvSpPr/>
          <p:nvPr/>
        </p:nvSpPr>
        <p:spPr>
          <a:xfrm>
            <a:off x="6735928" y="2286000"/>
            <a:ext cx="4632808" cy="274320"/>
          </a:xfrm>
          <a:prstGeom prst="rect">
            <a:avLst/>
          </a:prstGeom>
          <a:noFill/>
          <a:ln/>
        </p:spPr>
        <p:txBody>
          <a:bodyPr wrap="square" lIns="0" tIns="0" rIns="0" bIns="0" rtlCol="0" anchor="ctr"/>
          <a:lstStyle/>
          <a:p>
            <a:pPr indent="0" marL="0">
              <a:buNone/>
            </a:pPr>
            <a:r>
              <a:rPr lang="en-US" sz="1000" b="1" spc="300" kern="0" dirty="0">
                <a:solidFill>
                  <a:srgbClr val="B85450"/>
                </a:solidFill>
                <a:latin typeface="Georgia" pitchFamily="34" charset="0"/>
                <a:ea typeface="Georgia" pitchFamily="34" charset="-122"/>
                <a:cs typeface="Georgia" pitchFamily="34" charset="-120"/>
              </a:rPr>
              <a:t>LOGREG GAINS BY</a:t>
            </a:r>
            <a:endParaRPr lang="en-US" sz="1000" dirty="0"/>
          </a:p>
        </p:txBody>
      </p:sp>
      <p:sp>
        <p:nvSpPr>
          <p:cNvPr id="19" name="Text 17"/>
          <p:cNvSpPr/>
          <p:nvPr/>
        </p:nvSpPr>
        <p:spPr>
          <a:xfrm>
            <a:off x="6735928" y="2606040"/>
            <a:ext cx="4632808" cy="457200"/>
          </a:xfrm>
          <a:prstGeom prst="rect">
            <a:avLst/>
          </a:prstGeom>
          <a:noFill/>
          <a:ln/>
        </p:spPr>
        <p:txBody>
          <a:bodyPr wrap="square" lIns="0" tIns="0" rIns="0" bIns="0" rtlCol="0" anchor="ctr"/>
          <a:lstStyle/>
          <a:p>
            <a:pPr indent="0" marL="0">
              <a:buNone/>
            </a:pPr>
            <a:r>
              <a:rPr lang="en-US" sz="2200" b="1" dirty="0">
                <a:solidFill>
                  <a:srgbClr val="13294B"/>
                </a:solidFill>
                <a:latin typeface="Georgia" pitchFamily="34" charset="0"/>
                <a:ea typeface="Georgia" pitchFamily="34" charset="-122"/>
                <a:cs typeface="Georgia" pitchFamily="34" charset="-120"/>
              </a:rPr>
              <a:t>Casting a wider net</a:t>
            </a:r>
            <a:endParaRPr lang="en-US" sz="2200" dirty="0"/>
          </a:p>
        </p:txBody>
      </p:sp>
      <p:sp>
        <p:nvSpPr>
          <p:cNvPr id="20" name="Text 18"/>
          <p:cNvSpPr/>
          <p:nvPr/>
        </p:nvSpPr>
        <p:spPr>
          <a:xfrm>
            <a:off x="6735928" y="3108960"/>
            <a:ext cx="4632808" cy="640080"/>
          </a:xfrm>
          <a:prstGeom prst="rect">
            <a:avLst/>
          </a:prstGeom>
          <a:noFill/>
          <a:ln/>
        </p:spPr>
        <p:txBody>
          <a:bodyPr wrap="square" lIns="0" tIns="0" rIns="0" bIns="0" rtlCol="0" anchor="ctr"/>
          <a:lstStyle/>
          <a:p>
            <a:pPr indent="0" marL="0">
              <a:lnSpc>
                <a:spcPts val="1800"/>
              </a:lnSpc>
              <a:buNone/>
            </a:pPr>
            <a:r>
              <a:rPr lang="en-US" sz="1200" dirty="0">
                <a:solidFill>
                  <a:srgbClr val="4A4A4A"/>
                </a:solidFill>
                <a:latin typeface="Georgia" pitchFamily="34" charset="0"/>
                <a:ea typeface="Georgia" pitchFamily="34" charset="-122"/>
                <a:cs typeface="Georgia" pitchFamily="34" charset="-120"/>
              </a:rPr>
              <a:t>It flags every character with suspicious feature values — catching slightly more villains, but accusing far more innocents.</a:t>
            </a:r>
            <a:endParaRPr lang="en-US" sz="1200" dirty="0"/>
          </a:p>
        </p:txBody>
      </p:sp>
      <p:sp>
        <p:nvSpPr>
          <p:cNvPr id="21" name="Text 19"/>
          <p:cNvSpPr/>
          <p:nvPr/>
        </p:nvSpPr>
        <p:spPr>
          <a:xfrm>
            <a:off x="6735928" y="3886200"/>
            <a:ext cx="1828800" cy="1463040"/>
          </a:xfrm>
          <a:prstGeom prst="rect">
            <a:avLst/>
          </a:prstGeom>
          <a:noFill/>
          <a:ln/>
        </p:spPr>
        <p:txBody>
          <a:bodyPr wrap="square" lIns="0" tIns="0" rIns="0" bIns="0" rtlCol="0" anchor="ctr"/>
          <a:lstStyle/>
          <a:p>
            <a:pPr indent="0" marL="0">
              <a:buNone/>
            </a:pPr>
            <a:r>
              <a:rPr lang="en-US" sz="9600" b="1" dirty="0">
                <a:solidFill>
                  <a:srgbClr val="B85450"/>
                </a:solidFill>
                <a:latin typeface="Georgia" pitchFamily="34" charset="0"/>
                <a:ea typeface="Georgia" pitchFamily="34" charset="-122"/>
                <a:cs typeface="Georgia" pitchFamily="34" charset="-120"/>
              </a:rPr>
              <a:t>39</a:t>
            </a:r>
            <a:endParaRPr lang="en-US" sz="9600" dirty="0"/>
          </a:p>
        </p:txBody>
      </p:sp>
      <p:sp>
        <p:nvSpPr>
          <p:cNvPr id="22" name="Text 20"/>
          <p:cNvSpPr/>
          <p:nvPr/>
        </p:nvSpPr>
        <p:spPr>
          <a:xfrm>
            <a:off x="8656168" y="4343400"/>
            <a:ext cx="2712568" cy="365760"/>
          </a:xfrm>
          <a:prstGeom prst="rect">
            <a:avLst/>
          </a:prstGeom>
          <a:noFill/>
          <a:ln/>
        </p:spPr>
        <p:txBody>
          <a:bodyPr wrap="square" lIns="0" tIns="0" rIns="0" bIns="0" rtlCol="0" anchor="ctr"/>
          <a:lstStyle/>
          <a:p>
            <a:pPr indent="0" marL="0">
              <a:buNone/>
            </a:pPr>
            <a:r>
              <a:rPr lang="en-US" sz="1400" i="1" dirty="0">
                <a:solidFill>
                  <a:srgbClr val="4A4A4A"/>
                </a:solidFill>
                <a:latin typeface="Georgia" pitchFamily="34" charset="0"/>
                <a:ea typeface="Georgia" pitchFamily="34" charset="-122"/>
                <a:cs typeface="Georgia" pitchFamily="34" charset="-120"/>
              </a:rPr>
              <a:t>false accusations</a:t>
            </a:r>
            <a:endParaRPr lang="en-US" sz="1400" dirty="0"/>
          </a:p>
        </p:txBody>
      </p:sp>
      <p:sp>
        <p:nvSpPr>
          <p:cNvPr id="23" name="Text 21"/>
          <p:cNvSpPr/>
          <p:nvPr/>
        </p:nvSpPr>
        <p:spPr>
          <a:xfrm>
            <a:off x="8656168" y="4709160"/>
            <a:ext cx="2712568" cy="274320"/>
          </a:xfrm>
          <a:prstGeom prst="rect">
            <a:avLst/>
          </a:prstGeom>
          <a:noFill/>
          <a:ln/>
        </p:spPr>
        <p:txBody>
          <a:bodyPr wrap="square" lIns="0" tIns="0" rIns="0" bIns="0" rtlCol="0" anchor="ctr"/>
          <a:lstStyle/>
          <a:p>
            <a:pPr indent="0" marL="0">
              <a:buNone/>
            </a:pPr>
            <a:r>
              <a:rPr lang="en-US" sz="1100" i="1" dirty="0">
                <a:solidFill>
                  <a:srgbClr val="8A8A8A"/>
                </a:solidFill>
                <a:latin typeface="Georgia" pitchFamily="34" charset="0"/>
                <a:ea typeface="Georgia" pitchFamily="34" charset="-122"/>
                <a:cs typeface="Georgia" pitchFamily="34" charset="-120"/>
              </a:rPr>
              <a:t>(22 Uninvolved · 13 Witness · 4 Victim)</a:t>
            </a:r>
            <a:endParaRPr lang="en-US" sz="1100" dirty="0"/>
          </a:p>
        </p:txBody>
      </p:sp>
      <p:sp>
        <p:nvSpPr>
          <p:cNvPr id="24" name="Shape 22"/>
          <p:cNvSpPr/>
          <p:nvPr/>
        </p:nvSpPr>
        <p:spPr>
          <a:xfrm>
            <a:off x="640080" y="6080760"/>
            <a:ext cx="10911535" cy="411480"/>
          </a:xfrm>
          <a:prstGeom prst="rect">
            <a:avLst/>
          </a:prstGeom>
          <a:solidFill>
            <a:srgbClr val="EEF1F4"/>
          </a:solidFill>
          <a:ln/>
        </p:spPr>
      </p:sp>
      <p:sp>
        <p:nvSpPr>
          <p:cNvPr id="25" name="Shape 23"/>
          <p:cNvSpPr/>
          <p:nvPr/>
        </p:nvSpPr>
        <p:spPr>
          <a:xfrm>
            <a:off x="640080" y="6080760"/>
            <a:ext cx="54864" cy="411480"/>
          </a:xfrm>
          <a:prstGeom prst="rect">
            <a:avLst/>
          </a:prstGeom>
          <a:solidFill>
            <a:srgbClr val="13294B"/>
          </a:solidFill>
          <a:ln/>
        </p:spPr>
      </p:sp>
      <p:sp>
        <p:nvSpPr>
          <p:cNvPr id="26" name="Text 24"/>
          <p:cNvSpPr/>
          <p:nvPr/>
        </p:nvSpPr>
        <p:spPr>
          <a:xfrm>
            <a:off x="640080" y="6080760"/>
            <a:ext cx="10911535" cy="411480"/>
          </a:xfrm>
          <a:prstGeom prst="rect">
            <a:avLst/>
          </a:prstGeom>
          <a:noFill/>
          <a:ln/>
        </p:spPr>
        <p:txBody>
          <a:bodyPr wrap="square" lIns="0" tIns="0" rIns="0" bIns="0" rtlCol="0" anchor="ctr"/>
          <a:lstStyle/>
          <a:p>
            <a:pPr algn="ctr" indent="0" marL="0">
              <a:buNone/>
            </a:pPr>
            <a:r>
              <a:rPr lang="en-US" sz="1300" b="1" i="1" dirty="0">
                <a:solidFill>
                  <a:srgbClr val="13294B"/>
                </a:solidFill>
                <a:latin typeface="Georgia" pitchFamily="34" charset="0"/>
                <a:ea typeface="Georgia" pitchFamily="34" charset="-122"/>
                <a:cs typeface="Georgia" pitchFamily="34" charset="-120"/>
              </a:rPr>
              <a:t>Graph structure helps the model exclude false suspects more than it helps find true ones.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5 · ANALYSIS</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Held-out inference: real cases</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Stories the model never saw during training; predicted villain probabilities ranked.</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12</a:t>
            </a:r>
            <a:endParaRPr lang="en-US" sz="1000" dirty="0"/>
          </a:p>
        </p:txBody>
      </p:sp>
      <p:sp>
        <p:nvSpPr>
          <p:cNvPr id="8" name="Shape 6"/>
          <p:cNvSpPr/>
          <p:nvPr/>
        </p:nvSpPr>
        <p:spPr>
          <a:xfrm>
            <a:off x="640080" y="2103120"/>
            <a:ext cx="5181448" cy="3657600"/>
          </a:xfrm>
          <a:prstGeom prst="rect">
            <a:avLst/>
          </a:prstGeom>
          <a:solidFill>
            <a:srgbClr val="FFFFFF"/>
          </a:solidFill>
          <a:ln w="9525">
            <a:solidFill>
              <a:srgbClr val="C8CDD3"/>
            </a:solidFill>
            <a:prstDash val="solid"/>
          </a:ln>
        </p:spPr>
      </p:sp>
      <p:sp>
        <p:nvSpPr>
          <p:cNvPr id="9" name="Shape 7"/>
          <p:cNvSpPr/>
          <p:nvPr/>
        </p:nvSpPr>
        <p:spPr>
          <a:xfrm>
            <a:off x="640080" y="2103120"/>
            <a:ext cx="5181448" cy="45720"/>
          </a:xfrm>
          <a:prstGeom prst="rect">
            <a:avLst/>
          </a:prstGeom>
          <a:solidFill>
            <a:srgbClr val="13294B"/>
          </a:solidFill>
          <a:ln/>
        </p:spPr>
      </p:sp>
      <p:sp>
        <p:nvSpPr>
          <p:cNvPr id="10" name="Text 8"/>
          <p:cNvSpPr/>
          <p:nvPr/>
        </p:nvSpPr>
        <p:spPr>
          <a:xfrm>
            <a:off x="914400" y="2286000"/>
            <a:ext cx="4632808"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CASE STUDY 1</a:t>
            </a:r>
            <a:endParaRPr lang="en-US" sz="1000" dirty="0"/>
          </a:p>
        </p:txBody>
      </p:sp>
      <p:sp>
        <p:nvSpPr>
          <p:cNvPr id="11" name="Text 9"/>
          <p:cNvSpPr/>
          <p:nvPr/>
        </p:nvSpPr>
        <p:spPr>
          <a:xfrm>
            <a:off x="914400" y="2560320"/>
            <a:ext cx="4632808" cy="411480"/>
          </a:xfrm>
          <a:prstGeom prst="rect">
            <a:avLst/>
          </a:prstGeom>
          <a:noFill/>
          <a:ln/>
        </p:spPr>
        <p:txBody>
          <a:bodyPr wrap="square" lIns="0" tIns="0" rIns="0" bIns="0" rtlCol="0" anchor="ctr"/>
          <a:lstStyle/>
          <a:p>
            <a:pPr indent="0" marL="0">
              <a:buNone/>
            </a:pPr>
            <a:r>
              <a:rPr lang="en-US" sz="1800" b="1" dirty="0">
                <a:solidFill>
                  <a:srgbClr val="13294B"/>
                </a:solidFill>
                <a:latin typeface="Georgia" pitchFamily="34" charset="0"/>
                <a:ea typeface="Georgia" pitchFamily="34" charset="-122"/>
                <a:cs typeface="Georgia" pitchFamily="34" charset="-120"/>
              </a:rPr>
              <a:t>Zodiac (2007)</a:t>
            </a:r>
            <a:endParaRPr lang="en-US" sz="1800" dirty="0"/>
          </a:p>
        </p:txBody>
      </p:sp>
      <p:sp>
        <p:nvSpPr>
          <p:cNvPr id="12" name="Text 10"/>
          <p:cNvSpPr/>
          <p:nvPr/>
        </p:nvSpPr>
        <p:spPr>
          <a:xfrm>
            <a:off x="914400" y="2971800"/>
            <a:ext cx="4632808" cy="32004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Real-world unsolved. Arthur Leigh Allen is the prime suspect.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914400" y="3383280"/>
          <a:ext cx="4632808" cy="914400"/>
        </p:xfrm>
        <a:graphic>
          <a:graphicData uri="http://schemas.openxmlformats.org/drawingml/2006/table">
            <a:tbl>
              <a:tblPr/>
              <a:tblGrid>
                <a:gridCol w="640080"/>
                <a:gridCol w="1005840"/>
                <a:gridCol w="3291840"/>
              </a:tblGrid>
              <a:tr h="329184">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Rank</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P(Villain)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indent="0" marL="0">
                        <a:buNone/>
                      </a:pPr>
                      <a:r>
                        <a:rPr lang="en-US" sz="1000" b="1" dirty="0">
                          <a:solidFill>
                            <a:srgbClr val="13294B"/>
                          </a:solidFill>
                          <a:latin typeface="Georgia" pitchFamily="34" charset="0"/>
                          <a:ea typeface="Georgia" pitchFamily="34" charset="-122"/>
                          <a:cs typeface="Georgia" pitchFamily="34" charset="-120"/>
                        </a:rPr>
                        <a:t>Character</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329184">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1</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1.0000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Arthur Leigh Allen  (real-world prime suspect)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r>
              <a:tr h="329184">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2</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0.998</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Zodiac Killer  (unidentified placeholder)</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0.217</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Rick Marshall  (person of interest)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ctr" indent="0" marL="0">
                        <a:buNone/>
                      </a:pPr>
                      <a:r>
                        <a:rPr lang="en-US" sz="1100" i="1" dirty="0">
                          <a:solidFill>
                            <a:srgbClr val="8A8A8A"/>
                          </a:solidFill>
                          <a:latin typeface="Cambria" pitchFamily="34" charset="0"/>
                          <a:ea typeface="Cambria" pitchFamily="34" charset="-122"/>
                          <a:cs typeface="Cambria" pitchFamily="34" charset="-120"/>
                        </a:rPr>
                        <a:t>4–20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i="1" dirty="0">
                          <a:solidFill>
                            <a:srgbClr val="8A8A8A"/>
                          </a:solidFill>
                          <a:latin typeface="Cambria" pitchFamily="34" charset="0"/>
                          <a:ea typeface="Cambria" pitchFamily="34" charset="-122"/>
                          <a:cs typeface="Cambria" pitchFamily="34" charset="-120"/>
                        </a:rPr>
                        <a:t>&lt; 0.13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8A8A8A"/>
                          </a:solidFill>
                          <a:latin typeface="Georgia" pitchFamily="34" charset="0"/>
                          <a:ea typeface="Georgia" pitchFamily="34" charset="-122"/>
                          <a:cs typeface="Georgia" pitchFamily="34" charset="-120"/>
                        </a:rPr>
                        <a:t>Police, victims, witnesses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14" name="Shape 11"/>
          <p:cNvSpPr/>
          <p:nvPr/>
        </p:nvSpPr>
        <p:spPr>
          <a:xfrm>
            <a:off x="6461608" y="2103120"/>
            <a:ext cx="5181448" cy="3657600"/>
          </a:xfrm>
          <a:prstGeom prst="rect">
            <a:avLst/>
          </a:prstGeom>
          <a:solidFill>
            <a:srgbClr val="FFFFFF"/>
          </a:solidFill>
          <a:ln w="9525">
            <a:solidFill>
              <a:srgbClr val="C8CDD3"/>
            </a:solidFill>
            <a:prstDash val="solid"/>
          </a:ln>
        </p:spPr>
      </p:sp>
      <p:sp>
        <p:nvSpPr>
          <p:cNvPr id="15" name="Shape 12"/>
          <p:cNvSpPr/>
          <p:nvPr/>
        </p:nvSpPr>
        <p:spPr>
          <a:xfrm>
            <a:off x="6461608" y="2103120"/>
            <a:ext cx="5181448" cy="45720"/>
          </a:xfrm>
          <a:prstGeom prst="rect">
            <a:avLst/>
          </a:prstGeom>
          <a:solidFill>
            <a:srgbClr val="13294B"/>
          </a:solidFill>
          <a:ln/>
        </p:spPr>
      </p:sp>
      <p:sp>
        <p:nvSpPr>
          <p:cNvPr id="16" name="Text 13"/>
          <p:cNvSpPr/>
          <p:nvPr/>
        </p:nvSpPr>
        <p:spPr>
          <a:xfrm>
            <a:off x="6735928" y="2286000"/>
            <a:ext cx="4632808"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CASE STUDY 2</a:t>
            </a:r>
            <a:endParaRPr lang="en-US" sz="1000" dirty="0"/>
          </a:p>
        </p:txBody>
      </p:sp>
      <p:sp>
        <p:nvSpPr>
          <p:cNvPr id="17" name="Text 14"/>
          <p:cNvSpPr/>
          <p:nvPr/>
        </p:nvSpPr>
        <p:spPr>
          <a:xfrm>
            <a:off x="6735928" y="2560320"/>
            <a:ext cx="4632808" cy="411480"/>
          </a:xfrm>
          <a:prstGeom prst="rect">
            <a:avLst/>
          </a:prstGeom>
          <a:noFill/>
          <a:ln/>
        </p:spPr>
        <p:txBody>
          <a:bodyPr wrap="square" lIns="0" tIns="0" rIns="0" bIns="0" rtlCol="0" anchor="ctr"/>
          <a:lstStyle/>
          <a:p>
            <a:pPr indent="0" marL="0">
              <a:buNone/>
            </a:pPr>
            <a:r>
              <a:rPr lang="en-US" sz="1800" b="1" dirty="0">
                <a:solidFill>
                  <a:srgbClr val="13294B"/>
                </a:solidFill>
                <a:latin typeface="Georgia" pitchFamily="34" charset="0"/>
                <a:ea typeface="Georgia" pitchFamily="34" charset="-122"/>
                <a:cs typeface="Georgia" pitchFamily="34" charset="-120"/>
              </a:rPr>
              <a:t>In the Dark (S3 podcast)</a:t>
            </a:r>
            <a:endParaRPr lang="en-US" sz="1800" dirty="0"/>
          </a:p>
        </p:txBody>
      </p:sp>
      <p:sp>
        <p:nvSpPr>
          <p:cNvPr id="18" name="Text 15"/>
          <p:cNvSpPr/>
          <p:nvPr/>
        </p:nvSpPr>
        <p:spPr>
          <a:xfrm>
            <a:off x="6735928" y="2971800"/>
            <a:ext cx="4632808" cy="32004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Curtis Flowers — wrongfully prosecuted six times. Doug Evans — the prosecutor.</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735928" y="3383280"/>
          <a:ext cx="4632808" cy="914400"/>
        </p:xfrm>
        <a:graphic>
          <a:graphicData uri="http://schemas.openxmlformats.org/drawingml/2006/table">
            <a:tbl>
              <a:tblPr/>
              <a:tblGrid>
                <a:gridCol w="640080"/>
                <a:gridCol w="1005840"/>
                <a:gridCol w="3291840"/>
              </a:tblGrid>
              <a:tr h="329184">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Rank</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000" b="1" dirty="0">
                          <a:solidFill>
                            <a:srgbClr val="13294B"/>
                          </a:solidFill>
                          <a:latin typeface="Georgia" pitchFamily="34" charset="0"/>
                          <a:ea typeface="Georgia" pitchFamily="34" charset="-122"/>
                          <a:cs typeface="Georgia" pitchFamily="34" charset="-120"/>
                        </a:rPr>
                        <a:t>P(Villain)</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indent="0" marL="0">
                        <a:buNone/>
                      </a:pPr>
                      <a:r>
                        <a:rPr lang="en-US" sz="1000" b="1" dirty="0">
                          <a:solidFill>
                            <a:srgbClr val="13294B"/>
                          </a:solidFill>
                          <a:latin typeface="Georgia" pitchFamily="34" charset="0"/>
                          <a:ea typeface="Georgia" pitchFamily="34" charset="-122"/>
                          <a:cs typeface="Georgia" pitchFamily="34" charset="-120"/>
                        </a:rPr>
                        <a:t>Character</a:t>
                      </a:r>
                      <a:endParaRPr lang="en-US" sz="10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329184">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1</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algn="ctr" indent="0" marL="0">
                        <a:buNone/>
                      </a:pPr>
                      <a:r>
                        <a:rPr lang="en-US" sz="1100" b="1" dirty="0">
                          <a:solidFill>
                            <a:srgbClr val="13294B"/>
                          </a:solidFill>
                          <a:latin typeface="Cambria" pitchFamily="34" charset="0"/>
                          <a:ea typeface="Cambria" pitchFamily="34" charset="-122"/>
                          <a:cs typeface="Cambria" pitchFamily="34" charset="-120"/>
                        </a:rPr>
                        <a:t>1.0000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Doug Evans  (prosecutor / antagonist)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F6F8FA"/>
                    </a:solidFill>
                  </a:tcPr>
                </a:tc>
              </a:tr>
              <a:tr h="329184">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2</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4A4A4A"/>
                          </a:solidFill>
                          <a:latin typeface="Cambria" pitchFamily="34" charset="0"/>
                          <a:ea typeface="Cambria" pitchFamily="34" charset="-122"/>
                          <a:cs typeface="Cambria" pitchFamily="34" charset="-120"/>
                        </a:rPr>
                        <a:t>1.0000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Willie James Hemphill  (alt. suspect)</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329184">
                <a:tc>
                  <a:txBody>
                    <a:bodyPr/>
                    <a:lstStyle/>
                    <a:p>
                      <a:pPr algn="ctr" indent="0" marL="0">
                        <a:buNone/>
                      </a:pPr>
                      <a:r>
                        <a:rPr lang="en-US" sz="1100" b="1" dirty="0">
                          <a:solidFill>
                            <a:srgbClr val="3D7068"/>
                          </a:solidFill>
                          <a:latin typeface="Cambria" pitchFamily="34" charset="0"/>
                          <a:ea typeface="Cambria" pitchFamily="34" charset="-122"/>
                          <a:cs typeface="Cambria" pitchFamily="34" charset="-120"/>
                        </a:rPr>
                        <a:t>16</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6EFEC"/>
                    </a:solidFill>
                  </a:tcPr>
                </a:tc>
                <a:tc>
                  <a:txBody>
                    <a:bodyPr/>
                    <a:lstStyle/>
                    <a:p>
                      <a:pPr algn="ctr" indent="0" marL="0">
                        <a:buNone/>
                      </a:pPr>
                      <a:r>
                        <a:rPr lang="en-US" sz="1100" b="1" dirty="0">
                          <a:solidFill>
                            <a:srgbClr val="3D7068"/>
                          </a:solidFill>
                          <a:latin typeface="Cambria" pitchFamily="34" charset="0"/>
                          <a:ea typeface="Cambria" pitchFamily="34" charset="-122"/>
                          <a:cs typeface="Cambria" pitchFamily="34" charset="-120"/>
                        </a:rPr>
                        <a:t>0.0000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6EFEC"/>
                    </a:solidFill>
                  </a:tcPr>
                </a:tc>
                <a:tc>
                  <a:txBody>
                    <a:bodyPr/>
                    <a:lstStyle/>
                    <a:p>
                      <a:pPr indent="0" marL="0">
                        <a:buNone/>
                      </a:pPr>
                      <a:r>
                        <a:rPr lang="en-US" sz="1100" b="1" dirty="0">
                          <a:solidFill>
                            <a:srgbClr val="3D7068"/>
                          </a:solidFill>
                          <a:latin typeface="Georgia" pitchFamily="34" charset="0"/>
                          <a:ea typeface="Georgia" pitchFamily="34" charset="-122"/>
                          <a:cs typeface="Georgia" pitchFamily="34" charset="-120"/>
                        </a:rPr>
                        <a:t>Curtis Flowers  (wrongfully accused — cleared)</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6EFEC"/>
                    </a:solidFill>
                  </a:tcPr>
                </a:tc>
              </a:tr>
            </a:tbl>
          </a:graphicData>
        </a:graphic>
      </p:graphicFrame>
      <p:sp>
        <p:nvSpPr>
          <p:cNvPr id="20" name="Text 16"/>
          <p:cNvSpPr/>
          <p:nvPr/>
        </p:nvSpPr>
        <p:spPr>
          <a:xfrm>
            <a:off x="6735928" y="5120640"/>
            <a:ext cx="4632808" cy="548640"/>
          </a:xfrm>
          <a:prstGeom prst="rect">
            <a:avLst/>
          </a:prstGeom>
          <a:noFill/>
          <a:ln/>
        </p:spPr>
        <p:txBody>
          <a:bodyPr wrap="square" lIns="0" tIns="0" rIns="0" bIns="0" rtlCol="0" anchor="ctr"/>
          <a:lstStyle/>
          <a:p>
            <a:pPr indent="0" marL="0">
              <a:lnSpc>
                <a:spcPts val="1600"/>
              </a:lnSpc>
              <a:buNone/>
            </a:pPr>
            <a:r>
              <a:rPr lang="en-US" sz="1100" i="1" dirty="0">
                <a:solidFill>
                  <a:srgbClr val="4A4A4A"/>
                </a:solidFill>
                <a:latin typeface="Georgia" pitchFamily="34" charset="0"/>
                <a:ea typeface="Georgia" pitchFamily="34" charset="-122"/>
                <a:cs typeface="Georgia" pitchFamily="34" charset="-120"/>
              </a:rPr>
              <a:t>Curtis Flowers was mislabelled as Villain in the data; the model overrode the label from relational evidence alone.</a:t>
            </a:r>
            <a:endParaRPr lang="en-US" sz="1100" dirty="0"/>
          </a:p>
        </p:txBody>
      </p:sp>
      <p:sp>
        <p:nvSpPr>
          <p:cNvPr id="21" name="Shape 17"/>
          <p:cNvSpPr/>
          <p:nvPr/>
        </p:nvSpPr>
        <p:spPr>
          <a:xfrm>
            <a:off x="640080" y="5989320"/>
            <a:ext cx="10911535" cy="411480"/>
          </a:xfrm>
          <a:prstGeom prst="rect">
            <a:avLst/>
          </a:prstGeom>
          <a:solidFill>
            <a:srgbClr val="EEF1F4"/>
          </a:solidFill>
          <a:ln/>
        </p:spPr>
      </p:sp>
      <p:sp>
        <p:nvSpPr>
          <p:cNvPr id="22" name="Shape 18"/>
          <p:cNvSpPr/>
          <p:nvPr/>
        </p:nvSpPr>
        <p:spPr>
          <a:xfrm>
            <a:off x="640080" y="5989320"/>
            <a:ext cx="54864" cy="411480"/>
          </a:xfrm>
          <a:prstGeom prst="rect">
            <a:avLst/>
          </a:prstGeom>
          <a:solidFill>
            <a:srgbClr val="13294B"/>
          </a:solidFill>
          <a:ln/>
        </p:spPr>
      </p:sp>
      <p:sp>
        <p:nvSpPr>
          <p:cNvPr id="23" name="Text 19"/>
          <p:cNvSpPr/>
          <p:nvPr/>
        </p:nvSpPr>
        <p:spPr>
          <a:xfrm>
            <a:off x="640080" y="5989320"/>
            <a:ext cx="10911535" cy="411480"/>
          </a:xfrm>
          <a:prstGeom prst="rect">
            <a:avLst/>
          </a:prstGeom>
          <a:noFill/>
          <a:ln/>
        </p:spPr>
        <p:txBody>
          <a:bodyPr wrap="square" lIns="0" tIns="0" rIns="0" bIns="0" rtlCol="0" anchor="ctr"/>
          <a:lstStyle/>
          <a:p>
            <a:pPr algn="ctr" indent="0" marL="0">
              <a:buNone/>
            </a:pPr>
            <a:r>
              <a:rPr lang="en-US" sz="1300" b="1" i="1" dirty="0">
                <a:solidFill>
                  <a:srgbClr val="13294B"/>
                </a:solidFill>
                <a:latin typeface="Georgia" pitchFamily="34" charset="0"/>
                <a:ea typeface="Georgia" pitchFamily="34" charset="-122"/>
                <a:cs typeface="Georgia" pitchFamily="34" charset="-120"/>
              </a:rPr>
              <a:t>The model is generalising — not memorising labels.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 6 · DISCUSSION</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640080" y="1417320"/>
            <a:ext cx="10911535" cy="365760"/>
          </a:xfrm>
          <a:prstGeom prst="rect">
            <a:avLst/>
          </a:prstGeom>
          <a:noFill/>
          <a:ln/>
        </p:spPr>
        <p:txBody>
          <a:bodyPr wrap="square" lIns="0" tIns="0" rIns="0" bIns="0" rtlCol="0" anchor="ctr"/>
          <a:lstStyle/>
          <a:p>
            <a:pPr indent="0" marL="0">
              <a:buNone/>
            </a:pPr>
            <a:r>
              <a:rPr lang="en-US" sz="1300" i="1" dirty="0">
                <a:solidFill>
                  <a:srgbClr val="4A4A4A"/>
                </a:solidFill>
                <a:latin typeface="Georgia" pitchFamily="34" charset="0"/>
                <a:ea typeface="Georgia" pitchFamily="34" charset="-122"/>
                <a:cs typeface="Georgia" pitchFamily="34" charset="-120"/>
              </a:rPr>
              <a:t>What R-GCN does well, where it falls short, and what it tells us about graph-based reasoning.</a:t>
            </a:r>
            <a:endParaRPr lang="en-US" sz="1300" dirty="0"/>
          </a:p>
        </p:txBody>
      </p:sp>
      <p:sp>
        <p:nvSpPr>
          <p:cNvPr id="6" name="Text 4"/>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7" name="Text 5"/>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13</a:t>
            </a:r>
            <a:endParaRPr lang="en-US" sz="1000" dirty="0"/>
          </a:p>
        </p:txBody>
      </p:sp>
      <p:sp>
        <p:nvSpPr>
          <p:cNvPr id="8" name="Shape 6"/>
          <p:cNvSpPr/>
          <p:nvPr/>
        </p:nvSpPr>
        <p:spPr>
          <a:xfrm>
            <a:off x="640080" y="2103120"/>
            <a:ext cx="3520440" cy="1783080"/>
          </a:xfrm>
          <a:prstGeom prst="rect">
            <a:avLst/>
          </a:prstGeom>
          <a:solidFill>
            <a:srgbClr val="F6F8FA"/>
          </a:solidFill>
          <a:ln w="9525">
            <a:solidFill>
              <a:srgbClr val="C8CDD3"/>
            </a:solidFill>
            <a:prstDash val="solid"/>
          </a:ln>
        </p:spPr>
      </p:sp>
      <p:sp>
        <p:nvSpPr>
          <p:cNvPr id="9" name="Shape 7"/>
          <p:cNvSpPr/>
          <p:nvPr/>
        </p:nvSpPr>
        <p:spPr>
          <a:xfrm>
            <a:off x="640080" y="2103120"/>
            <a:ext cx="54864" cy="1783080"/>
          </a:xfrm>
          <a:prstGeom prst="rect">
            <a:avLst/>
          </a:prstGeom>
          <a:solidFill>
            <a:srgbClr val="13294B"/>
          </a:solidFill>
          <a:ln/>
        </p:spPr>
      </p:sp>
      <p:sp>
        <p:nvSpPr>
          <p:cNvPr id="10" name="Text 8"/>
          <p:cNvSpPr/>
          <p:nvPr/>
        </p:nvSpPr>
        <p:spPr>
          <a:xfrm>
            <a:off x="868680" y="224028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6.1</a:t>
            </a:r>
            <a:endParaRPr lang="en-US" sz="900" dirty="0"/>
          </a:p>
        </p:txBody>
      </p:sp>
      <p:sp>
        <p:nvSpPr>
          <p:cNvPr id="11" name="Text 9"/>
          <p:cNvSpPr/>
          <p:nvPr/>
        </p:nvSpPr>
        <p:spPr>
          <a:xfrm>
            <a:off x="868680" y="248716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Typed structure beats topology</a:t>
            </a:r>
            <a:endParaRPr lang="en-US" sz="1400" dirty="0"/>
          </a:p>
        </p:txBody>
      </p:sp>
      <p:sp>
        <p:nvSpPr>
          <p:cNvPr id="12" name="Text 10"/>
          <p:cNvSpPr/>
          <p:nvPr/>
        </p:nvSpPr>
        <p:spPr>
          <a:xfrm>
            <a:off x="868680" y="297180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Labelled relations drive performance; topology alone yields F1 = 0.255.</a:t>
            </a:r>
            <a:endParaRPr lang="en-US" sz="1100" dirty="0"/>
          </a:p>
        </p:txBody>
      </p:sp>
      <p:sp>
        <p:nvSpPr>
          <p:cNvPr id="13" name="Shape 11"/>
          <p:cNvSpPr/>
          <p:nvPr/>
        </p:nvSpPr>
        <p:spPr>
          <a:xfrm>
            <a:off x="4389120" y="2103120"/>
            <a:ext cx="3520440" cy="1783080"/>
          </a:xfrm>
          <a:prstGeom prst="rect">
            <a:avLst/>
          </a:prstGeom>
          <a:solidFill>
            <a:srgbClr val="F6F8FA"/>
          </a:solidFill>
          <a:ln w="9525">
            <a:solidFill>
              <a:srgbClr val="C8CDD3"/>
            </a:solidFill>
            <a:prstDash val="solid"/>
          </a:ln>
        </p:spPr>
      </p:sp>
      <p:sp>
        <p:nvSpPr>
          <p:cNvPr id="14" name="Shape 12"/>
          <p:cNvSpPr/>
          <p:nvPr/>
        </p:nvSpPr>
        <p:spPr>
          <a:xfrm>
            <a:off x="4389120" y="2103120"/>
            <a:ext cx="54864" cy="1783080"/>
          </a:xfrm>
          <a:prstGeom prst="rect">
            <a:avLst/>
          </a:prstGeom>
          <a:solidFill>
            <a:srgbClr val="13294B"/>
          </a:solidFill>
          <a:ln/>
        </p:spPr>
      </p:sp>
      <p:sp>
        <p:nvSpPr>
          <p:cNvPr id="15" name="Text 13"/>
          <p:cNvSpPr/>
          <p:nvPr/>
        </p:nvSpPr>
        <p:spPr>
          <a:xfrm>
            <a:off x="4617720" y="224028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6.2</a:t>
            </a:r>
            <a:endParaRPr lang="en-US" sz="900" dirty="0"/>
          </a:p>
        </p:txBody>
      </p:sp>
      <p:sp>
        <p:nvSpPr>
          <p:cNvPr id="16" name="Text 14"/>
          <p:cNvSpPr/>
          <p:nvPr/>
        </p:nvSpPr>
        <p:spPr>
          <a:xfrm>
            <a:off x="4617720" y="248716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Precise but cautious</a:t>
            </a:r>
            <a:endParaRPr lang="en-US" sz="1400" dirty="0"/>
          </a:p>
        </p:txBody>
      </p:sp>
      <p:sp>
        <p:nvSpPr>
          <p:cNvPr id="17" name="Text 15"/>
          <p:cNvSpPr/>
          <p:nvPr/>
        </p:nvSpPr>
        <p:spPr>
          <a:xfrm>
            <a:off x="4617720" y="297180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Higher precision than LogReg, slightly lower recall — half as many false accusations.</a:t>
            </a:r>
            <a:endParaRPr lang="en-US" sz="1100" dirty="0"/>
          </a:p>
        </p:txBody>
      </p:sp>
      <p:sp>
        <p:nvSpPr>
          <p:cNvPr id="18" name="Shape 16"/>
          <p:cNvSpPr/>
          <p:nvPr/>
        </p:nvSpPr>
        <p:spPr>
          <a:xfrm>
            <a:off x="8138160" y="2103120"/>
            <a:ext cx="3520440" cy="1783080"/>
          </a:xfrm>
          <a:prstGeom prst="rect">
            <a:avLst/>
          </a:prstGeom>
          <a:solidFill>
            <a:srgbClr val="F6F8FA"/>
          </a:solidFill>
          <a:ln w="9525">
            <a:solidFill>
              <a:srgbClr val="C8CDD3"/>
            </a:solidFill>
            <a:prstDash val="solid"/>
          </a:ln>
        </p:spPr>
      </p:sp>
      <p:sp>
        <p:nvSpPr>
          <p:cNvPr id="19" name="Shape 17"/>
          <p:cNvSpPr/>
          <p:nvPr/>
        </p:nvSpPr>
        <p:spPr>
          <a:xfrm>
            <a:off x="8138160" y="2103120"/>
            <a:ext cx="54864" cy="1783080"/>
          </a:xfrm>
          <a:prstGeom prst="rect">
            <a:avLst/>
          </a:prstGeom>
          <a:solidFill>
            <a:srgbClr val="13294B"/>
          </a:solidFill>
          <a:ln/>
        </p:spPr>
      </p:sp>
      <p:sp>
        <p:nvSpPr>
          <p:cNvPr id="20" name="Text 18"/>
          <p:cNvSpPr/>
          <p:nvPr/>
        </p:nvSpPr>
        <p:spPr>
          <a:xfrm>
            <a:off x="8366760" y="224028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6.3</a:t>
            </a:r>
            <a:endParaRPr lang="en-US" sz="900" dirty="0"/>
          </a:p>
        </p:txBody>
      </p:sp>
      <p:sp>
        <p:nvSpPr>
          <p:cNvPr id="21" name="Text 19"/>
          <p:cNvSpPr/>
          <p:nvPr/>
        </p:nvSpPr>
        <p:spPr>
          <a:xfrm>
            <a:off x="8366760" y="248716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Better at exclusion</a:t>
            </a:r>
            <a:endParaRPr lang="en-US" sz="1400" dirty="0"/>
          </a:p>
        </p:txBody>
      </p:sp>
      <p:sp>
        <p:nvSpPr>
          <p:cNvPr id="22" name="Text 20"/>
          <p:cNvSpPr/>
          <p:nvPr/>
        </p:nvSpPr>
        <p:spPr>
          <a:xfrm>
            <a:off x="8366760" y="297180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Most of the gain comes from ruling people out, not finding new culprits.</a:t>
            </a:r>
            <a:endParaRPr lang="en-US" sz="1100" dirty="0"/>
          </a:p>
        </p:txBody>
      </p:sp>
      <p:sp>
        <p:nvSpPr>
          <p:cNvPr id="23" name="Shape 21"/>
          <p:cNvSpPr/>
          <p:nvPr/>
        </p:nvSpPr>
        <p:spPr>
          <a:xfrm>
            <a:off x="640080" y="4069080"/>
            <a:ext cx="3520440" cy="1783080"/>
          </a:xfrm>
          <a:prstGeom prst="rect">
            <a:avLst/>
          </a:prstGeom>
          <a:solidFill>
            <a:srgbClr val="F6F8FA"/>
          </a:solidFill>
          <a:ln w="9525">
            <a:solidFill>
              <a:srgbClr val="C8CDD3"/>
            </a:solidFill>
            <a:prstDash val="solid"/>
          </a:ln>
        </p:spPr>
      </p:sp>
      <p:sp>
        <p:nvSpPr>
          <p:cNvPr id="24" name="Shape 22"/>
          <p:cNvSpPr/>
          <p:nvPr/>
        </p:nvSpPr>
        <p:spPr>
          <a:xfrm>
            <a:off x="640080" y="4069080"/>
            <a:ext cx="54864" cy="1783080"/>
          </a:xfrm>
          <a:prstGeom prst="rect">
            <a:avLst/>
          </a:prstGeom>
          <a:solidFill>
            <a:srgbClr val="13294B"/>
          </a:solidFill>
          <a:ln/>
        </p:spPr>
      </p:sp>
      <p:sp>
        <p:nvSpPr>
          <p:cNvPr id="25" name="Text 23"/>
          <p:cNvSpPr/>
          <p:nvPr/>
        </p:nvSpPr>
        <p:spPr>
          <a:xfrm>
            <a:off x="868680" y="420624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6.4</a:t>
            </a:r>
            <a:endParaRPr lang="en-US" sz="900" dirty="0"/>
          </a:p>
        </p:txBody>
      </p:sp>
      <p:sp>
        <p:nvSpPr>
          <p:cNvPr id="26" name="Text 24"/>
          <p:cNvSpPr/>
          <p:nvPr/>
        </p:nvSpPr>
        <p:spPr>
          <a:xfrm>
            <a:off x="868680" y="445312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Multi-task helps</a:t>
            </a:r>
            <a:endParaRPr lang="en-US" sz="1400" dirty="0"/>
          </a:p>
        </p:txBody>
      </p:sp>
      <p:sp>
        <p:nvSpPr>
          <p:cNvPr id="27" name="Text 25"/>
          <p:cNvSpPr/>
          <p:nvPr/>
        </p:nvSpPr>
        <p:spPr>
          <a:xfrm>
            <a:off x="868680" y="493776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Link-prediction signal regularises the encoder; ablation shows F1 drops by 3.1 pp without it.</a:t>
            </a:r>
            <a:endParaRPr lang="en-US" sz="1100" dirty="0"/>
          </a:p>
        </p:txBody>
      </p:sp>
      <p:sp>
        <p:nvSpPr>
          <p:cNvPr id="28" name="Shape 26"/>
          <p:cNvSpPr/>
          <p:nvPr/>
        </p:nvSpPr>
        <p:spPr>
          <a:xfrm>
            <a:off x="4389120" y="4069080"/>
            <a:ext cx="3520440" cy="1783080"/>
          </a:xfrm>
          <a:prstGeom prst="rect">
            <a:avLst/>
          </a:prstGeom>
          <a:solidFill>
            <a:srgbClr val="F6F8FA"/>
          </a:solidFill>
          <a:ln w="9525">
            <a:solidFill>
              <a:srgbClr val="C8CDD3"/>
            </a:solidFill>
            <a:prstDash val="solid"/>
          </a:ln>
        </p:spPr>
      </p:sp>
      <p:sp>
        <p:nvSpPr>
          <p:cNvPr id="29" name="Shape 27"/>
          <p:cNvSpPr/>
          <p:nvPr/>
        </p:nvSpPr>
        <p:spPr>
          <a:xfrm>
            <a:off x="4389120" y="4069080"/>
            <a:ext cx="54864" cy="1783080"/>
          </a:xfrm>
          <a:prstGeom prst="rect">
            <a:avLst/>
          </a:prstGeom>
          <a:solidFill>
            <a:srgbClr val="13294B"/>
          </a:solidFill>
          <a:ln/>
        </p:spPr>
      </p:sp>
      <p:sp>
        <p:nvSpPr>
          <p:cNvPr id="30" name="Text 28"/>
          <p:cNvSpPr/>
          <p:nvPr/>
        </p:nvSpPr>
        <p:spPr>
          <a:xfrm>
            <a:off x="4617720" y="420624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6.5</a:t>
            </a:r>
            <a:endParaRPr lang="en-US" sz="900" dirty="0"/>
          </a:p>
        </p:txBody>
      </p:sp>
      <p:sp>
        <p:nvSpPr>
          <p:cNvPr id="31" name="Text 29"/>
          <p:cNvSpPr/>
          <p:nvPr/>
        </p:nvSpPr>
        <p:spPr>
          <a:xfrm>
            <a:off x="4617720" y="445312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Generalises to held-out cases</a:t>
            </a:r>
            <a:endParaRPr lang="en-US" sz="1400" dirty="0"/>
          </a:p>
        </p:txBody>
      </p:sp>
      <p:sp>
        <p:nvSpPr>
          <p:cNvPr id="32" name="Text 30"/>
          <p:cNvSpPr/>
          <p:nvPr/>
        </p:nvSpPr>
        <p:spPr>
          <a:xfrm>
            <a:off x="4617720" y="493776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Correctly ranks real-world prime suspects; overrides a mislabelled training point.</a:t>
            </a:r>
            <a:endParaRPr lang="en-US" sz="1100" dirty="0"/>
          </a:p>
        </p:txBody>
      </p:sp>
      <p:sp>
        <p:nvSpPr>
          <p:cNvPr id="33" name="Shape 31"/>
          <p:cNvSpPr/>
          <p:nvPr/>
        </p:nvSpPr>
        <p:spPr>
          <a:xfrm>
            <a:off x="8138160" y="4069080"/>
            <a:ext cx="3520440" cy="1783080"/>
          </a:xfrm>
          <a:prstGeom prst="rect">
            <a:avLst/>
          </a:prstGeom>
          <a:solidFill>
            <a:srgbClr val="F6F8FA"/>
          </a:solidFill>
          <a:ln w="9525">
            <a:solidFill>
              <a:srgbClr val="C8CDD3"/>
            </a:solidFill>
            <a:prstDash val="solid"/>
          </a:ln>
        </p:spPr>
      </p:sp>
      <p:sp>
        <p:nvSpPr>
          <p:cNvPr id="34" name="Shape 32"/>
          <p:cNvSpPr/>
          <p:nvPr/>
        </p:nvSpPr>
        <p:spPr>
          <a:xfrm>
            <a:off x="8138160" y="4069080"/>
            <a:ext cx="54864" cy="1783080"/>
          </a:xfrm>
          <a:prstGeom prst="rect">
            <a:avLst/>
          </a:prstGeom>
          <a:solidFill>
            <a:srgbClr val="13294B"/>
          </a:solidFill>
          <a:ln/>
        </p:spPr>
      </p:sp>
      <p:sp>
        <p:nvSpPr>
          <p:cNvPr id="35" name="Text 33"/>
          <p:cNvSpPr/>
          <p:nvPr/>
        </p:nvSpPr>
        <p:spPr>
          <a:xfrm>
            <a:off x="8366760" y="4206240"/>
            <a:ext cx="914400" cy="256032"/>
          </a:xfrm>
          <a:prstGeom prst="rect">
            <a:avLst/>
          </a:prstGeom>
          <a:noFill/>
          <a:ln/>
        </p:spPr>
        <p:txBody>
          <a:bodyPr wrap="square" lIns="0" tIns="0" rIns="0" bIns="0" rtlCol="0" anchor="ctr"/>
          <a:lstStyle/>
          <a:p>
            <a:pPr indent="0" marL="0">
              <a:buNone/>
            </a:pPr>
            <a:r>
              <a:rPr lang="en-US" sz="900" i="1" spc="200" kern="0" dirty="0">
                <a:solidFill>
                  <a:srgbClr val="2C4A75"/>
                </a:solidFill>
                <a:latin typeface="Georgia" pitchFamily="34" charset="0"/>
                <a:ea typeface="Georgia" pitchFamily="34" charset="-122"/>
                <a:cs typeface="Georgia" pitchFamily="34" charset="-120"/>
              </a:rPr>
              <a:t>§ 6.6</a:t>
            </a:r>
            <a:endParaRPr lang="en-US" sz="900" dirty="0"/>
          </a:p>
        </p:txBody>
      </p:sp>
      <p:sp>
        <p:nvSpPr>
          <p:cNvPr id="36" name="Text 34"/>
          <p:cNvSpPr/>
          <p:nvPr/>
        </p:nvSpPr>
        <p:spPr>
          <a:xfrm>
            <a:off x="8366760" y="4453128"/>
            <a:ext cx="3063240"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Limits remain</a:t>
            </a:r>
            <a:endParaRPr lang="en-US" sz="1400" dirty="0"/>
          </a:p>
        </p:txBody>
      </p:sp>
      <p:sp>
        <p:nvSpPr>
          <p:cNvPr id="37" name="Text 35"/>
          <p:cNvSpPr/>
          <p:nvPr/>
        </p:nvSpPr>
        <p:spPr>
          <a:xfrm>
            <a:off x="8366760" y="4937760"/>
            <a:ext cx="3063240" cy="8686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Performance degrades on graphs with noisy or sparse relations; see Appendix C.</a:t>
            </a:r>
            <a:endParaRPr lang="en-US" sz="1100" dirty="0"/>
          </a:p>
        </p:txBody>
      </p:sp>
      <p:sp>
        <p:nvSpPr>
          <p:cNvPr id="38" name="Text 36"/>
          <p:cNvSpPr/>
          <p:nvPr/>
        </p:nvSpPr>
        <p:spPr>
          <a:xfrm>
            <a:off x="640080" y="6263640"/>
            <a:ext cx="10911535"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Georgia" pitchFamily="34" charset="0"/>
                <a:ea typeface="Georgia" pitchFamily="34" charset="-122"/>
                <a:cs typeface="Georgia" pitchFamily="34" charset="-120"/>
              </a:rPr>
              <a:t>References:  Schlichtkrull et al., 2018  ·  Kipf &amp; Welling, 2017  ·  Yang et al., 2015 (DistMult)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3294B"/>
          </a:solidFill>
          <a:ln/>
        </p:spPr>
      </p:sp>
      <p:sp>
        <p:nvSpPr>
          <p:cNvPr id="3" name="Text 1"/>
          <p:cNvSpPr/>
          <p:nvPr/>
        </p:nvSpPr>
        <p:spPr>
          <a:xfrm>
            <a:off x="4663440" y="2377440"/>
            <a:ext cx="6858000" cy="914400"/>
          </a:xfrm>
          <a:prstGeom prst="rect">
            <a:avLst/>
          </a:prstGeom>
          <a:noFill/>
          <a:ln/>
        </p:spPr>
        <p:txBody>
          <a:bodyPr wrap="square" lIns="0" tIns="0" rIns="0" bIns="0" rtlCol="0" anchor="ctr"/>
          <a:lstStyle/>
          <a:p>
            <a:pPr indent="0" marL="0">
              <a:buNone/>
            </a:pPr>
            <a:r>
              <a:rPr lang="en-US" sz="6400" b="1" dirty="0">
                <a:solidFill>
                  <a:srgbClr val="13294B"/>
                </a:solidFill>
                <a:latin typeface="Georgia" pitchFamily="34" charset="0"/>
                <a:ea typeface="Georgia" pitchFamily="34" charset="-122"/>
                <a:cs typeface="Georgia" pitchFamily="34" charset="-120"/>
              </a:rPr>
              <a:t>Questions</a:t>
            </a:r>
            <a:endParaRPr lang="en-US" sz="6400" dirty="0"/>
          </a:p>
        </p:txBody>
      </p:sp>
      <p:sp>
        <p:nvSpPr>
          <p:cNvPr id="4" name="Shape 2"/>
          <p:cNvSpPr/>
          <p:nvPr/>
        </p:nvSpPr>
        <p:spPr>
          <a:xfrm>
            <a:off x="4663440" y="3611880"/>
            <a:ext cx="1280160" cy="0"/>
          </a:xfrm>
          <a:prstGeom prst="line">
            <a:avLst/>
          </a:prstGeom>
          <a:noFill/>
          <a:ln w="12700">
            <a:solidFill>
              <a:srgbClr val="4A6A95"/>
            </a:solidFill>
            <a:prstDash val="solid"/>
          </a:ln>
        </p:spPr>
      </p:sp>
      <p:sp>
        <p:nvSpPr>
          <p:cNvPr id="5" name="Text 3"/>
          <p:cNvSpPr/>
          <p:nvPr/>
        </p:nvSpPr>
        <p:spPr>
          <a:xfrm>
            <a:off x="4663440" y="3749040"/>
            <a:ext cx="6858000" cy="731520"/>
          </a:xfrm>
          <a:prstGeom prst="rect">
            <a:avLst/>
          </a:prstGeom>
          <a:noFill/>
          <a:ln/>
        </p:spPr>
        <p:txBody>
          <a:bodyPr wrap="square" lIns="0" tIns="0" rIns="0" bIns="0" rtlCol="0" anchor="ctr"/>
          <a:lstStyle/>
          <a:p>
            <a:pPr indent="0" marL="0">
              <a:lnSpc>
                <a:spcPts val="2200"/>
              </a:lnSpc>
              <a:buNone/>
            </a:pPr>
            <a:r>
              <a:rPr lang="en-US" sz="1400" i="1" dirty="0">
                <a:solidFill>
                  <a:srgbClr val="4A4A4A"/>
                </a:solidFill>
                <a:latin typeface="Georgia" pitchFamily="34" charset="0"/>
                <a:ea typeface="Georgia" pitchFamily="34" charset="-122"/>
                <a:cs typeface="Georgia" pitchFamily="34" charset="-120"/>
              </a:rPr>
              <a:t>We have additional material on the math, methodology, limitations, and dataset construction in the appendix.</a:t>
            </a:r>
            <a:endParaRPr lang="en-US" sz="1400" dirty="0"/>
          </a:p>
        </p:txBody>
      </p:sp>
      <p:sp>
        <p:nvSpPr>
          <p:cNvPr id="6" name="Shape 4"/>
          <p:cNvSpPr/>
          <p:nvPr/>
        </p:nvSpPr>
        <p:spPr>
          <a:xfrm>
            <a:off x="640080" y="5303520"/>
            <a:ext cx="1463040" cy="0"/>
          </a:xfrm>
          <a:prstGeom prst="line">
            <a:avLst/>
          </a:prstGeom>
          <a:noFill/>
          <a:ln w="12700">
            <a:solidFill>
              <a:srgbClr val="F4EFE6"/>
            </a:solidFill>
            <a:prstDash val="solid"/>
          </a:ln>
        </p:spPr>
      </p:sp>
      <p:sp>
        <p:nvSpPr>
          <p:cNvPr id="7" name="Text 5"/>
          <p:cNvSpPr/>
          <p:nvPr/>
        </p:nvSpPr>
        <p:spPr>
          <a:xfrm>
            <a:off x="640080" y="5440680"/>
            <a:ext cx="2743200" cy="365760"/>
          </a:xfrm>
          <a:prstGeom prst="rect">
            <a:avLst/>
          </a:prstGeom>
          <a:noFill/>
          <a:ln/>
        </p:spPr>
        <p:txBody>
          <a:bodyPr wrap="square" lIns="0" tIns="0" rIns="0" bIns="0" rtlCol="0" anchor="ctr"/>
          <a:lstStyle/>
          <a:p>
            <a:pPr indent="0" marL="0">
              <a:buNone/>
            </a:pPr>
            <a:r>
              <a:rPr lang="en-US" sz="1600" i="1" spc="400" kern="0" dirty="0">
                <a:solidFill>
                  <a:srgbClr val="F4EFE6"/>
                </a:solidFill>
                <a:latin typeface="Georgia" pitchFamily="34" charset="0"/>
                <a:ea typeface="Georgia" pitchFamily="34" charset="-122"/>
                <a:cs typeface="Georgia" pitchFamily="34" charset="-120"/>
              </a:rPr>
              <a:t>THANK YOU</a:t>
            </a:r>
            <a:endParaRPr lang="en-US" sz="1600" dirty="0"/>
          </a:p>
        </p:txBody>
      </p:sp>
      <p:sp>
        <p:nvSpPr>
          <p:cNvPr id="8" name="Text 6"/>
          <p:cNvSpPr/>
          <p:nvPr/>
        </p:nvSpPr>
        <p:spPr>
          <a:xfrm>
            <a:off x="640080" y="5852160"/>
            <a:ext cx="2743200" cy="274320"/>
          </a:xfrm>
          <a:prstGeom prst="rect">
            <a:avLst/>
          </a:prstGeom>
          <a:noFill/>
          <a:ln/>
        </p:spPr>
        <p:txBody>
          <a:bodyPr wrap="square" lIns="0" tIns="0" rIns="0" bIns="0" rtlCol="0" anchor="ctr"/>
          <a:lstStyle/>
          <a:p>
            <a:pPr indent="0" marL="0">
              <a:buNone/>
            </a:pPr>
            <a:r>
              <a:rPr lang="en-US" sz="1000" i="1" dirty="0">
                <a:solidFill>
                  <a:srgbClr val="C8CDD3"/>
                </a:solidFill>
                <a:latin typeface="Georgia" pitchFamily="34" charset="0"/>
                <a:ea typeface="Georgia" pitchFamily="34" charset="-122"/>
                <a:cs typeface="Georgia" pitchFamily="34" charset="-120"/>
              </a:rPr>
              <a:t>Adam · Max · Isaac · Abhi</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3294B"/>
          </a:solidFill>
          <a:ln/>
        </p:spPr>
      </p:sp>
      <p:sp>
        <p:nvSpPr>
          <p:cNvPr id="3" name="Text 1"/>
          <p:cNvSpPr/>
          <p:nvPr/>
        </p:nvSpPr>
        <p:spPr>
          <a:xfrm>
            <a:off x="4663440" y="2194560"/>
            <a:ext cx="6858000" cy="365760"/>
          </a:xfrm>
          <a:prstGeom prst="rect">
            <a:avLst/>
          </a:prstGeom>
          <a:noFill/>
          <a:ln/>
        </p:spPr>
        <p:txBody>
          <a:bodyPr wrap="square" lIns="0" tIns="0" rIns="0" bIns="0" rtlCol="0" anchor="ctr"/>
          <a:lstStyle/>
          <a:p>
            <a:pPr indent="0" marL="0">
              <a:buNone/>
            </a:pPr>
            <a:r>
              <a:rPr lang="en-US" sz="1200" i="1" spc="600" kern="0" dirty="0">
                <a:solidFill>
                  <a:srgbClr val="2C4A75"/>
                </a:solidFill>
                <a:latin typeface="Georgia" pitchFamily="34" charset="0"/>
                <a:ea typeface="Georgia" pitchFamily="34" charset="-122"/>
                <a:cs typeface="Georgia" pitchFamily="34" charset="-120"/>
              </a:rPr>
              <a:t>APPENDIX</a:t>
            </a:r>
            <a:endParaRPr lang="en-US" sz="1200" dirty="0"/>
          </a:p>
        </p:txBody>
      </p:sp>
      <p:sp>
        <p:nvSpPr>
          <p:cNvPr id="4" name="Text 2"/>
          <p:cNvSpPr/>
          <p:nvPr/>
        </p:nvSpPr>
        <p:spPr>
          <a:xfrm>
            <a:off x="4663440" y="2606040"/>
            <a:ext cx="7040880" cy="777240"/>
          </a:xfrm>
          <a:prstGeom prst="rect">
            <a:avLst/>
          </a:prstGeom>
          <a:noFill/>
          <a:ln/>
        </p:spPr>
        <p:txBody>
          <a:bodyPr wrap="square" lIns="0" tIns="0" rIns="0" bIns="0" rtlCol="0" anchor="ctr"/>
          <a:lstStyle/>
          <a:p>
            <a:pPr indent="0" marL="0">
              <a:buNone/>
            </a:pPr>
            <a:r>
              <a:rPr lang="en-US" sz="3600" b="1" dirty="0">
                <a:solidFill>
                  <a:srgbClr val="13294B"/>
                </a:solidFill>
                <a:latin typeface="Georgia" pitchFamily="34" charset="0"/>
                <a:ea typeface="Georgia" pitchFamily="34" charset="-122"/>
                <a:cs typeface="Georgia" pitchFamily="34" charset="-120"/>
              </a:rPr>
              <a:t>Supplementary material</a:t>
            </a:r>
            <a:endParaRPr lang="en-US" sz="3600" dirty="0"/>
          </a:p>
        </p:txBody>
      </p:sp>
      <p:sp>
        <p:nvSpPr>
          <p:cNvPr id="5" name="Shape 3"/>
          <p:cNvSpPr/>
          <p:nvPr/>
        </p:nvSpPr>
        <p:spPr>
          <a:xfrm>
            <a:off x="4663440" y="3474720"/>
            <a:ext cx="1280160" cy="0"/>
          </a:xfrm>
          <a:prstGeom prst="line">
            <a:avLst/>
          </a:prstGeom>
          <a:noFill/>
          <a:ln w="12700">
            <a:solidFill>
              <a:srgbClr val="4A6A95"/>
            </a:solidFill>
            <a:prstDash val="solid"/>
          </a:ln>
        </p:spPr>
      </p:sp>
      <p:sp>
        <p:nvSpPr>
          <p:cNvPr id="6" name="Text 4"/>
          <p:cNvSpPr/>
          <p:nvPr/>
        </p:nvSpPr>
        <p:spPr>
          <a:xfrm>
            <a:off x="4663440" y="3703320"/>
            <a:ext cx="548640" cy="365760"/>
          </a:xfrm>
          <a:prstGeom prst="rect">
            <a:avLst/>
          </a:prstGeom>
          <a:noFill/>
          <a:ln/>
        </p:spPr>
        <p:txBody>
          <a:bodyPr wrap="square" lIns="0" tIns="0" rIns="0" bIns="0" rtlCol="0" anchor="ctr"/>
          <a:lstStyle/>
          <a:p>
            <a:pPr indent="0" marL="0">
              <a:buNone/>
            </a:pPr>
            <a:r>
              <a:rPr lang="en-US" sz="1600" b="1" dirty="0">
                <a:solidFill>
                  <a:srgbClr val="4A6A95"/>
                </a:solidFill>
                <a:latin typeface="Georgia" pitchFamily="34" charset="0"/>
                <a:ea typeface="Georgia" pitchFamily="34" charset="-122"/>
                <a:cs typeface="Georgia" pitchFamily="34" charset="-120"/>
              </a:rPr>
              <a:t>A</a:t>
            </a:r>
            <a:endParaRPr lang="en-US" sz="1600" dirty="0"/>
          </a:p>
        </p:txBody>
      </p:sp>
      <p:sp>
        <p:nvSpPr>
          <p:cNvPr id="7" name="Text 5"/>
          <p:cNvSpPr/>
          <p:nvPr/>
        </p:nvSpPr>
        <p:spPr>
          <a:xfrm>
            <a:off x="5212080" y="3703320"/>
            <a:ext cx="3657600" cy="365760"/>
          </a:xfrm>
          <a:prstGeom prst="rect">
            <a:avLst/>
          </a:prstGeom>
          <a:noFill/>
          <a:ln/>
        </p:spPr>
        <p:txBody>
          <a:bodyPr wrap="square" lIns="0" tIns="0" rIns="0" bIns="0" rtlCol="0" anchor="ctr"/>
          <a:lstStyle/>
          <a:p>
            <a:pPr indent="0" marL="0">
              <a:buNone/>
            </a:pPr>
            <a:r>
              <a:rPr lang="en-US" sz="1600" dirty="0">
                <a:solidFill>
                  <a:srgbClr val="13294B"/>
                </a:solidFill>
                <a:latin typeface="Georgia" pitchFamily="34" charset="0"/>
                <a:ea typeface="Georgia" pitchFamily="34" charset="-122"/>
                <a:cs typeface="Georgia" pitchFamily="34" charset="-120"/>
              </a:rPr>
              <a:t>Mathematical depth</a:t>
            </a:r>
            <a:endParaRPr lang="en-US" sz="1600" dirty="0"/>
          </a:p>
        </p:txBody>
      </p:sp>
      <p:sp>
        <p:nvSpPr>
          <p:cNvPr id="8" name="Text 6"/>
          <p:cNvSpPr/>
          <p:nvPr/>
        </p:nvSpPr>
        <p:spPr>
          <a:xfrm>
            <a:off x="5212080" y="3950208"/>
            <a:ext cx="6400800" cy="274320"/>
          </a:xfrm>
          <a:prstGeom prst="rect">
            <a:avLst/>
          </a:prstGeom>
          <a:noFill/>
          <a:ln/>
        </p:spPr>
        <p:txBody>
          <a:bodyPr wrap="square" lIns="0" tIns="0" rIns="0" bIns="0" rtlCol="0" anchor="ctr"/>
          <a:lstStyle/>
          <a:p>
            <a:pPr indent="0" marL="0">
              <a:buNone/>
            </a:pPr>
            <a:r>
              <a:rPr lang="en-US" sz="1000" i="1" dirty="0">
                <a:solidFill>
                  <a:srgbClr val="8A8A8A"/>
                </a:solidFill>
                <a:latin typeface="Georgia" pitchFamily="34" charset="0"/>
                <a:ea typeface="Georgia" pitchFamily="34" charset="-122"/>
                <a:cs typeface="Georgia" pitchFamily="34" charset="-120"/>
              </a:rPr>
              <a:t>Basis decomposition, expressivity, complexity.</a:t>
            </a:r>
            <a:endParaRPr lang="en-US" sz="1000" dirty="0"/>
          </a:p>
        </p:txBody>
      </p:sp>
      <p:sp>
        <p:nvSpPr>
          <p:cNvPr id="9" name="Text 7"/>
          <p:cNvSpPr/>
          <p:nvPr/>
        </p:nvSpPr>
        <p:spPr>
          <a:xfrm>
            <a:off x="4663440" y="4206240"/>
            <a:ext cx="548640" cy="365760"/>
          </a:xfrm>
          <a:prstGeom prst="rect">
            <a:avLst/>
          </a:prstGeom>
          <a:noFill/>
          <a:ln/>
        </p:spPr>
        <p:txBody>
          <a:bodyPr wrap="square" lIns="0" tIns="0" rIns="0" bIns="0" rtlCol="0" anchor="ctr"/>
          <a:lstStyle/>
          <a:p>
            <a:pPr indent="0" marL="0">
              <a:buNone/>
            </a:pPr>
            <a:r>
              <a:rPr lang="en-US" sz="1600" b="1" dirty="0">
                <a:solidFill>
                  <a:srgbClr val="4A6A95"/>
                </a:solidFill>
                <a:latin typeface="Georgia" pitchFamily="34" charset="0"/>
                <a:ea typeface="Georgia" pitchFamily="34" charset="-122"/>
                <a:cs typeface="Georgia" pitchFamily="34" charset="-120"/>
              </a:rPr>
              <a:t>B</a:t>
            </a:r>
            <a:endParaRPr lang="en-US" sz="1600" dirty="0"/>
          </a:p>
        </p:txBody>
      </p:sp>
      <p:sp>
        <p:nvSpPr>
          <p:cNvPr id="10" name="Text 8"/>
          <p:cNvSpPr/>
          <p:nvPr/>
        </p:nvSpPr>
        <p:spPr>
          <a:xfrm>
            <a:off x="5212080" y="4206240"/>
            <a:ext cx="3657600" cy="365760"/>
          </a:xfrm>
          <a:prstGeom prst="rect">
            <a:avLst/>
          </a:prstGeom>
          <a:noFill/>
          <a:ln/>
        </p:spPr>
        <p:txBody>
          <a:bodyPr wrap="square" lIns="0" tIns="0" rIns="0" bIns="0" rtlCol="0" anchor="ctr"/>
          <a:lstStyle/>
          <a:p>
            <a:pPr indent="0" marL="0">
              <a:buNone/>
            </a:pPr>
            <a:r>
              <a:rPr lang="en-US" sz="1600" dirty="0">
                <a:solidFill>
                  <a:srgbClr val="13294B"/>
                </a:solidFill>
                <a:latin typeface="Georgia" pitchFamily="34" charset="0"/>
                <a:ea typeface="Georgia" pitchFamily="34" charset="-122"/>
                <a:cs typeface="Georgia" pitchFamily="34" charset="-120"/>
              </a:rPr>
              <a:t>Methodology defense</a:t>
            </a:r>
            <a:endParaRPr lang="en-US" sz="1600" dirty="0"/>
          </a:p>
        </p:txBody>
      </p:sp>
      <p:sp>
        <p:nvSpPr>
          <p:cNvPr id="11" name="Text 9"/>
          <p:cNvSpPr/>
          <p:nvPr/>
        </p:nvSpPr>
        <p:spPr>
          <a:xfrm>
            <a:off x="5212080" y="4453128"/>
            <a:ext cx="6400800" cy="274320"/>
          </a:xfrm>
          <a:prstGeom prst="rect">
            <a:avLst/>
          </a:prstGeom>
          <a:noFill/>
          <a:ln/>
        </p:spPr>
        <p:txBody>
          <a:bodyPr wrap="square" lIns="0" tIns="0" rIns="0" bIns="0" rtlCol="0" anchor="ctr"/>
          <a:lstStyle/>
          <a:p>
            <a:pPr indent="0" marL="0">
              <a:buNone/>
            </a:pPr>
            <a:r>
              <a:rPr lang="en-US" sz="1000" i="1" dirty="0">
                <a:solidFill>
                  <a:srgbClr val="8A8A8A"/>
                </a:solidFill>
                <a:latin typeface="Georgia" pitchFamily="34" charset="0"/>
                <a:ea typeface="Georgia" pitchFamily="34" charset="-122"/>
                <a:cs typeface="Georgia" pitchFamily="34" charset="-120"/>
              </a:rPr>
              <a:t>Negative sampling, masking, class imbalance.</a:t>
            </a:r>
            <a:endParaRPr lang="en-US" sz="1000" dirty="0"/>
          </a:p>
        </p:txBody>
      </p:sp>
      <p:sp>
        <p:nvSpPr>
          <p:cNvPr id="12" name="Text 10"/>
          <p:cNvSpPr/>
          <p:nvPr/>
        </p:nvSpPr>
        <p:spPr>
          <a:xfrm>
            <a:off x="4663440" y="4709160"/>
            <a:ext cx="548640" cy="365760"/>
          </a:xfrm>
          <a:prstGeom prst="rect">
            <a:avLst/>
          </a:prstGeom>
          <a:noFill/>
          <a:ln/>
        </p:spPr>
        <p:txBody>
          <a:bodyPr wrap="square" lIns="0" tIns="0" rIns="0" bIns="0" rtlCol="0" anchor="ctr"/>
          <a:lstStyle/>
          <a:p>
            <a:pPr indent="0" marL="0">
              <a:buNone/>
            </a:pPr>
            <a:r>
              <a:rPr lang="en-US" sz="1600" b="1" dirty="0">
                <a:solidFill>
                  <a:srgbClr val="4A6A95"/>
                </a:solidFill>
                <a:latin typeface="Georgia" pitchFamily="34" charset="0"/>
                <a:ea typeface="Georgia" pitchFamily="34" charset="-122"/>
                <a:cs typeface="Georgia" pitchFamily="34" charset="-120"/>
              </a:rPr>
              <a:t>C</a:t>
            </a:r>
            <a:endParaRPr lang="en-US" sz="1600" dirty="0"/>
          </a:p>
        </p:txBody>
      </p:sp>
      <p:sp>
        <p:nvSpPr>
          <p:cNvPr id="13" name="Text 11"/>
          <p:cNvSpPr/>
          <p:nvPr/>
        </p:nvSpPr>
        <p:spPr>
          <a:xfrm>
            <a:off x="5212080" y="4709160"/>
            <a:ext cx="3657600" cy="365760"/>
          </a:xfrm>
          <a:prstGeom prst="rect">
            <a:avLst/>
          </a:prstGeom>
          <a:noFill/>
          <a:ln/>
        </p:spPr>
        <p:txBody>
          <a:bodyPr wrap="square" lIns="0" tIns="0" rIns="0" bIns="0" rtlCol="0" anchor="ctr"/>
          <a:lstStyle/>
          <a:p>
            <a:pPr indent="0" marL="0">
              <a:buNone/>
            </a:pPr>
            <a:r>
              <a:rPr lang="en-US" sz="1600" dirty="0">
                <a:solidFill>
                  <a:srgbClr val="13294B"/>
                </a:solidFill>
                <a:latin typeface="Georgia" pitchFamily="34" charset="0"/>
                <a:ea typeface="Georgia" pitchFamily="34" charset="-122"/>
                <a:cs typeface="Georgia" pitchFamily="34" charset="-120"/>
              </a:rPr>
              <a:t>Limitations &amp; failure modes</a:t>
            </a:r>
            <a:endParaRPr lang="en-US" sz="1600" dirty="0"/>
          </a:p>
        </p:txBody>
      </p:sp>
      <p:sp>
        <p:nvSpPr>
          <p:cNvPr id="14" name="Text 12"/>
          <p:cNvSpPr/>
          <p:nvPr/>
        </p:nvSpPr>
        <p:spPr>
          <a:xfrm>
            <a:off x="5212080" y="4956048"/>
            <a:ext cx="6400800" cy="274320"/>
          </a:xfrm>
          <a:prstGeom prst="rect">
            <a:avLst/>
          </a:prstGeom>
          <a:noFill/>
          <a:ln/>
        </p:spPr>
        <p:txBody>
          <a:bodyPr wrap="square" lIns="0" tIns="0" rIns="0" bIns="0" rtlCol="0" anchor="ctr"/>
          <a:lstStyle/>
          <a:p>
            <a:pPr indent="0" marL="0">
              <a:buNone/>
            </a:pPr>
            <a:r>
              <a:rPr lang="en-US" sz="1000" i="1" dirty="0">
                <a:solidFill>
                  <a:srgbClr val="8A8A8A"/>
                </a:solidFill>
                <a:latin typeface="Georgia" pitchFamily="34" charset="0"/>
                <a:ea typeface="Georgia" pitchFamily="34" charset="-122"/>
                <a:cs typeface="Georgia" pitchFamily="34" charset="-120"/>
              </a:rPr>
              <a:t>Where R-GCN gets it wrong, and why.</a:t>
            </a:r>
            <a:endParaRPr lang="en-US" sz="1000" dirty="0"/>
          </a:p>
        </p:txBody>
      </p:sp>
      <p:sp>
        <p:nvSpPr>
          <p:cNvPr id="15" name="Text 13"/>
          <p:cNvSpPr/>
          <p:nvPr/>
        </p:nvSpPr>
        <p:spPr>
          <a:xfrm>
            <a:off x="4663440" y="5212080"/>
            <a:ext cx="548640" cy="365760"/>
          </a:xfrm>
          <a:prstGeom prst="rect">
            <a:avLst/>
          </a:prstGeom>
          <a:noFill/>
          <a:ln/>
        </p:spPr>
        <p:txBody>
          <a:bodyPr wrap="square" lIns="0" tIns="0" rIns="0" bIns="0" rtlCol="0" anchor="ctr"/>
          <a:lstStyle/>
          <a:p>
            <a:pPr indent="0" marL="0">
              <a:buNone/>
            </a:pPr>
            <a:r>
              <a:rPr lang="en-US" sz="1600" b="1" dirty="0">
                <a:solidFill>
                  <a:srgbClr val="4A6A95"/>
                </a:solidFill>
                <a:latin typeface="Georgia" pitchFamily="34" charset="0"/>
                <a:ea typeface="Georgia" pitchFamily="34" charset="-122"/>
                <a:cs typeface="Georgia" pitchFamily="34" charset="-120"/>
              </a:rPr>
              <a:t>D</a:t>
            </a:r>
            <a:endParaRPr lang="en-US" sz="1600" dirty="0"/>
          </a:p>
        </p:txBody>
      </p:sp>
      <p:sp>
        <p:nvSpPr>
          <p:cNvPr id="16" name="Text 14"/>
          <p:cNvSpPr/>
          <p:nvPr/>
        </p:nvSpPr>
        <p:spPr>
          <a:xfrm>
            <a:off x="5212080" y="5212080"/>
            <a:ext cx="3657600" cy="365760"/>
          </a:xfrm>
          <a:prstGeom prst="rect">
            <a:avLst/>
          </a:prstGeom>
          <a:noFill/>
          <a:ln/>
        </p:spPr>
        <p:txBody>
          <a:bodyPr wrap="square" lIns="0" tIns="0" rIns="0" bIns="0" rtlCol="0" anchor="ctr"/>
          <a:lstStyle/>
          <a:p>
            <a:pPr indent="0" marL="0">
              <a:buNone/>
            </a:pPr>
            <a:r>
              <a:rPr lang="en-US" sz="1600" dirty="0">
                <a:solidFill>
                  <a:srgbClr val="13294B"/>
                </a:solidFill>
                <a:latin typeface="Georgia" pitchFamily="34" charset="0"/>
                <a:ea typeface="Georgia" pitchFamily="34" charset="-122"/>
                <a:cs typeface="Georgia" pitchFamily="34" charset="-120"/>
              </a:rPr>
              <a:t>Dataset construction</a:t>
            </a:r>
            <a:endParaRPr lang="en-US" sz="1600" dirty="0"/>
          </a:p>
        </p:txBody>
      </p:sp>
      <p:sp>
        <p:nvSpPr>
          <p:cNvPr id="17" name="Text 15"/>
          <p:cNvSpPr/>
          <p:nvPr/>
        </p:nvSpPr>
        <p:spPr>
          <a:xfrm>
            <a:off x="5212080" y="5458968"/>
            <a:ext cx="6400800" cy="274320"/>
          </a:xfrm>
          <a:prstGeom prst="rect">
            <a:avLst/>
          </a:prstGeom>
          <a:noFill/>
          <a:ln/>
        </p:spPr>
        <p:txBody>
          <a:bodyPr wrap="square" lIns="0" tIns="0" rIns="0" bIns="0" rtlCol="0" anchor="ctr"/>
          <a:lstStyle/>
          <a:p>
            <a:pPr indent="0" marL="0">
              <a:buNone/>
            </a:pPr>
            <a:r>
              <a:rPr lang="en-US" sz="1000" i="1" dirty="0">
                <a:solidFill>
                  <a:srgbClr val="8A8A8A"/>
                </a:solidFill>
                <a:latin typeface="Georgia" pitchFamily="34" charset="0"/>
                <a:ea typeface="Georgia" pitchFamily="34" charset="-122"/>
                <a:cs typeface="Georgia" pitchFamily="34" charset="-120"/>
              </a:rPr>
              <a:t>Extraction pipeline, annotation, edge typing.</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APPENDIX A · MATHEMATICAL DEPTH</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Basis decomposition, expressivity, complexity</a:t>
            </a:r>
            <a:endParaRPr lang="en-US" sz="3000" dirty="0"/>
          </a:p>
        </p:txBody>
      </p:sp>
      <p:sp>
        <p:nvSpPr>
          <p:cNvPr id="5" name="Text 3"/>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6" name="Text 4"/>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A1</a:t>
            </a:r>
            <a:endParaRPr lang="en-US" sz="1000" dirty="0"/>
          </a:p>
        </p:txBody>
      </p:sp>
      <p:sp>
        <p:nvSpPr>
          <p:cNvPr id="7" name="Shape 5"/>
          <p:cNvSpPr/>
          <p:nvPr/>
        </p:nvSpPr>
        <p:spPr>
          <a:xfrm>
            <a:off x="640080" y="2103120"/>
            <a:ext cx="5486400" cy="4114800"/>
          </a:xfrm>
          <a:prstGeom prst="rect">
            <a:avLst/>
          </a:prstGeom>
          <a:solidFill>
            <a:srgbClr val="EEF1F4"/>
          </a:solidFill>
          <a:ln/>
        </p:spPr>
      </p:sp>
      <p:sp>
        <p:nvSpPr>
          <p:cNvPr id="8" name="Shape 6"/>
          <p:cNvSpPr/>
          <p:nvPr/>
        </p:nvSpPr>
        <p:spPr>
          <a:xfrm>
            <a:off x="640080" y="2103120"/>
            <a:ext cx="54864" cy="4114800"/>
          </a:xfrm>
          <a:prstGeom prst="rect">
            <a:avLst/>
          </a:prstGeom>
          <a:solidFill>
            <a:srgbClr val="13294B"/>
          </a:solidFill>
          <a:ln/>
        </p:spPr>
      </p:sp>
      <p:sp>
        <p:nvSpPr>
          <p:cNvPr id="9" name="Text 7"/>
          <p:cNvSpPr/>
          <p:nvPr/>
        </p:nvSpPr>
        <p:spPr>
          <a:xfrm>
            <a:off x="868680" y="2267712"/>
            <a:ext cx="512064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A.1 · BASIS DECOMPOSITION</a:t>
            </a:r>
            <a:endParaRPr lang="en-US" sz="1000" dirty="0"/>
          </a:p>
        </p:txBody>
      </p:sp>
      <p:sp>
        <p:nvSpPr>
          <p:cNvPr id="10" name="Text 8"/>
          <p:cNvSpPr/>
          <p:nvPr/>
        </p:nvSpPr>
        <p:spPr>
          <a:xfrm>
            <a:off x="868680" y="2560320"/>
            <a:ext cx="5120640" cy="274320"/>
          </a:xfrm>
          <a:prstGeom prst="rect">
            <a:avLst/>
          </a:prstGeom>
          <a:noFill/>
          <a:ln/>
        </p:spPr>
        <p:txBody>
          <a:bodyPr wrap="square" lIns="0" tIns="0" rIns="0" bIns="0" rtlCol="0" anchor="ctr"/>
          <a:lstStyle/>
          <a:p>
            <a:pPr indent="0" marL="0">
              <a:buNone/>
            </a:pPr>
            <a:r>
              <a:rPr lang="en-US" sz="1100" dirty="0">
                <a:solidFill>
                  <a:srgbClr val="4A4A4A"/>
                </a:solidFill>
                <a:latin typeface="Georgia" pitchFamily="34" charset="0"/>
                <a:ea typeface="Georgia" pitchFamily="34" charset="-122"/>
                <a:cs typeface="Georgia" pitchFamily="34" charset="-120"/>
              </a:rPr>
              <a:t>Decomposition of the relation-specific weight matrix:</a:t>
            </a:r>
            <a:endParaRPr lang="en-US" sz="1100" dirty="0"/>
          </a:p>
        </p:txBody>
      </p:sp>
      <p:pic>
        <p:nvPicPr>
          <p:cNvPr id="11" name="Image 0" descr="/home/claude/academic/eq/eq_basis_full.png">    </p:cNvPr>
          <p:cNvPicPr>
            <a:picLocks noChangeAspect="1"/>
          </p:cNvPicPr>
          <p:nvPr/>
        </p:nvPicPr>
        <p:blipFill>
          <a:blip r:embed="rId1"/>
          <a:stretch>
            <a:fillRect/>
          </a:stretch>
        </p:blipFill>
        <p:spPr>
          <a:xfrm>
            <a:off x="1783080" y="2880360"/>
            <a:ext cx="3291840" cy="707136"/>
          </a:xfrm>
          <a:prstGeom prst="rect">
            <a:avLst/>
          </a:prstGeom>
        </p:spPr>
      </p:pic>
      <p:sp>
        <p:nvSpPr>
          <p:cNvPr id="12" name="Text 9"/>
          <p:cNvSpPr/>
          <p:nvPr/>
        </p:nvSpPr>
        <p:spPr>
          <a:xfrm>
            <a:off x="868680" y="3520440"/>
            <a:ext cx="5120640" cy="274320"/>
          </a:xfrm>
          <a:prstGeom prst="rect">
            <a:avLst/>
          </a:prstGeom>
          <a:noFill/>
          <a:ln/>
        </p:spPr>
        <p:txBody>
          <a:bodyPr wrap="square" lIns="0" tIns="0" rIns="0" bIns="0" rtlCol="0" anchor="ctr"/>
          <a:lstStyle/>
          <a:p>
            <a:pPr indent="0" marL="0">
              <a:buNone/>
            </a:pPr>
            <a:r>
              <a:rPr lang="en-US" sz="1100" dirty="0">
                <a:solidFill>
                  <a:srgbClr val="4A4A4A"/>
                </a:solidFill>
                <a:latin typeface="Georgia" pitchFamily="34" charset="0"/>
                <a:ea typeface="Georgia" pitchFamily="34" charset="-122"/>
                <a:cs typeface="Georgia" pitchFamily="34" charset="-120"/>
              </a:rPr>
              <a:t>Parameter count drops from naïve to basis form:</a:t>
            </a:r>
            <a:endParaRPr lang="en-US" sz="1100" dirty="0"/>
          </a:p>
        </p:txBody>
      </p:sp>
      <p:pic>
        <p:nvPicPr>
          <p:cNvPr id="13" name="Image 1" descr="/home/claude/academic/eq/eq_params.png">    </p:cNvPr>
          <p:cNvPicPr>
            <a:picLocks noChangeAspect="1"/>
          </p:cNvPicPr>
          <p:nvPr/>
        </p:nvPicPr>
        <p:blipFill>
          <a:blip r:embed="rId2"/>
          <a:stretch>
            <a:fillRect/>
          </a:stretch>
        </p:blipFill>
        <p:spPr>
          <a:xfrm>
            <a:off x="1508760" y="3794760"/>
            <a:ext cx="3840480" cy="654392"/>
          </a:xfrm>
          <a:prstGeom prst="rect">
            <a:avLst/>
          </a:prstGeom>
        </p:spPr>
      </p:pic>
      <p:sp>
        <p:nvSpPr>
          <p:cNvPr id="14" name="Text 10"/>
          <p:cNvSpPr/>
          <p:nvPr/>
        </p:nvSpPr>
        <p:spPr>
          <a:xfrm>
            <a:off x="868680" y="4526280"/>
            <a:ext cx="5120640" cy="365760"/>
          </a:xfrm>
          <a:prstGeom prst="rect">
            <a:avLst/>
          </a:prstGeom>
          <a:noFill/>
          <a:ln/>
        </p:spPr>
        <p:txBody>
          <a:bodyPr wrap="square" lIns="0" tIns="0" rIns="0" bIns="0" rtlCol="0" anchor="ctr"/>
          <a:lstStyle/>
          <a:p>
            <a:pPr indent="0" marL="0">
              <a:lnSpc>
                <a:spcPts val="1800"/>
              </a:lnSpc>
              <a:buNone/>
            </a:pPr>
            <a:r>
              <a:rPr lang="en-US" sz="1100" dirty="0">
                <a:solidFill>
                  <a:srgbClr val="4A4A4A"/>
                </a:solidFill>
                <a:latin typeface="Cambria" pitchFamily="34" charset="0"/>
                <a:ea typeface="Cambria" pitchFamily="34" charset="-122"/>
                <a:cs typeface="Cambria" pitchFamily="34" charset="-120"/>
              </a:rPr>
              <a:t>With </a:t>
            </a:r>
            <a:pPr indent="0" marL="0">
              <a:lnSpc>
                <a:spcPts val="1800"/>
              </a:lnSpc>
              <a:buNone/>
            </a:pPr>
            <a:r>
              <a:rPr lang="en-US" sz="1100" i="1" dirty="0">
                <a:solidFill>
                  <a:srgbClr val="4A4A4A"/>
                </a:solidFill>
                <a:latin typeface="Cambria" pitchFamily="34" charset="0"/>
                <a:ea typeface="Cambria" pitchFamily="34" charset="-122"/>
                <a:cs typeface="Cambria" pitchFamily="34" charset="-120"/>
              </a:rPr>
              <a:t>R</a:t>
            </a:r>
            <a:pPr indent="0" marL="0">
              <a:lnSpc>
                <a:spcPts val="1800"/>
              </a:lnSpc>
              <a:buNone/>
            </a:pPr>
            <a:r>
              <a:rPr lang="en-US" sz="1100" dirty="0">
                <a:solidFill>
                  <a:srgbClr val="4A4A4A"/>
                </a:solidFill>
                <a:latin typeface="Cambria" pitchFamily="34" charset="0"/>
                <a:ea typeface="Cambria" pitchFamily="34" charset="-122"/>
                <a:cs typeface="Cambria" pitchFamily="34" charset="-120"/>
              </a:rPr>
              <a:t> = 16, </a:t>
            </a:r>
            <a:pPr indent="0" marL="0">
              <a:lnSpc>
                <a:spcPts val="1800"/>
              </a:lnSpc>
              <a:buNone/>
            </a:pPr>
            <a:r>
              <a:rPr lang="en-US" sz="1100" i="1" dirty="0">
                <a:solidFill>
                  <a:srgbClr val="4A4A4A"/>
                </a:solidFill>
                <a:latin typeface="Cambria" pitchFamily="34" charset="0"/>
                <a:ea typeface="Cambria" pitchFamily="34" charset="-122"/>
                <a:cs typeface="Cambria" pitchFamily="34" charset="-120"/>
              </a:rPr>
              <a:t>d</a:t>
            </a:r>
            <a:pPr indent="0" marL="0">
              <a:lnSpc>
                <a:spcPts val="1800"/>
              </a:lnSpc>
              <a:buNone/>
            </a:pPr>
            <a:r>
              <a:rPr lang="en-US" sz="1100" dirty="0">
                <a:solidFill>
                  <a:srgbClr val="4A4A4A"/>
                </a:solidFill>
                <a:latin typeface="Cambria" pitchFamily="34" charset="0"/>
                <a:ea typeface="Cambria" pitchFamily="34" charset="-122"/>
                <a:cs typeface="Cambria" pitchFamily="34" charset="-120"/>
              </a:rPr>
              <a:t> = 32, </a:t>
            </a:r>
            <a:pPr indent="0" marL="0">
              <a:lnSpc>
                <a:spcPts val="1800"/>
              </a:lnSpc>
              <a:buNone/>
            </a:pPr>
            <a:r>
              <a:rPr lang="en-US" sz="1100" i="1" dirty="0">
                <a:solidFill>
                  <a:srgbClr val="4A4A4A"/>
                </a:solidFill>
                <a:latin typeface="Cambria" pitchFamily="34" charset="0"/>
                <a:ea typeface="Cambria" pitchFamily="34" charset="-122"/>
                <a:cs typeface="Cambria" pitchFamily="34" charset="-120"/>
              </a:rPr>
              <a:t>B</a:t>
            </a:r>
            <a:pPr indent="0" marL="0">
              <a:lnSpc>
                <a:spcPts val="1800"/>
              </a:lnSpc>
              <a:buNone/>
            </a:pPr>
            <a:r>
              <a:rPr lang="en-US" sz="1100" dirty="0">
                <a:solidFill>
                  <a:srgbClr val="4A4A4A"/>
                </a:solidFill>
                <a:latin typeface="Cambria" pitchFamily="34" charset="0"/>
                <a:ea typeface="Cambria" pitchFamily="34" charset="-122"/>
                <a:cs typeface="Cambria" pitchFamily="34" charset="-120"/>
              </a:rPr>
              <a:t> = 30:  16,384 → 31,200 (small absolute, but bounded as </a:t>
            </a:r>
            <a:pPr indent="0" marL="0">
              <a:lnSpc>
                <a:spcPts val="1800"/>
              </a:lnSpc>
              <a:buNone/>
            </a:pPr>
            <a:r>
              <a:rPr lang="en-US" sz="1100" i="1" dirty="0">
                <a:solidFill>
                  <a:srgbClr val="4A4A4A"/>
                </a:solidFill>
                <a:latin typeface="Cambria" pitchFamily="34" charset="0"/>
                <a:ea typeface="Cambria" pitchFamily="34" charset="-122"/>
                <a:cs typeface="Cambria" pitchFamily="34" charset="-120"/>
              </a:rPr>
              <a:t>R</a:t>
            </a:r>
            <a:pPr indent="0" marL="0">
              <a:lnSpc>
                <a:spcPts val="1800"/>
              </a:lnSpc>
              <a:buNone/>
            </a:pPr>
            <a:r>
              <a:rPr lang="en-US" sz="1100" dirty="0">
                <a:solidFill>
                  <a:srgbClr val="4A4A4A"/>
                </a:solidFill>
                <a:latin typeface="Cambria" pitchFamily="34" charset="0"/>
                <a:ea typeface="Cambria" pitchFamily="34" charset="-122"/>
                <a:cs typeface="Cambria" pitchFamily="34" charset="-120"/>
              </a:rPr>
              <a:t> grows).</a:t>
            </a:r>
            <a:endParaRPr lang="en-US" sz="1100" dirty="0"/>
          </a:p>
        </p:txBody>
      </p:sp>
      <p:sp>
        <p:nvSpPr>
          <p:cNvPr id="15" name="Text 11"/>
          <p:cNvSpPr/>
          <p:nvPr/>
        </p:nvSpPr>
        <p:spPr>
          <a:xfrm>
            <a:off x="868680" y="5029200"/>
            <a:ext cx="512064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A.2 · BLOCK-DIAGONAL ALTERNATIVE</a:t>
            </a:r>
            <a:endParaRPr lang="en-US" sz="1000" dirty="0"/>
          </a:p>
        </p:txBody>
      </p:sp>
      <p:pic>
        <p:nvPicPr>
          <p:cNvPr id="16" name="Image 2" descr="/home/claude/academic/eq/eq_block_diag.png">    </p:cNvPr>
          <p:cNvPicPr>
            <a:picLocks noChangeAspect="1"/>
          </p:cNvPicPr>
          <p:nvPr/>
        </p:nvPicPr>
        <p:blipFill>
          <a:blip r:embed="rId3"/>
          <a:stretch>
            <a:fillRect/>
          </a:stretch>
        </p:blipFill>
        <p:spPr>
          <a:xfrm>
            <a:off x="960120" y="5349240"/>
            <a:ext cx="4937760" cy="285393"/>
          </a:xfrm>
          <a:prstGeom prst="rect">
            <a:avLst/>
          </a:prstGeom>
        </p:spPr>
      </p:pic>
      <p:sp>
        <p:nvSpPr>
          <p:cNvPr id="17" name="Text 12"/>
          <p:cNvSpPr/>
          <p:nvPr/>
        </p:nvSpPr>
        <p:spPr>
          <a:xfrm>
            <a:off x="868680" y="5715000"/>
            <a:ext cx="5120640" cy="365760"/>
          </a:xfrm>
          <a:prstGeom prst="rect">
            <a:avLst/>
          </a:prstGeom>
          <a:noFill/>
          <a:ln/>
        </p:spPr>
        <p:txBody>
          <a:bodyPr wrap="square" lIns="0" tIns="0" rIns="0" bIns="0" rtlCol="0" anchor="ctr"/>
          <a:lstStyle/>
          <a:p>
            <a:pPr indent="0" marL="0">
              <a:buNone/>
            </a:pPr>
            <a:r>
              <a:rPr lang="en-US" sz="1100" i="1" dirty="0">
                <a:solidFill>
                  <a:srgbClr val="4A4A4A"/>
                </a:solidFill>
                <a:latin typeface="Georgia" pitchFamily="34" charset="0"/>
                <a:ea typeface="Georgia" pitchFamily="34" charset="-122"/>
                <a:cs typeface="Georgia" pitchFamily="34" charset="-120"/>
              </a:rPr>
              <a:t>Enforces sparsity within Wᵣ rather than parameter sharing across relations.</a:t>
            </a:r>
            <a:endParaRPr lang="en-US" sz="1100" dirty="0"/>
          </a:p>
        </p:txBody>
      </p:sp>
      <p:sp>
        <p:nvSpPr>
          <p:cNvPr id="18" name="Shape 13"/>
          <p:cNvSpPr/>
          <p:nvPr/>
        </p:nvSpPr>
        <p:spPr>
          <a:xfrm>
            <a:off x="6766560" y="2103120"/>
            <a:ext cx="4754880" cy="1988820"/>
          </a:xfrm>
          <a:prstGeom prst="rect">
            <a:avLst/>
          </a:prstGeom>
          <a:solidFill>
            <a:srgbClr val="FFFFFF"/>
          </a:solidFill>
          <a:ln w="9525">
            <a:solidFill>
              <a:srgbClr val="C8CDD3"/>
            </a:solidFill>
            <a:prstDash val="solid"/>
          </a:ln>
        </p:spPr>
      </p:sp>
      <p:sp>
        <p:nvSpPr>
          <p:cNvPr id="19" name="Text 14"/>
          <p:cNvSpPr/>
          <p:nvPr/>
        </p:nvSpPr>
        <p:spPr>
          <a:xfrm>
            <a:off x="6995160" y="2267712"/>
            <a:ext cx="438912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A.3 · EXPRESSIVITY</a:t>
            </a:r>
            <a:endParaRPr lang="en-US" sz="1000" dirty="0"/>
          </a:p>
        </p:txBody>
      </p:sp>
      <p:sp>
        <p:nvSpPr>
          <p:cNvPr id="20" name="Text 15"/>
          <p:cNvSpPr/>
          <p:nvPr/>
        </p:nvSpPr>
        <p:spPr>
          <a:xfrm>
            <a:off x="6995160" y="2560320"/>
            <a:ext cx="4389120" cy="132588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Cambria" pitchFamily="34" charset="0"/>
                <a:ea typeface="Cambria" pitchFamily="34" charset="-122"/>
                <a:cs typeface="Cambria" pitchFamily="34" charset="-120"/>
              </a:rPr>
              <a:t>R-GCN is at most as expressive as the 1-WL test on coloured edges (Xu et al., 2019). It can distinguish nodes whose relational neighbourhoods differ in counts of typed edges, but cannot count substructures (cycles, cliques) of length &gt; 1 layer of receptive field.</a:t>
            </a:r>
            <a:endParaRPr lang="en-US" sz="1100" dirty="0"/>
          </a:p>
        </p:txBody>
      </p:sp>
      <p:sp>
        <p:nvSpPr>
          <p:cNvPr id="21" name="Shape 16"/>
          <p:cNvSpPr/>
          <p:nvPr/>
        </p:nvSpPr>
        <p:spPr>
          <a:xfrm>
            <a:off x="6766560" y="4229100"/>
            <a:ext cx="4754880" cy="1988820"/>
          </a:xfrm>
          <a:prstGeom prst="rect">
            <a:avLst/>
          </a:prstGeom>
          <a:solidFill>
            <a:srgbClr val="FFFFFF"/>
          </a:solidFill>
          <a:ln w="9525">
            <a:solidFill>
              <a:srgbClr val="C8CDD3"/>
            </a:solidFill>
            <a:prstDash val="solid"/>
          </a:ln>
        </p:spPr>
      </p:sp>
      <p:sp>
        <p:nvSpPr>
          <p:cNvPr id="22" name="Text 17"/>
          <p:cNvSpPr/>
          <p:nvPr/>
        </p:nvSpPr>
        <p:spPr>
          <a:xfrm>
            <a:off x="6995160" y="4389120"/>
            <a:ext cx="438912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A.4 · COMPLEXITY</a:t>
            </a:r>
            <a:endParaRPr lang="en-US" sz="1000" dirty="0"/>
          </a:p>
        </p:txBody>
      </p:sp>
      <p:pic>
        <p:nvPicPr>
          <p:cNvPr id="23" name="Image 3" descr="/home/claude/academic/eq/eq_complexity.png">    </p:cNvPr>
          <p:cNvPicPr>
            <a:picLocks noChangeAspect="1"/>
          </p:cNvPicPr>
          <p:nvPr/>
        </p:nvPicPr>
        <p:blipFill>
          <a:blip r:embed="rId4"/>
          <a:stretch>
            <a:fillRect/>
          </a:stretch>
        </p:blipFill>
        <p:spPr>
          <a:xfrm>
            <a:off x="7086600" y="4663440"/>
            <a:ext cx="4206240" cy="245872"/>
          </a:xfrm>
          <a:prstGeom prst="rect">
            <a:avLst/>
          </a:prstGeom>
        </p:spPr>
      </p:pic>
      <p:sp>
        <p:nvSpPr>
          <p:cNvPr id="24" name="Text 18"/>
          <p:cNvSpPr/>
          <p:nvPr/>
        </p:nvSpPr>
        <p:spPr>
          <a:xfrm>
            <a:off x="6995160" y="5166360"/>
            <a:ext cx="4389120" cy="640080"/>
          </a:xfrm>
          <a:prstGeom prst="rect">
            <a:avLst/>
          </a:prstGeom>
          <a:noFill/>
          <a:ln/>
        </p:spPr>
        <p:txBody>
          <a:bodyPr wrap="square" lIns="0" tIns="0" rIns="0" bIns="0" rtlCol="0" anchor="ctr"/>
          <a:lstStyle/>
          <a:p>
            <a:pPr indent="0" marL="0">
              <a:lnSpc>
                <a:spcPts val="1600"/>
              </a:lnSpc>
              <a:buNone/>
            </a:pPr>
            <a:r>
              <a:rPr lang="en-US" sz="1100" i="1" dirty="0">
                <a:solidFill>
                  <a:srgbClr val="4A4A4A"/>
                </a:solidFill>
                <a:latin typeface="Georgia" pitchFamily="34" charset="0"/>
                <a:ea typeface="Georgia" pitchFamily="34" charset="-122"/>
                <a:cs typeface="Georgia" pitchFamily="34" charset="-120"/>
              </a:rPr>
              <a:t>Memory dominated by edge-indexed messages; full-batch fits ~32 K edges easily.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APPENDIX B · METHODOLOGY</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Defending design decisions</a:t>
            </a:r>
            <a:endParaRPr lang="en-US" sz="3000" dirty="0"/>
          </a:p>
        </p:txBody>
      </p:sp>
      <p:sp>
        <p:nvSpPr>
          <p:cNvPr id="5" name="Text 3"/>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6" name="Text 4"/>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B1</a:t>
            </a:r>
            <a:endParaRPr lang="en-US" sz="1000" dirty="0"/>
          </a:p>
        </p:txBody>
      </p:sp>
      <p:sp>
        <p:nvSpPr>
          <p:cNvPr id="7" name="Shape 5"/>
          <p:cNvSpPr/>
          <p:nvPr/>
        </p:nvSpPr>
        <p:spPr>
          <a:xfrm>
            <a:off x="640080" y="2103120"/>
            <a:ext cx="5349240" cy="1874520"/>
          </a:xfrm>
          <a:prstGeom prst="rect">
            <a:avLst/>
          </a:prstGeom>
          <a:solidFill>
            <a:srgbClr val="F6F8FA"/>
          </a:solidFill>
          <a:ln w="9525">
            <a:solidFill>
              <a:srgbClr val="C8CDD3"/>
            </a:solidFill>
            <a:prstDash val="solid"/>
          </a:ln>
        </p:spPr>
      </p:sp>
      <p:sp>
        <p:nvSpPr>
          <p:cNvPr id="8" name="Text 6"/>
          <p:cNvSpPr/>
          <p:nvPr/>
        </p:nvSpPr>
        <p:spPr>
          <a:xfrm>
            <a:off x="868680" y="226771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B.1</a:t>
            </a:r>
            <a:endParaRPr lang="en-US" sz="1000" dirty="0"/>
          </a:p>
        </p:txBody>
      </p:sp>
      <p:sp>
        <p:nvSpPr>
          <p:cNvPr id="9" name="Text 7"/>
          <p:cNvSpPr/>
          <p:nvPr/>
        </p:nvSpPr>
        <p:spPr>
          <a:xfrm>
            <a:off x="868680" y="2514600"/>
            <a:ext cx="4892040" cy="36576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Negative sampling: ω = 1</a:t>
            </a:r>
            <a:endParaRPr lang="en-US" sz="1400" dirty="0"/>
          </a:p>
        </p:txBody>
      </p:sp>
      <p:sp>
        <p:nvSpPr>
          <p:cNvPr id="10" name="Text 8"/>
          <p:cNvSpPr/>
          <p:nvPr/>
        </p:nvSpPr>
        <p:spPr>
          <a:xfrm>
            <a:off x="868680" y="297180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We sample one negative per positive triple by uniformly perturbing head or tail. Higher ratios (ω = 5, 10) gave no F1 improvement on validation but doubled wall-clock time. Trivedi et al. (2017) report similar saturation.</a:t>
            </a:r>
            <a:endParaRPr lang="en-US" sz="1100" dirty="0"/>
          </a:p>
        </p:txBody>
      </p:sp>
      <p:sp>
        <p:nvSpPr>
          <p:cNvPr id="11" name="Shape 9"/>
          <p:cNvSpPr/>
          <p:nvPr/>
        </p:nvSpPr>
        <p:spPr>
          <a:xfrm>
            <a:off x="6217920" y="2103120"/>
            <a:ext cx="5349240" cy="1874520"/>
          </a:xfrm>
          <a:prstGeom prst="rect">
            <a:avLst/>
          </a:prstGeom>
          <a:solidFill>
            <a:srgbClr val="F6F8FA"/>
          </a:solidFill>
          <a:ln w="9525">
            <a:solidFill>
              <a:srgbClr val="C8CDD3"/>
            </a:solidFill>
            <a:prstDash val="solid"/>
          </a:ln>
        </p:spPr>
      </p:sp>
      <p:sp>
        <p:nvSpPr>
          <p:cNvPr id="12" name="Text 10"/>
          <p:cNvSpPr/>
          <p:nvPr/>
        </p:nvSpPr>
        <p:spPr>
          <a:xfrm>
            <a:off x="6446520" y="226771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B.2</a:t>
            </a:r>
            <a:endParaRPr lang="en-US" sz="1000" dirty="0"/>
          </a:p>
        </p:txBody>
      </p:sp>
      <p:sp>
        <p:nvSpPr>
          <p:cNvPr id="13" name="Text 11"/>
          <p:cNvSpPr/>
          <p:nvPr/>
        </p:nvSpPr>
        <p:spPr>
          <a:xfrm>
            <a:off x="6446520" y="2514600"/>
            <a:ext cx="4892040" cy="36576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Why mask crime edges?</a:t>
            </a:r>
            <a:endParaRPr lang="en-US" sz="1400" dirty="0"/>
          </a:p>
        </p:txBody>
      </p:sp>
      <p:sp>
        <p:nvSpPr>
          <p:cNvPr id="14" name="Text 12"/>
          <p:cNvSpPr/>
          <p:nvPr/>
        </p:nvSpPr>
        <p:spPr>
          <a:xfrm>
            <a:off x="6446520" y="297180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Edges like kills trivially leak the label. Without masking, the encoder collapses to a 1-hop classifier on those edges (F1 → 0.99). Masking forces the model to use indirect relational evidence. Validated by re-introducing crime edges at test time: F1 unchanged.</a:t>
            </a:r>
            <a:endParaRPr lang="en-US" sz="1100" dirty="0"/>
          </a:p>
        </p:txBody>
      </p:sp>
      <p:sp>
        <p:nvSpPr>
          <p:cNvPr id="15" name="Shape 13"/>
          <p:cNvSpPr/>
          <p:nvPr/>
        </p:nvSpPr>
        <p:spPr>
          <a:xfrm>
            <a:off x="640080" y="4206240"/>
            <a:ext cx="5349240" cy="1874520"/>
          </a:xfrm>
          <a:prstGeom prst="rect">
            <a:avLst/>
          </a:prstGeom>
          <a:solidFill>
            <a:srgbClr val="F6F8FA"/>
          </a:solidFill>
          <a:ln w="9525">
            <a:solidFill>
              <a:srgbClr val="C8CDD3"/>
            </a:solidFill>
            <a:prstDash val="solid"/>
          </a:ln>
        </p:spPr>
      </p:sp>
      <p:sp>
        <p:nvSpPr>
          <p:cNvPr id="16" name="Text 14"/>
          <p:cNvSpPr/>
          <p:nvPr/>
        </p:nvSpPr>
        <p:spPr>
          <a:xfrm>
            <a:off x="868680" y="437083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B.3</a:t>
            </a:r>
            <a:endParaRPr lang="en-US" sz="1000" dirty="0"/>
          </a:p>
        </p:txBody>
      </p:sp>
      <p:sp>
        <p:nvSpPr>
          <p:cNvPr id="17" name="Text 15"/>
          <p:cNvSpPr/>
          <p:nvPr/>
        </p:nvSpPr>
        <p:spPr>
          <a:xfrm>
            <a:off x="868680" y="4617720"/>
            <a:ext cx="4892040" cy="36576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Class-balanced cross-entropy</a:t>
            </a:r>
            <a:endParaRPr lang="en-US" sz="1400" dirty="0"/>
          </a:p>
        </p:txBody>
      </p:sp>
      <p:sp>
        <p:nvSpPr>
          <p:cNvPr id="18" name="Text 16"/>
          <p:cNvSpPr/>
          <p:nvPr/>
        </p:nvSpPr>
        <p:spPr>
          <a:xfrm>
            <a:off x="868680" y="507492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With ~9 % positive class, vanilla CE collapsed to majority prediction. We weight each class by inverse frequency. Macro-F1 reported (rather than micro) because it does not reward majority-class accuracy.</a:t>
            </a:r>
            <a:endParaRPr lang="en-US" sz="1100" dirty="0"/>
          </a:p>
        </p:txBody>
      </p:sp>
      <p:sp>
        <p:nvSpPr>
          <p:cNvPr id="19" name="Shape 17"/>
          <p:cNvSpPr/>
          <p:nvPr/>
        </p:nvSpPr>
        <p:spPr>
          <a:xfrm>
            <a:off x="6217920" y="4206240"/>
            <a:ext cx="5349240" cy="1874520"/>
          </a:xfrm>
          <a:prstGeom prst="rect">
            <a:avLst/>
          </a:prstGeom>
          <a:solidFill>
            <a:srgbClr val="F6F8FA"/>
          </a:solidFill>
          <a:ln w="9525">
            <a:solidFill>
              <a:srgbClr val="C8CDD3"/>
            </a:solidFill>
            <a:prstDash val="solid"/>
          </a:ln>
        </p:spPr>
      </p:sp>
      <p:sp>
        <p:nvSpPr>
          <p:cNvPr id="20" name="Text 18"/>
          <p:cNvSpPr/>
          <p:nvPr/>
        </p:nvSpPr>
        <p:spPr>
          <a:xfrm>
            <a:off x="6446520" y="4370832"/>
            <a:ext cx="914400" cy="256032"/>
          </a:xfrm>
          <a:prstGeom prst="rect">
            <a:avLst/>
          </a:prstGeom>
          <a:noFill/>
          <a:ln/>
        </p:spPr>
        <p:txBody>
          <a:bodyPr wrap="square" lIns="0" tIns="0" rIns="0" bIns="0" rtlCol="0" anchor="ctr"/>
          <a:lstStyle/>
          <a:p>
            <a:pPr indent="0" marL="0">
              <a:buNone/>
            </a:pPr>
            <a:r>
              <a:rPr lang="en-US" sz="1000" i="1" spc="200" kern="0" dirty="0">
                <a:solidFill>
                  <a:srgbClr val="2C4A75"/>
                </a:solidFill>
                <a:latin typeface="Georgia" pitchFamily="34" charset="0"/>
                <a:ea typeface="Georgia" pitchFamily="34" charset="-122"/>
                <a:cs typeface="Georgia" pitchFamily="34" charset="-120"/>
              </a:rPr>
              <a:t>B.4</a:t>
            </a:r>
            <a:endParaRPr lang="en-US" sz="1000" dirty="0"/>
          </a:p>
        </p:txBody>
      </p:sp>
      <p:sp>
        <p:nvSpPr>
          <p:cNvPr id="21" name="Text 19"/>
          <p:cNvSpPr/>
          <p:nvPr/>
        </p:nvSpPr>
        <p:spPr>
          <a:xfrm>
            <a:off x="6446520" y="4617720"/>
            <a:ext cx="4892040" cy="36576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Why DistMult, not ComplEx?</a:t>
            </a:r>
            <a:endParaRPr lang="en-US" sz="1400" dirty="0"/>
          </a:p>
        </p:txBody>
      </p:sp>
      <p:sp>
        <p:nvSpPr>
          <p:cNvPr id="22" name="Text 20"/>
          <p:cNvSpPr/>
          <p:nvPr/>
        </p:nvSpPr>
        <p:spPr>
          <a:xfrm>
            <a:off x="6446520" y="5074920"/>
            <a:ext cx="4892040" cy="91440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Georgia" pitchFamily="34" charset="0"/>
                <a:ea typeface="Georgia" pitchFamily="34" charset="-122"/>
                <a:cs typeface="Georgia" pitchFamily="34" charset="-120"/>
              </a:rPr>
              <a:t>DistMult assumes symmetric relations; ComplEx handles asymmetry. We sidestep the issue by materialising inverse relations explicitly — directionality is encoded in relation type, not score function. ComplEx ablation: F1 = 0.759 (essentially tied).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APPENDIX C · LIMITATIONS</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Where R-GCN gets it wrong</a:t>
            </a:r>
            <a:endParaRPr lang="en-US" sz="3000" dirty="0"/>
          </a:p>
        </p:txBody>
      </p:sp>
      <p:sp>
        <p:nvSpPr>
          <p:cNvPr id="5" name="Text 3"/>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6" name="Text 4"/>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C1</a:t>
            </a:r>
            <a:endParaRPr lang="en-US" sz="1000" dirty="0"/>
          </a:p>
        </p:txBody>
      </p:sp>
      <p:sp>
        <p:nvSpPr>
          <p:cNvPr id="7" name="Text 5"/>
          <p:cNvSpPr/>
          <p:nvPr/>
        </p:nvSpPr>
        <p:spPr>
          <a:xfrm>
            <a:off x="640080" y="2103120"/>
            <a:ext cx="73152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FAILURE MODES OBSERVED ON DEV SET</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8229600" cy="914400"/>
        </p:xfrm>
        <a:graphic>
          <a:graphicData uri="http://schemas.openxmlformats.org/drawingml/2006/table">
            <a:tbl>
              <a:tblPr/>
              <a:tblGrid>
                <a:gridCol w="3291840"/>
                <a:gridCol w="1280160"/>
                <a:gridCol w="3657600"/>
              </a:tblGrid>
              <a:tr h="420624">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Failure mode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ctr" indent="0" marL="0">
                        <a:buNone/>
                      </a:pPr>
                      <a:r>
                        <a:rPr lang="en-US" sz="1100" b="1" dirty="0">
                          <a:solidFill>
                            <a:srgbClr val="13294B"/>
                          </a:solidFill>
                          <a:latin typeface="Georgia" pitchFamily="34" charset="0"/>
                          <a:ea typeface="Georgia" pitchFamily="34" charset="-122"/>
                          <a:cs typeface="Georgia" pitchFamily="34" charset="-120"/>
                        </a:rPr>
                        <a:t>Frequency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Cause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420624">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Sparse-relation graphs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B85450"/>
                          </a:solidFill>
                          <a:latin typeface="Cambria" pitchFamily="34" charset="0"/>
                          <a:ea typeface="Cambria" pitchFamily="34" charset="-122"/>
                          <a:cs typeface="Cambria" pitchFamily="34" charset="-120"/>
                        </a:rPr>
                        <a:t>~30 %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4A4A4A"/>
                          </a:solidFill>
                          <a:latin typeface="Georgia" pitchFamily="34" charset="0"/>
                          <a:ea typeface="Georgia" pitchFamily="34" charset="-122"/>
                          <a:cs typeface="Georgia" pitchFamily="34" charset="-120"/>
                        </a:rPr>
                        <a:t>Few edges per character ⇒ encoder relies on features alone.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420624">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Two-act structure (red herring)</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B85450"/>
                          </a:solidFill>
                          <a:latin typeface="Cambria" pitchFamily="34" charset="0"/>
                          <a:ea typeface="Cambria" pitchFamily="34" charset="-122"/>
                          <a:cs typeface="Cambria" pitchFamily="34" charset="-120"/>
                        </a:rPr>
                        <a:t>~15 %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4A4A4A"/>
                          </a:solidFill>
                          <a:latin typeface="Georgia" pitchFamily="34" charset="0"/>
                          <a:ea typeface="Georgia" pitchFamily="34" charset="-122"/>
                          <a:cs typeface="Georgia" pitchFamily="34" charset="-120"/>
                        </a:rPr>
                        <a:t>Apparent villain in act 1 has stronger relational signature than the true one.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420624">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Ensemble villains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8A8A8A"/>
                          </a:solidFill>
                          <a:latin typeface="Cambria" pitchFamily="34" charset="0"/>
                          <a:ea typeface="Cambria" pitchFamily="34" charset="-122"/>
                          <a:cs typeface="Cambria" pitchFamily="34" charset="-120"/>
                        </a:rPr>
                        <a:t>~10 %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4A4A4A"/>
                          </a:solidFill>
                          <a:latin typeface="Georgia" pitchFamily="34" charset="0"/>
                          <a:ea typeface="Georgia" pitchFamily="34" charset="-122"/>
                          <a:cs typeface="Georgia" pitchFamily="34" charset="-120"/>
                        </a:rPr>
                        <a:t>Multiple co-conspirators ⇒ each gets a diluted P(Villain).</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420624">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Off-screen perpetrators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ctr" indent="0" marL="0">
                        <a:buNone/>
                      </a:pPr>
                      <a:r>
                        <a:rPr lang="en-US" sz="1100" dirty="0">
                          <a:solidFill>
                            <a:srgbClr val="8A8A8A"/>
                          </a:solidFill>
                          <a:latin typeface="Cambria" pitchFamily="34" charset="0"/>
                          <a:ea typeface="Cambria" pitchFamily="34" charset="-122"/>
                          <a:cs typeface="Cambria" pitchFamily="34" charset="-120"/>
                        </a:rPr>
                        <a:t>~8 %</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indent="0" marL="0">
                        <a:buNone/>
                      </a:pPr>
                      <a:r>
                        <a:rPr lang="en-US" sz="1100" i="1" dirty="0">
                          <a:solidFill>
                            <a:srgbClr val="4A4A4A"/>
                          </a:solidFill>
                          <a:latin typeface="Georgia" pitchFamily="34" charset="0"/>
                          <a:ea typeface="Georgia" pitchFamily="34" charset="-122"/>
                          <a:cs typeface="Georgia" pitchFamily="34" charset="-120"/>
                        </a:rPr>
                        <a:t>Perp barely appears in the narrative ⇒ feature/edge sparsity.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9" name="Text 6"/>
          <p:cNvSpPr/>
          <p:nvPr/>
        </p:nvSpPr>
        <p:spPr>
          <a:xfrm>
            <a:off x="9098280" y="2103120"/>
            <a:ext cx="27432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STRUCTURAL LIMITS</a:t>
            </a:r>
            <a:endParaRPr lang="en-US" sz="1000" dirty="0"/>
          </a:p>
        </p:txBody>
      </p:sp>
      <p:sp>
        <p:nvSpPr>
          <p:cNvPr id="10" name="Shape 7"/>
          <p:cNvSpPr/>
          <p:nvPr/>
        </p:nvSpPr>
        <p:spPr>
          <a:xfrm>
            <a:off x="9098280" y="2423160"/>
            <a:ext cx="2423160" cy="2103120"/>
          </a:xfrm>
          <a:prstGeom prst="rect">
            <a:avLst/>
          </a:prstGeom>
          <a:solidFill>
            <a:srgbClr val="EEF1F4"/>
          </a:solidFill>
          <a:ln/>
        </p:spPr>
      </p:sp>
      <p:sp>
        <p:nvSpPr>
          <p:cNvPr id="11" name="Shape 8"/>
          <p:cNvSpPr/>
          <p:nvPr/>
        </p:nvSpPr>
        <p:spPr>
          <a:xfrm>
            <a:off x="9098280" y="2423160"/>
            <a:ext cx="54864" cy="2103120"/>
          </a:xfrm>
          <a:prstGeom prst="rect">
            <a:avLst/>
          </a:prstGeom>
          <a:solidFill>
            <a:srgbClr val="13294B"/>
          </a:solidFill>
          <a:ln/>
        </p:spPr>
      </p:sp>
      <p:sp>
        <p:nvSpPr>
          <p:cNvPr id="12" name="Text 9"/>
          <p:cNvSpPr/>
          <p:nvPr/>
        </p:nvSpPr>
        <p:spPr>
          <a:xfrm>
            <a:off x="9235440" y="2542032"/>
            <a:ext cx="2194560" cy="1874520"/>
          </a:xfrm>
          <a:prstGeom prst="rect">
            <a:avLst/>
          </a:prstGeom>
          <a:noFill/>
          <a:ln/>
        </p:spPr>
        <p:txBody>
          <a:bodyPr wrap="square" lIns="0" tIns="0" rIns="0" bIns="0" rtlCol="0" anchor="ctr"/>
          <a:lstStyle/>
          <a:p>
            <a:pPr indent="0" marL="0">
              <a:lnSpc>
                <a:spcPts val="1600"/>
              </a:lnSpc>
              <a:buNone/>
            </a:pPr>
            <a:r>
              <a:rPr lang="en-US" sz="1000" dirty="0">
                <a:solidFill>
                  <a:srgbClr val="4A4A4A"/>
                </a:solidFill>
                <a:latin typeface="Cambria" pitchFamily="34" charset="0"/>
                <a:ea typeface="Cambria" pitchFamily="34" charset="-122"/>
                <a:cs typeface="Cambria" pitchFamily="34" charset="-120"/>
              </a:rPr>
              <a:t>·  Two-layer R-GCN ⇒ 2-hop receptive field. Long-range reasoning lost.</a:t>
            </a:r>
            <a:pPr indent="0" marL="0">
              <a:lnSpc>
                <a:spcPts val="1600"/>
              </a:lnSpc>
              <a:buNone/>
            </a:pPr>
            <a:r>
              <a:rPr lang="en-US" sz="1000" dirty="0">
                <a:solidFill>
                  <a:srgbClr val="000000"/>
                </a:solidFill>
              </a:rPr>
              <a:t>
</a:t>
            </a:r>
            <a:pPr indent="0" marL="0">
              <a:lnSpc>
                <a:spcPts val="1600"/>
              </a:lnSpc>
              <a:buNone/>
            </a:pPr>
            <a:r>
              <a:rPr lang="en-US" sz="1000" dirty="0">
                <a:solidFill>
                  <a:srgbClr val="4A4A4A"/>
                </a:solidFill>
                <a:latin typeface="Cambria" pitchFamily="34" charset="0"/>
                <a:ea typeface="Cambria" pitchFamily="34" charset="-122"/>
                <a:cs typeface="Cambria" pitchFamily="34" charset="-120"/>
              </a:rPr>
              <a:t>·  Cannot count substructures beyond 1-WL.</a:t>
            </a:r>
            <a:pPr indent="0" marL="0">
              <a:lnSpc>
                <a:spcPts val="1600"/>
              </a:lnSpc>
              <a:buNone/>
            </a:pPr>
            <a:r>
              <a:rPr lang="en-US" sz="1000" dirty="0">
                <a:solidFill>
                  <a:srgbClr val="000000"/>
                </a:solidFill>
              </a:rPr>
              <a:t>
</a:t>
            </a:r>
            <a:pPr indent="0" marL="0">
              <a:lnSpc>
                <a:spcPts val="1600"/>
              </a:lnSpc>
              <a:buNone/>
            </a:pPr>
            <a:r>
              <a:rPr lang="en-US" sz="1000" dirty="0">
                <a:solidFill>
                  <a:srgbClr val="4A4A4A"/>
                </a:solidFill>
                <a:latin typeface="Cambria" pitchFamily="34" charset="0"/>
                <a:ea typeface="Cambria" pitchFamily="34" charset="-122"/>
                <a:cs typeface="Cambria" pitchFamily="34" charset="-120"/>
              </a:rPr>
              <a:t>·  Static graph: no temporal evolution of relations.</a:t>
            </a:r>
            <a:endParaRPr lang="en-US" sz="1000" dirty="0"/>
          </a:p>
        </p:txBody>
      </p:sp>
      <p:sp>
        <p:nvSpPr>
          <p:cNvPr id="13" name="Shape 10"/>
          <p:cNvSpPr/>
          <p:nvPr/>
        </p:nvSpPr>
        <p:spPr>
          <a:xfrm>
            <a:off x="640080" y="4846320"/>
            <a:ext cx="10911535" cy="1417320"/>
          </a:xfrm>
          <a:prstGeom prst="rect">
            <a:avLst/>
          </a:prstGeom>
          <a:solidFill>
            <a:srgbClr val="F6F8FA"/>
          </a:solidFill>
          <a:ln w="9525">
            <a:solidFill>
              <a:srgbClr val="C8CDD3"/>
            </a:solidFill>
            <a:prstDash val="solid"/>
          </a:ln>
        </p:spPr>
      </p:sp>
      <p:sp>
        <p:nvSpPr>
          <p:cNvPr id="14" name="Text 11"/>
          <p:cNvSpPr/>
          <p:nvPr/>
        </p:nvSpPr>
        <p:spPr>
          <a:xfrm>
            <a:off x="868680" y="4983480"/>
            <a:ext cx="10362895" cy="274320"/>
          </a:xfrm>
          <a:prstGeom prst="rect">
            <a:avLst/>
          </a:prstGeom>
          <a:noFill/>
          <a:ln/>
        </p:spPr>
        <p:txBody>
          <a:bodyPr wrap="square" lIns="0" tIns="0" rIns="0" bIns="0" rtlCol="0" anchor="ctr"/>
          <a:lstStyle/>
          <a:p>
            <a:pPr indent="0" marL="0">
              <a:buNone/>
            </a:pPr>
            <a:r>
              <a:rPr lang="en-US" sz="1000" b="1" spc="300" kern="0" dirty="0">
                <a:solidFill>
                  <a:srgbClr val="B85450"/>
                </a:solidFill>
                <a:latin typeface="Georgia" pitchFamily="34" charset="0"/>
                <a:ea typeface="Georgia" pitchFamily="34" charset="-122"/>
                <a:cs typeface="Georgia" pitchFamily="34" charset="-120"/>
              </a:rPr>
              <a:t>HONEST ASSESSMENT</a:t>
            </a:r>
            <a:endParaRPr lang="en-US" sz="1000" dirty="0"/>
          </a:p>
        </p:txBody>
      </p:sp>
      <p:sp>
        <p:nvSpPr>
          <p:cNvPr id="15" name="Text 12"/>
          <p:cNvSpPr/>
          <p:nvPr/>
        </p:nvSpPr>
        <p:spPr>
          <a:xfrm>
            <a:off x="868680" y="5285232"/>
            <a:ext cx="10362895" cy="914400"/>
          </a:xfrm>
          <a:prstGeom prst="rect">
            <a:avLst/>
          </a:prstGeom>
          <a:noFill/>
          <a:ln/>
        </p:spPr>
        <p:txBody>
          <a:bodyPr wrap="square" lIns="0" tIns="0" rIns="0" bIns="0" rtlCol="0" anchor="ctr"/>
          <a:lstStyle/>
          <a:p>
            <a:pPr indent="0" marL="0">
              <a:lnSpc>
                <a:spcPts val="1800"/>
              </a:lnSpc>
              <a:buNone/>
            </a:pPr>
            <a:r>
              <a:rPr lang="en-US" sz="1100" dirty="0">
                <a:solidFill>
                  <a:srgbClr val="4A4A4A"/>
                </a:solidFill>
                <a:latin typeface="Cambria" pitchFamily="34" charset="0"/>
                <a:ea typeface="Cambria" pitchFamily="34" charset="-122"/>
                <a:cs typeface="Cambria" pitchFamily="34" charset="-120"/>
              </a:rPr>
              <a:t>R-GCN is not a detective. It is a precise, cautious classifier that exploits relational sparsity to exclude the obviously-uninvolved. On stories that match the training distribution, it improves macro-F1 by ~5 pp; on edge cases — sparse graphs, two-act narratives, ensemble crimes — it underperforms LogReg. The takeaway is not that graph models replace feature classifiers, but that </a:t>
            </a:r>
            <a:pPr indent="0" marL="0">
              <a:lnSpc>
                <a:spcPts val="1800"/>
              </a:lnSpc>
              <a:buNone/>
            </a:pPr>
            <a:r>
              <a:rPr lang="en-US" sz="1100" i="1" dirty="0">
                <a:solidFill>
                  <a:srgbClr val="13294B"/>
                </a:solidFill>
                <a:latin typeface="Georgia" pitchFamily="34" charset="0"/>
                <a:ea typeface="Georgia" pitchFamily="34" charset="-122"/>
                <a:cs typeface="Georgia" pitchFamily="34" charset="-120"/>
              </a:rPr>
              <a:t>they complement them when relational structure is rich and class signal is moderate.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3294B"/>
          </a:solidFill>
          <a:ln/>
        </p:spPr>
      </p:sp>
      <p:sp>
        <p:nvSpPr>
          <p:cNvPr id="3" name="Text 1"/>
          <p:cNvSpPr/>
          <p:nvPr/>
        </p:nvSpPr>
        <p:spPr>
          <a:xfrm>
            <a:off x="640080" y="411480"/>
            <a:ext cx="5486400" cy="274320"/>
          </a:xfrm>
          <a:prstGeom prst="rect">
            <a:avLst/>
          </a:prstGeom>
          <a:noFill/>
          <a:ln/>
        </p:spPr>
        <p:txBody>
          <a:bodyPr wrap="square" lIns="0" tIns="0" rIns="0" bIns="0" rtlCol="0" anchor="ctr"/>
          <a:lstStyle/>
          <a:p>
            <a:pPr indent="0" marL="0">
              <a:buNone/>
            </a:pPr>
            <a:r>
              <a:rPr lang="en-US" sz="1000" i="1" spc="400" kern="0" dirty="0">
                <a:solidFill>
                  <a:srgbClr val="2C4A75"/>
                </a:solidFill>
                <a:latin typeface="Georgia" pitchFamily="34" charset="0"/>
                <a:ea typeface="Georgia" pitchFamily="34" charset="-122"/>
                <a:cs typeface="Georgia" pitchFamily="34" charset="-120"/>
              </a:rPr>
              <a:t>APPENDIX D · DATASET</a:t>
            </a:r>
            <a:endParaRPr lang="en-US" sz="1000" dirty="0"/>
          </a:p>
        </p:txBody>
      </p:sp>
      <p:sp>
        <p:nvSpPr>
          <p:cNvPr id="4" name="Text 2"/>
          <p:cNvSpPr/>
          <p:nvPr/>
        </p:nvSpPr>
        <p:spPr>
          <a:xfrm>
            <a:off x="640080" y="731520"/>
            <a:ext cx="10911535" cy="640080"/>
          </a:xfrm>
          <a:prstGeom prst="rect">
            <a:avLst/>
          </a:prstGeom>
          <a:noFill/>
          <a:ln/>
        </p:spPr>
        <p:txBody>
          <a:bodyPr wrap="square" lIns="0" tIns="0" rIns="0" bIns="0" rtlCol="0" anchor="ctr"/>
          <a:lstStyle/>
          <a:p>
            <a:pPr indent="0" marL="0">
              <a:buNone/>
            </a:pPr>
            <a:r>
              <a:rPr lang="en-US" sz="3000" b="1" dirty="0">
                <a:solidFill>
                  <a:srgbClr val="13294B"/>
                </a:solidFill>
                <a:latin typeface="Georgia" pitchFamily="34" charset="0"/>
                <a:ea typeface="Georgia" pitchFamily="34" charset="-122"/>
                <a:cs typeface="Georgia" pitchFamily="34" charset="-120"/>
              </a:rPr>
              <a:t>Construction pipeline</a:t>
            </a:r>
            <a:endParaRPr lang="en-US" sz="3000" dirty="0"/>
          </a:p>
        </p:txBody>
      </p:sp>
      <p:sp>
        <p:nvSpPr>
          <p:cNvPr id="5" name="Text 3"/>
          <p:cNvSpPr/>
          <p:nvPr/>
        </p:nvSpPr>
        <p:spPr>
          <a:xfrm>
            <a:off x="640080" y="6473952"/>
            <a:ext cx="8229600" cy="256032"/>
          </a:xfrm>
          <a:prstGeom prst="rect">
            <a:avLst/>
          </a:prstGeom>
          <a:noFill/>
          <a:ln/>
        </p:spPr>
        <p:txBody>
          <a:bodyPr wrap="square" lIns="0" tIns="0" rIns="0" bIns="0" rtlCol="0" anchor="ctr"/>
          <a:lstStyle/>
          <a:p>
            <a:pPr indent="0" marL="0">
              <a:buNone/>
            </a:pPr>
            <a:r>
              <a:rPr lang="en-US" sz="900" i="1" spc="300" kern="0" dirty="0">
                <a:solidFill>
                  <a:srgbClr val="8A8A8A"/>
                </a:solidFill>
                <a:latin typeface="Georgia" pitchFamily="34" charset="0"/>
                <a:ea typeface="Georgia" pitchFamily="34" charset="-122"/>
                <a:cs typeface="Georgia" pitchFamily="34" charset="-120"/>
              </a:rPr>
              <a:t>MATH 290  ·  DESANTIS, ABRAMOWITZ, DREEBEN, MUMMANENI</a:t>
            </a:r>
            <a:endParaRPr lang="en-US" sz="900" dirty="0"/>
          </a:p>
        </p:txBody>
      </p:sp>
      <p:sp>
        <p:nvSpPr>
          <p:cNvPr id="6" name="Text 4"/>
          <p:cNvSpPr/>
          <p:nvPr/>
        </p:nvSpPr>
        <p:spPr>
          <a:xfrm>
            <a:off x="11185855" y="6473952"/>
            <a:ext cx="457200" cy="256032"/>
          </a:xfrm>
          <a:prstGeom prst="rect">
            <a:avLst/>
          </a:prstGeom>
          <a:noFill/>
          <a:ln/>
        </p:spPr>
        <p:txBody>
          <a:bodyPr wrap="square" lIns="0" tIns="0" rIns="0" bIns="0" rtlCol="0" anchor="ctr"/>
          <a:lstStyle/>
          <a:p>
            <a:pPr algn="r" indent="0" marL="0">
              <a:buNone/>
            </a:pPr>
            <a:r>
              <a:rPr lang="en-US" sz="1000" dirty="0">
                <a:solidFill>
                  <a:srgbClr val="8A8A8A"/>
                </a:solidFill>
                <a:latin typeface="Georgia" pitchFamily="34" charset="0"/>
                <a:ea typeface="Georgia" pitchFamily="34" charset="-122"/>
                <a:cs typeface="Georgia" pitchFamily="34" charset="-120"/>
              </a:rPr>
              <a:t>D1</a:t>
            </a:r>
            <a:endParaRPr lang="en-US" sz="1000" dirty="0"/>
          </a:p>
        </p:txBody>
      </p:sp>
      <p:sp>
        <p:nvSpPr>
          <p:cNvPr id="7" name="Shape 5"/>
          <p:cNvSpPr/>
          <p:nvPr/>
        </p:nvSpPr>
        <p:spPr>
          <a:xfrm>
            <a:off x="640080" y="2103120"/>
            <a:ext cx="2590724" cy="1691640"/>
          </a:xfrm>
          <a:prstGeom prst="rect">
            <a:avLst/>
          </a:prstGeom>
          <a:solidFill>
            <a:srgbClr val="EEF1F4"/>
          </a:solidFill>
          <a:ln/>
        </p:spPr>
      </p:sp>
      <p:sp>
        <p:nvSpPr>
          <p:cNvPr id="8" name="Shape 6"/>
          <p:cNvSpPr/>
          <p:nvPr/>
        </p:nvSpPr>
        <p:spPr>
          <a:xfrm>
            <a:off x="640080" y="2103120"/>
            <a:ext cx="2590724" cy="54864"/>
          </a:xfrm>
          <a:prstGeom prst="rect">
            <a:avLst/>
          </a:prstGeom>
          <a:solidFill>
            <a:srgbClr val="13294B"/>
          </a:solidFill>
          <a:ln/>
        </p:spPr>
      </p:sp>
      <p:sp>
        <p:nvSpPr>
          <p:cNvPr id="9" name="Text 7"/>
          <p:cNvSpPr/>
          <p:nvPr/>
        </p:nvSpPr>
        <p:spPr>
          <a:xfrm>
            <a:off x="822960" y="2286000"/>
            <a:ext cx="2224964" cy="256032"/>
          </a:xfrm>
          <a:prstGeom prst="rect">
            <a:avLst/>
          </a:prstGeom>
          <a:noFill/>
          <a:ln/>
        </p:spPr>
        <p:txBody>
          <a:bodyPr wrap="square" lIns="0" tIns="0" rIns="0" bIns="0" rtlCol="0" anchor="ctr"/>
          <a:lstStyle/>
          <a:p>
            <a:pPr indent="0" marL="0">
              <a:buNone/>
            </a:pPr>
            <a:r>
              <a:rPr lang="en-US" sz="900" i="1" spc="300" kern="0" dirty="0">
                <a:solidFill>
                  <a:srgbClr val="2C4A75"/>
                </a:solidFill>
                <a:latin typeface="Georgia" pitchFamily="34" charset="0"/>
                <a:ea typeface="Georgia" pitchFamily="34" charset="-122"/>
                <a:cs typeface="Georgia" pitchFamily="34" charset="-120"/>
              </a:rPr>
              <a:t>STAGE 1</a:t>
            </a:r>
            <a:endParaRPr lang="en-US" sz="900" dirty="0"/>
          </a:p>
        </p:txBody>
      </p:sp>
      <p:sp>
        <p:nvSpPr>
          <p:cNvPr id="10" name="Text 8"/>
          <p:cNvSpPr/>
          <p:nvPr/>
        </p:nvSpPr>
        <p:spPr>
          <a:xfrm>
            <a:off x="822960" y="2560320"/>
            <a:ext cx="2224964"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Source</a:t>
            </a:r>
            <a:endParaRPr lang="en-US" sz="1400" dirty="0"/>
          </a:p>
        </p:txBody>
      </p:sp>
      <p:sp>
        <p:nvSpPr>
          <p:cNvPr id="11" name="Text 9"/>
          <p:cNvSpPr/>
          <p:nvPr/>
        </p:nvSpPr>
        <p:spPr>
          <a:xfrm>
            <a:off x="822960" y="3017520"/>
            <a:ext cx="2224964" cy="731520"/>
          </a:xfrm>
          <a:prstGeom prst="rect">
            <a:avLst/>
          </a:prstGeom>
          <a:noFill/>
          <a:ln/>
        </p:spPr>
        <p:txBody>
          <a:bodyPr wrap="square" lIns="0" tIns="0" rIns="0" bIns="0" rtlCol="0" anchor="ctr"/>
          <a:lstStyle/>
          <a:p>
            <a:pPr indent="0" marL="0">
              <a:lnSpc>
                <a:spcPts val="1400"/>
              </a:lnSpc>
              <a:buNone/>
            </a:pPr>
            <a:r>
              <a:rPr lang="en-US" sz="1000" dirty="0">
                <a:solidFill>
                  <a:srgbClr val="4A4A4A"/>
                </a:solidFill>
                <a:latin typeface="Georgia" pitchFamily="34" charset="0"/>
                <a:ea typeface="Georgia" pitchFamily="34" charset="-122"/>
                <a:cs typeface="Georgia" pitchFamily="34" charset="-120"/>
              </a:rPr>
              <a:t>576 mystery synopses, scripts, and narrative summaries — Conan Doyle canon, contemporary mysteries, real-world cold-case reconstructions.</a:t>
            </a:r>
            <a:endParaRPr lang="en-US" sz="1000" dirty="0"/>
          </a:p>
        </p:txBody>
      </p:sp>
      <p:sp>
        <p:nvSpPr>
          <p:cNvPr id="12" name="Shape 10"/>
          <p:cNvSpPr/>
          <p:nvPr/>
        </p:nvSpPr>
        <p:spPr>
          <a:xfrm rot="5400000">
            <a:off x="3285668" y="2884932"/>
            <a:ext cx="91440" cy="128016"/>
          </a:xfrm>
          <a:prstGeom prst="rtTriangle">
            <a:avLst/>
          </a:prstGeom>
          <a:solidFill>
            <a:srgbClr val="4A6A95"/>
          </a:solidFill>
          <a:ln/>
        </p:spPr>
      </p:sp>
      <p:sp>
        <p:nvSpPr>
          <p:cNvPr id="13" name="Shape 11"/>
          <p:cNvSpPr/>
          <p:nvPr/>
        </p:nvSpPr>
        <p:spPr>
          <a:xfrm>
            <a:off x="3413684" y="2103120"/>
            <a:ext cx="2590724" cy="1691640"/>
          </a:xfrm>
          <a:prstGeom prst="rect">
            <a:avLst/>
          </a:prstGeom>
          <a:solidFill>
            <a:srgbClr val="EEF1F4"/>
          </a:solidFill>
          <a:ln/>
        </p:spPr>
      </p:sp>
      <p:sp>
        <p:nvSpPr>
          <p:cNvPr id="14" name="Shape 12"/>
          <p:cNvSpPr/>
          <p:nvPr/>
        </p:nvSpPr>
        <p:spPr>
          <a:xfrm>
            <a:off x="3413684" y="2103120"/>
            <a:ext cx="2590724" cy="54864"/>
          </a:xfrm>
          <a:prstGeom prst="rect">
            <a:avLst/>
          </a:prstGeom>
          <a:solidFill>
            <a:srgbClr val="13294B"/>
          </a:solidFill>
          <a:ln/>
        </p:spPr>
      </p:sp>
      <p:sp>
        <p:nvSpPr>
          <p:cNvPr id="15" name="Text 13"/>
          <p:cNvSpPr/>
          <p:nvPr/>
        </p:nvSpPr>
        <p:spPr>
          <a:xfrm>
            <a:off x="3596564" y="2286000"/>
            <a:ext cx="2224964" cy="256032"/>
          </a:xfrm>
          <a:prstGeom prst="rect">
            <a:avLst/>
          </a:prstGeom>
          <a:noFill/>
          <a:ln/>
        </p:spPr>
        <p:txBody>
          <a:bodyPr wrap="square" lIns="0" tIns="0" rIns="0" bIns="0" rtlCol="0" anchor="ctr"/>
          <a:lstStyle/>
          <a:p>
            <a:pPr indent="0" marL="0">
              <a:buNone/>
            </a:pPr>
            <a:r>
              <a:rPr lang="en-US" sz="900" i="1" spc="300" kern="0" dirty="0">
                <a:solidFill>
                  <a:srgbClr val="2C4A75"/>
                </a:solidFill>
                <a:latin typeface="Georgia" pitchFamily="34" charset="0"/>
                <a:ea typeface="Georgia" pitchFamily="34" charset="-122"/>
                <a:cs typeface="Georgia" pitchFamily="34" charset="-120"/>
              </a:rPr>
              <a:t>STAGE 2</a:t>
            </a:r>
            <a:endParaRPr lang="en-US" sz="900" dirty="0"/>
          </a:p>
        </p:txBody>
      </p:sp>
      <p:sp>
        <p:nvSpPr>
          <p:cNvPr id="16" name="Text 14"/>
          <p:cNvSpPr/>
          <p:nvPr/>
        </p:nvSpPr>
        <p:spPr>
          <a:xfrm>
            <a:off x="3596564" y="2560320"/>
            <a:ext cx="2224964"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NER + coreference</a:t>
            </a:r>
            <a:endParaRPr lang="en-US" sz="1400" dirty="0"/>
          </a:p>
        </p:txBody>
      </p:sp>
      <p:sp>
        <p:nvSpPr>
          <p:cNvPr id="17" name="Text 15"/>
          <p:cNvSpPr/>
          <p:nvPr/>
        </p:nvSpPr>
        <p:spPr>
          <a:xfrm>
            <a:off x="3596564" y="3017520"/>
            <a:ext cx="2224964" cy="731520"/>
          </a:xfrm>
          <a:prstGeom prst="rect">
            <a:avLst/>
          </a:prstGeom>
          <a:noFill/>
          <a:ln/>
        </p:spPr>
        <p:txBody>
          <a:bodyPr wrap="square" lIns="0" tIns="0" rIns="0" bIns="0" rtlCol="0" anchor="ctr"/>
          <a:lstStyle/>
          <a:p>
            <a:pPr indent="0" marL="0">
              <a:lnSpc>
                <a:spcPts val="1400"/>
              </a:lnSpc>
              <a:buNone/>
            </a:pPr>
            <a:r>
              <a:rPr lang="en-US" sz="1000" dirty="0">
                <a:solidFill>
                  <a:srgbClr val="4A4A4A"/>
                </a:solidFill>
                <a:latin typeface="Georgia" pitchFamily="34" charset="0"/>
                <a:ea typeface="Georgia" pitchFamily="34" charset="-122"/>
                <a:cs typeface="Georgia" pitchFamily="34" charset="-120"/>
              </a:rPr>
              <a:t>spaCy (en_core_web_lg) for entity extraction; neuralcoref for coreference resolution. Hand-validated on 50-story dev set.</a:t>
            </a:r>
            <a:endParaRPr lang="en-US" sz="1000" dirty="0"/>
          </a:p>
        </p:txBody>
      </p:sp>
      <p:sp>
        <p:nvSpPr>
          <p:cNvPr id="18" name="Shape 16"/>
          <p:cNvSpPr/>
          <p:nvPr/>
        </p:nvSpPr>
        <p:spPr>
          <a:xfrm rot="5400000">
            <a:off x="6059272" y="2884932"/>
            <a:ext cx="91440" cy="128016"/>
          </a:xfrm>
          <a:prstGeom prst="rtTriangle">
            <a:avLst/>
          </a:prstGeom>
          <a:solidFill>
            <a:srgbClr val="4A6A95"/>
          </a:solidFill>
          <a:ln/>
        </p:spPr>
      </p:sp>
      <p:sp>
        <p:nvSpPr>
          <p:cNvPr id="19" name="Shape 17"/>
          <p:cNvSpPr/>
          <p:nvPr/>
        </p:nvSpPr>
        <p:spPr>
          <a:xfrm>
            <a:off x="6187288" y="2103120"/>
            <a:ext cx="2590724" cy="1691640"/>
          </a:xfrm>
          <a:prstGeom prst="rect">
            <a:avLst/>
          </a:prstGeom>
          <a:solidFill>
            <a:srgbClr val="EEF1F4"/>
          </a:solidFill>
          <a:ln/>
        </p:spPr>
      </p:sp>
      <p:sp>
        <p:nvSpPr>
          <p:cNvPr id="20" name="Shape 18"/>
          <p:cNvSpPr/>
          <p:nvPr/>
        </p:nvSpPr>
        <p:spPr>
          <a:xfrm>
            <a:off x="6187288" y="2103120"/>
            <a:ext cx="2590724" cy="54864"/>
          </a:xfrm>
          <a:prstGeom prst="rect">
            <a:avLst/>
          </a:prstGeom>
          <a:solidFill>
            <a:srgbClr val="13294B"/>
          </a:solidFill>
          <a:ln/>
        </p:spPr>
      </p:sp>
      <p:sp>
        <p:nvSpPr>
          <p:cNvPr id="21" name="Text 19"/>
          <p:cNvSpPr/>
          <p:nvPr/>
        </p:nvSpPr>
        <p:spPr>
          <a:xfrm>
            <a:off x="6370168" y="2286000"/>
            <a:ext cx="2224964" cy="256032"/>
          </a:xfrm>
          <a:prstGeom prst="rect">
            <a:avLst/>
          </a:prstGeom>
          <a:noFill/>
          <a:ln/>
        </p:spPr>
        <p:txBody>
          <a:bodyPr wrap="square" lIns="0" tIns="0" rIns="0" bIns="0" rtlCol="0" anchor="ctr"/>
          <a:lstStyle/>
          <a:p>
            <a:pPr indent="0" marL="0">
              <a:buNone/>
            </a:pPr>
            <a:r>
              <a:rPr lang="en-US" sz="900" i="1" spc="300" kern="0" dirty="0">
                <a:solidFill>
                  <a:srgbClr val="2C4A75"/>
                </a:solidFill>
                <a:latin typeface="Georgia" pitchFamily="34" charset="0"/>
                <a:ea typeface="Georgia" pitchFamily="34" charset="-122"/>
                <a:cs typeface="Georgia" pitchFamily="34" charset="-120"/>
              </a:rPr>
              <a:t>STAGE 3</a:t>
            </a:r>
            <a:endParaRPr lang="en-US" sz="900" dirty="0"/>
          </a:p>
        </p:txBody>
      </p:sp>
      <p:sp>
        <p:nvSpPr>
          <p:cNvPr id="22" name="Text 20"/>
          <p:cNvSpPr/>
          <p:nvPr/>
        </p:nvSpPr>
        <p:spPr>
          <a:xfrm>
            <a:off x="6370168" y="2560320"/>
            <a:ext cx="2224964"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Relation extraction</a:t>
            </a:r>
            <a:endParaRPr lang="en-US" sz="1400" dirty="0"/>
          </a:p>
        </p:txBody>
      </p:sp>
      <p:sp>
        <p:nvSpPr>
          <p:cNvPr id="23" name="Text 21"/>
          <p:cNvSpPr/>
          <p:nvPr/>
        </p:nvSpPr>
        <p:spPr>
          <a:xfrm>
            <a:off x="6370168" y="3017520"/>
            <a:ext cx="2224964" cy="731520"/>
          </a:xfrm>
          <a:prstGeom prst="rect">
            <a:avLst/>
          </a:prstGeom>
          <a:noFill/>
          <a:ln/>
        </p:spPr>
        <p:txBody>
          <a:bodyPr wrap="square" lIns="0" tIns="0" rIns="0" bIns="0" rtlCol="0" anchor="ctr"/>
          <a:lstStyle/>
          <a:p>
            <a:pPr indent="0" marL="0">
              <a:lnSpc>
                <a:spcPts val="1400"/>
              </a:lnSpc>
              <a:buNone/>
            </a:pPr>
            <a:r>
              <a:rPr lang="en-US" sz="1000" dirty="0">
                <a:solidFill>
                  <a:srgbClr val="4A4A4A"/>
                </a:solidFill>
                <a:latin typeface="Georgia" pitchFamily="34" charset="0"/>
                <a:ea typeface="Georgia" pitchFamily="34" charset="-122"/>
                <a:cs typeface="Georgia" pitchFamily="34" charset="-120"/>
              </a:rPr>
              <a:t>Rule-based templates over dependency parses + dictionary of trigger phrases. Each relation tagged with source span for audit.</a:t>
            </a:r>
            <a:endParaRPr lang="en-US" sz="1000" dirty="0"/>
          </a:p>
        </p:txBody>
      </p:sp>
      <p:sp>
        <p:nvSpPr>
          <p:cNvPr id="24" name="Shape 22"/>
          <p:cNvSpPr/>
          <p:nvPr/>
        </p:nvSpPr>
        <p:spPr>
          <a:xfrm rot="5400000">
            <a:off x="8832875" y="2884932"/>
            <a:ext cx="91440" cy="128016"/>
          </a:xfrm>
          <a:prstGeom prst="rtTriangle">
            <a:avLst/>
          </a:prstGeom>
          <a:solidFill>
            <a:srgbClr val="4A6A95"/>
          </a:solidFill>
          <a:ln/>
        </p:spPr>
      </p:sp>
      <p:sp>
        <p:nvSpPr>
          <p:cNvPr id="25" name="Shape 23"/>
          <p:cNvSpPr/>
          <p:nvPr/>
        </p:nvSpPr>
        <p:spPr>
          <a:xfrm>
            <a:off x="8960891" y="2103120"/>
            <a:ext cx="2590724" cy="1691640"/>
          </a:xfrm>
          <a:prstGeom prst="rect">
            <a:avLst/>
          </a:prstGeom>
          <a:solidFill>
            <a:srgbClr val="EEF1F4"/>
          </a:solidFill>
          <a:ln/>
        </p:spPr>
      </p:sp>
      <p:sp>
        <p:nvSpPr>
          <p:cNvPr id="26" name="Shape 24"/>
          <p:cNvSpPr/>
          <p:nvPr/>
        </p:nvSpPr>
        <p:spPr>
          <a:xfrm>
            <a:off x="8960891" y="2103120"/>
            <a:ext cx="2590724" cy="54864"/>
          </a:xfrm>
          <a:prstGeom prst="rect">
            <a:avLst/>
          </a:prstGeom>
          <a:solidFill>
            <a:srgbClr val="13294B"/>
          </a:solidFill>
          <a:ln/>
        </p:spPr>
      </p:sp>
      <p:sp>
        <p:nvSpPr>
          <p:cNvPr id="27" name="Text 25"/>
          <p:cNvSpPr/>
          <p:nvPr/>
        </p:nvSpPr>
        <p:spPr>
          <a:xfrm>
            <a:off x="9143771" y="2286000"/>
            <a:ext cx="2224964" cy="256032"/>
          </a:xfrm>
          <a:prstGeom prst="rect">
            <a:avLst/>
          </a:prstGeom>
          <a:noFill/>
          <a:ln/>
        </p:spPr>
        <p:txBody>
          <a:bodyPr wrap="square" lIns="0" tIns="0" rIns="0" bIns="0" rtlCol="0" anchor="ctr"/>
          <a:lstStyle/>
          <a:p>
            <a:pPr indent="0" marL="0">
              <a:buNone/>
            </a:pPr>
            <a:r>
              <a:rPr lang="en-US" sz="900" i="1" spc="300" kern="0" dirty="0">
                <a:solidFill>
                  <a:srgbClr val="2C4A75"/>
                </a:solidFill>
                <a:latin typeface="Georgia" pitchFamily="34" charset="0"/>
                <a:ea typeface="Georgia" pitchFamily="34" charset="-122"/>
                <a:cs typeface="Georgia" pitchFamily="34" charset="-120"/>
              </a:rPr>
              <a:t>STAGE 4</a:t>
            </a:r>
            <a:endParaRPr lang="en-US" sz="900" dirty="0"/>
          </a:p>
        </p:txBody>
      </p:sp>
      <p:sp>
        <p:nvSpPr>
          <p:cNvPr id="28" name="Text 26"/>
          <p:cNvSpPr/>
          <p:nvPr/>
        </p:nvSpPr>
        <p:spPr>
          <a:xfrm>
            <a:off x="9143771" y="2560320"/>
            <a:ext cx="2224964" cy="411480"/>
          </a:xfrm>
          <a:prstGeom prst="rect">
            <a:avLst/>
          </a:prstGeom>
          <a:noFill/>
          <a:ln/>
        </p:spPr>
        <p:txBody>
          <a:bodyPr wrap="square" lIns="0" tIns="0" rIns="0" bIns="0" rtlCol="0" anchor="ctr"/>
          <a:lstStyle/>
          <a:p>
            <a:pPr indent="0" marL="0">
              <a:buNone/>
            </a:pPr>
            <a:r>
              <a:rPr lang="en-US" sz="1400" b="1" dirty="0">
                <a:solidFill>
                  <a:srgbClr val="13294B"/>
                </a:solidFill>
                <a:latin typeface="Georgia" pitchFamily="34" charset="0"/>
                <a:ea typeface="Georgia" pitchFamily="34" charset="-122"/>
                <a:cs typeface="Georgia" pitchFamily="34" charset="-120"/>
              </a:rPr>
              <a:t>Annotation</a:t>
            </a:r>
            <a:endParaRPr lang="en-US" sz="1400" dirty="0"/>
          </a:p>
        </p:txBody>
      </p:sp>
      <p:sp>
        <p:nvSpPr>
          <p:cNvPr id="29" name="Text 27"/>
          <p:cNvSpPr/>
          <p:nvPr/>
        </p:nvSpPr>
        <p:spPr>
          <a:xfrm>
            <a:off x="9143771" y="3017520"/>
            <a:ext cx="2224964" cy="731520"/>
          </a:xfrm>
          <a:prstGeom prst="rect">
            <a:avLst/>
          </a:prstGeom>
          <a:noFill/>
          <a:ln/>
        </p:spPr>
        <p:txBody>
          <a:bodyPr wrap="square" lIns="0" tIns="0" rIns="0" bIns="0" rtlCol="0" anchor="ctr"/>
          <a:lstStyle/>
          <a:p>
            <a:pPr indent="0" marL="0">
              <a:lnSpc>
                <a:spcPts val="1400"/>
              </a:lnSpc>
              <a:buNone/>
            </a:pPr>
            <a:r>
              <a:rPr lang="en-US" sz="1000" dirty="0">
                <a:solidFill>
                  <a:srgbClr val="4A4A4A"/>
                </a:solidFill>
                <a:latin typeface="Georgia" pitchFamily="34" charset="0"/>
                <a:ea typeface="Georgia" pitchFamily="34" charset="-122"/>
                <a:cs typeface="Georgia" pitchFamily="34" charset="-120"/>
              </a:rPr>
              <a:t>Two annotators per story label each character; Cohen's κ = 0.83. Disagreements resolved by third annotator.</a:t>
            </a:r>
            <a:endParaRPr lang="en-US" sz="1000" dirty="0"/>
          </a:p>
        </p:txBody>
      </p:sp>
      <p:sp>
        <p:nvSpPr>
          <p:cNvPr id="30" name="Text 28"/>
          <p:cNvSpPr/>
          <p:nvPr/>
        </p:nvSpPr>
        <p:spPr>
          <a:xfrm>
            <a:off x="640080" y="4114800"/>
            <a:ext cx="54864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DATASET STATISTICS</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4434840"/>
          <a:ext cx="5486400" cy="914400"/>
        </p:xfrm>
        <a:graphic>
          <a:graphicData uri="http://schemas.openxmlformats.org/drawingml/2006/table">
            <a:tbl>
              <a:tblPr/>
              <a:tblGrid>
                <a:gridCol w="3657600"/>
                <a:gridCol w="1828800"/>
              </a:tblGrid>
              <a:tr h="246888">
                <a:tc>
                  <a:txBody>
                    <a:bodyPr/>
                    <a:lstStyle/>
                    <a:p>
                      <a:pPr indent="0" marL="0">
                        <a:buNone/>
                      </a:pPr>
                      <a:r>
                        <a:rPr lang="en-US" sz="1100" b="1" dirty="0">
                          <a:solidFill>
                            <a:srgbClr val="13294B"/>
                          </a:solidFill>
                          <a:latin typeface="Georgia" pitchFamily="34" charset="0"/>
                          <a:ea typeface="Georgia" pitchFamily="34" charset="-122"/>
                          <a:cs typeface="Georgia" pitchFamily="34" charset="-120"/>
                        </a:rPr>
                        <a:t>Property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c>
                  <a:txBody>
                    <a:bodyPr/>
                    <a:lstStyle/>
                    <a:p>
                      <a:pPr algn="r" indent="0" marL="0">
                        <a:buNone/>
                      </a:pPr>
                      <a:r>
                        <a:rPr lang="en-US" sz="1100" b="1" dirty="0">
                          <a:solidFill>
                            <a:srgbClr val="13294B"/>
                          </a:solidFill>
                          <a:latin typeface="Georgia" pitchFamily="34" charset="0"/>
                          <a:ea typeface="Georgia" pitchFamily="34" charset="-122"/>
                          <a:cs typeface="Georgia" pitchFamily="34" charset="-120"/>
                        </a:rPr>
                        <a:t>Value</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EEF1F4"/>
                    </a:solidFill>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Stories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576</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Total nodes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14,020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Total edges</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 32,000</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Mean characters per story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10.4</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Mean edges per story</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55.6</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r h="246888">
                <a:tc>
                  <a:txBody>
                    <a:bodyPr/>
                    <a:lstStyle/>
                    <a:p>
                      <a:pPr indent="0" marL="0">
                        <a:buNone/>
                      </a:pPr>
                      <a:r>
                        <a:rPr lang="en-US" sz="1100" dirty="0">
                          <a:solidFill>
                            <a:srgbClr val="4A4A4A"/>
                          </a:solidFill>
                          <a:latin typeface="Georgia" pitchFamily="34" charset="0"/>
                          <a:ea typeface="Georgia" pitchFamily="34" charset="-122"/>
                          <a:cs typeface="Georgia" pitchFamily="34" charset="-120"/>
                        </a:rPr>
                        <a:t>Inter-annotator κ (validation)</a:t>
                      </a:r>
                      <a:endParaRPr lang="en-US" sz="1100" dirty="0">
                        <a:latin typeface="Georgia" charset="0"/>
                        <a:ea typeface="Georgia" charset="0"/>
                        <a:cs typeface="Georg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algn="r" indent="0" marL="0">
                        <a:buNone/>
                      </a:pPr>
                      <a:r>
                        <a:rPr lang="en-US" sz="1100" dirty="0">
                          <a:solidFill>
                            <a:srgbClr val="4A4A4A"/>
                          </a:solidFill>
                          <a:latin typeface="Cambria" pitchFamily="34" charset="0"/>
                          <a:ea typeface="Cambria" pitchFamily="34" charset="-122"/>
                          <a:cs typeface="Cambria" pitchFamily="34" charset="-120"/>
                        </a:rPr>
                        <a:t>0.83</a:t>
                      </a:r>
                      <a:endParaRPr lang="en-US" sz="1100" dirty="0">
                        <a:latin typeface="Cambria" charset="0"/>
                        <a:ea typeface="Cambria" charset="0"/>
                        <a:cs typeface="Cambria" charset="0"/>
                      </a:endParaRPr>
                    </a:p>
                  </a:txBody>
                  <a:tcPr marL="91440" marR="91440" marT="45720" marB="45720">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r>
            </a:tbl>
          </a:graphicData>
        </a:graphic>
      </p:graphicFrame>
      <p:sp>
        <p:nvSpPr>
          <p:cNvPr id="32" name="Text 29"/>
          <p:cNvSpPr/>
          <p:nvPr/>
        </p:nvSpPr>
        <p:spPr>
          <a:xfrm>
            <a:off x="6766560" y="4114800"/>
            <a:ext cx="4572000" cy="274320"/>
          </a:xfrm>
          <a:prstGeom prst="rect">
            <a:avLst/>
          </a:prstGeom>
          <a:noFill/>
          <a:ln/>
        </p:spPr>
        <p:txBody>
          <a:bodyPr wrap="square" lIns="0" tIns="0" rIns="0" bIns="0" rtlCol="0" anchor="ctr"/>
          <a:lstStyle/>
          <a:p>
            <a:pPr indent="0" marL="0">
              <a:buNone/>
            </a:pPr>
            <a:r>
              <a:rPr lang="en-US" sz="1000" b="1" spc="300" kern="0" dirty="0">
                <a:solidFill>
                  <a:srgbClr val="2C4A75"/>
                </a:solidFill>
                <a:latin typeface="Georgia" pitchFamily="34" charset="0"/>
                <a:ea typeface="Georgia" pitchFamily="34" charset="-122"/>
                <a:cs typeface="Georgia" pitchFamily="34" charset="-120"/>
              </a:rPr>
              <a:t>KNOWN BIASES</a:t>
            </a:r>
            <a:endParaRPr lang="en-US" sz="1000" dirty="0"/>
          </a:p>
        </p:txBody>
      </p:sp>
      <p:sp>
        <p:nvSpPr>
          <p:cNvPr id="33" name="Shape 30"/>
          <p:cNvSpPr/>
          <p:nvPr/>
        </p:nvSpPr>
        <p:spPr>
          <a:xfrm>
            <a:off x="6766560" y="4434840"/>
            <a:ext cx="4754880" cy="1691640"/>
          </a:xfrm>
          <a:prstGeom prst="rect">
            <a:avLst/>
          </a:prstGeom>
          <a:solidFill>
            <a:srgbClr val="F6F8FA"/>
          </a:solidFill>
          <a:ln w="9525">
            <a:solidFill>
              <a:srgbClr val="C8CDD3"/>
            </a:solidFill>
            <a:prstDash val="solid"/>
          </a:ln>
        </p:spPr>
      </p:sp>
      <p:sp>
        <p:nvSpPr>
          <p:cNvPr id="34" name="Text 31"/>
          <p:cNvSpPr/>
          <p:nvPr/>
        </p:nvSpPr>
        <p:spPr>
          <a:xfrm>
            <a:off x="6949440" y="4572000"/>
            <a:ext cx="4480560" cy="1508760"/>
          </a:xfrm>
          <a:prstGeom prst="rect">
            <a:avLst/>
          </a:prstGeom>
          <a:noFill/>
          <a:ln/>
        </p:spPr>
        <p:txBody>
          <a:bodyPr wrap="square" lIns="0" tIns="0" rIns="0" bIns="0" rtlCol="0" anchor="ctr"/>
          <a:lstStyle/>
          <a:p>
            <a:pPr indent="0" marL="0">
              <a:lnSpc>
                <a:spcPts val="1600"/>
              </a:lnSpc>
              <a:buNone/>
            </a:pPr>
            <a:r>
              <a:rPr lang="en-US" sz="1100" dirty="0">
                <a:solidFill>
                  <a:srgbClr val="4A4A4A"/>
                </a:solidFill>
                <a:latin typeface="Cambria" pitchFamily="34" charset="0"/>
                <a:ea typeface="Cambria" pitchFamily="34" charset="-122"/>
                <a:cs typeface="Cambria" pitchFamily="34" charset="-120"/>
              </a:rPr>
              <a:t>·  Anglophone-Western canon over-represented; non-Western mystery traditions absent.</a:t>
            </a:r>
            <a:pPr indent="0" marL="0">
              <a:lnSpc>
                <a:spcPts val="1600"/>
              </a:lnSpc>
              <a:buNone/>
            </a:pPr>
            <a:r>
              <a:rPr lang="en-US" sz="1100" dirty="0">
                <a:solidFill>
                  <a:srgbClr val="000000"/>
                </a:solidFill>
              </a:rPr>
              <a:t>
</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Genre conventions leak: "the butler did it" is a real signal.</a:t>
            </a:r>
            <a:pPr indent="0" marL="0">
              <a:lnSpc>
                <a:spcPts val="1600"/>
              </a:lnSpc>
              <a:buNone/>
            </a:pPr>
            <a:r>
              <a:rPr lang="en-US" sz="1100" dirty="0">
                <a:solidFill>
                  <a:srgbClr val="000000"/>
                </a:solidFill>
              </a:rPr>
              <a:t>
</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Resolution bias: only stories with identified perpetrators are usable; ongoing cases under-represented.</a:t>
            </a:r>
            <a:pPr indent="0" marL="0">
              <a:lnSpc>
                <a:spcPts val="1600"/>
              </a:lnSpc>
              <a:buNone/>
            </a:pPr>
            <a:r>
              <a:rPr lang="en-US" sz="1100" dirty="0">
                <a:solidFill>
                  <a:srgbClr val="000000"/>
                </a:solidFill>
              </a:rPr>
              <a:t>
</a:t>
            </a:r>
            <a:pPr indent="0" marL="0">
              <a:lnSpc>
                <a:spcPts val="1600"/>
              </a:lnSpc>
              <a:buNone/>
            </a:pPr>
            <a:r>
              <a:rPr lang="en-US" sz="1100" dirty="0">
                <a:solidFill>
                  <a:srgbClr val="4A4A4A"/>
                </a:solidFill>
                <a:latin typeface="Cambria" pitchFamily="34" charset="0"/>
                <a:ea typeface="Cambria" pitchFamily="34" charset="-122"/>
                <a:cs typeface="Cambria" pitchFamily="34" charset="-120"/>
              </a:rPr>
              <a:t>·  Annotator demographic skew (3 annotators, all CS graduate students).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Relational Graph Convolutional Networks for Villain Identification</dc:title>
  <dc:subject>PptxGenJS Presentation</dc:subject>
  <dc:creator>Adam Abramowitz, Max DeSantis, Isaac Dreeben, Abhi Mummaneni</dc:creator>
  <cp:lastModifiedBy>Adam Abramowitz, Max DeSantis, Isaac Dreeben, Abhi Mummaneni</cp:lastModifiedBy>
  <cp:revision>1</cp:revision>
  <dcterms:created xsi:type="dcterms:W3CDTF">2026-04-27T23:07:34Z</dcterms:created>
  <dcterms:modified xsi:type="dcterms:W3CDTF">2026-04-27T23:07:34Z</dcterms:modified>
</cp:coreProperties>
</file>